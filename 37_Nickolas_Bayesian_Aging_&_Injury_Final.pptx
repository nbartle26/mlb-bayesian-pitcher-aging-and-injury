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6" r:id="rId1"/>
  </p:sldMasterIdLst>
  <p:notesMasterIdLst>
    <p:notesMasterId r:id="rId25"/>
  </p:notesMasterIdLst>
  <p:sldIdLst>
    <p:sldId id="256" r:id="rId2"/>
    <p:sldId id="309" r:id="rId3"/>
    <p:sldId id="258" r:id="rId4"/>
    <p:sldId id="260" r:id="rId5"/>
    <p:sldId id="316" r:id="rId6"/>
    <p:sldId id="311" r:id="rId7"/>
    <p:sldId id="262" r:id="rId8"/>
    <p:sldId id="306" r:id="rId9"/>
    <p:sldId id="291" r:id="rId10"/>
    <p:sldId id="312" r:id="rId11"/>
    <p:sldId id="267" r:id="rId12"/>
    <p:sldId id="268" r:id="rId13"/>
    <p:sldId id="313" r:id="rId14"/>
    <p:sldId id="298" r:id="rId15"/>
    <p:sldId id="300" r:id="rId16"/>
    <p:sldId id="274" r:id="rId17"/>
    <p:sldId id="318" r:id="rId18"/>
    <p:sldId id="319" r:id="rId19"/>
    <p:sldId id="271" r:id="rId20"/>
    <p:sldId id="315" r:id="rId21"/>
    <p:sldId id="317" r:id="rId22"/>
    <p:sldId id="278" r:id="rId23"/>
    <p:sldId id="280" r:id="rId24"/>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83C6"/>
    <a:srgbClr val="7E9CC3"/>
    <a:srgbClr val="1CADE4"/>
    <a:srgbClr val="87A9D4"/>
    <a:srgbClr val="BBC6D5"/>
    <a:srgbClr val="88BFE8"/>
    <a:srgbClr val="007DDA"/>
    <a:srgbClr val="FF5050"/>
    <a:srgbClr val="0086EA"/>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5956" autoAdjust="0"/>
  </p:normalViewPr>
  <p:slideViewPr>
    <p:cSldViewPr snapToGrid="0" snapToObjects="1">
      <p:cViewPr varScale="1">
        <p:scale>
          <a:sx n="54" d="100"/>
          <a:sy n="54" d="100"/>
        </p:scale>
        <p:origin x="164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olas Bartle" userId="a45a4e23-055e-4df8-931f-3aec8bd023fd" providerId="ADAL" clId="{244670A7-1696-4DB1-A6D5-8D92FFA2174C}"/>
    <pc:docChg chg="modSld">
      <pc:chgData name="Nickolas Bartle" userId="a45a4e23-055e-4df8-931f-3aec8bd023fd" providerId="ADAL" clId="{244670A7-1696-4DB1-A6D5-8D92FFA2174C}" dt="2026-08-24T23:10:44.105" v="1" actId="22"/>
      <pc:docMkLst>
        <pc:docMk/>
      </pc:docMkLst>
      <pc:sldChg chg="addSp mod">
        <pc:chgData name="Nickolas Bartle" userId="a45a4e23-055e-4df8-931f-3aec8bd023fd" providerId="ADAL" clId="{244670A7-1696-4DB1-A6D5-8D92FFA2174C}" dt="2026-08-24T23:10:44.105" v="1" actId="22"/>
        <pc:sldMkLst>
          <pc:docMk/>
          <pc:sldMk cId="2972287399" sldId="278"/>
        </pc:sldMkLst>
        <pc:spChg chg="add">
          <ac:chgData name="Nickolas Bartle" userId="a45a4e23-055e-4df8-931f-3aec8bd023fd" providerId="ADAL" clId="{244670A7-1696-4DB1-A6D5-8D92FFA2174C}" dt="2026-08-24T23:10:39.139" v="0" actId="22"/>
          <ac:spMkLst>
            <pc:docMk/>
            <pc:sldMk cId="2972287399" sldId="278"/>
            <ac:spMk id="6" creationId="{99464B92-74C3-7CFE-D79A-8BF1A7536758}"/>
          </ac:spMkLst>
        </pc:spChg>
        <pc:spChg chg="add">
          <ac:chgData name="Nickolas Bartle" userId="a45a4e23-055e-4df8-931f-3aec8bd023fd" providerId="ADAL" clId="{244670A7-1696-4DB1-A6D5-8D92FFA2174C}" dt="2026-08-24T23:10:44.105" v="1" actId="22"/>
          <ac:spMkLst>
            <pc:docMk/>
            <pc:sldMk cId="2972287399" sldId="278"/>
            <ac:spMk id="8" creationId="{862F0AD1-6C58-785E-7B99-786C49385D8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26298D-C9A5-414E-B3F3-93441EC19AC2}" type="doc">
      <dgm:prSet loTypeId="urn:microsoft.com/office/officeart/2016/7/layout/ChevronBlockProcess" loCatId="process" qsTypeId="urn:microsoft.com/office/officeart/2005/8/quickstyle/simple4" qsCatId="simple" csTypeId="urn:microsoft.com/office/officeart/2005/8/colors/accent2_3" csCatId="accent2" phldr="1"/>
      <dgm:spPr/>
      <dgm:t>
        <a:bodyPr/>
        <a:lstStyle/>
        <a:p>
          <a:endParaRPr lang="en-US"/>
        </a:p>
      </dgm:t>
    </dgm:pt>
    <dgm:pt modelId="{0DA708F2-EB97-4152-BFF0-69DD46F31916}">
      <dgm:prSet phldrT="[Text]"/>
      <dgm:spPr/>
      <dgm:t>
        <a:bodyPr/>
        <a:lstStyle/>
        <a:p>
          <a:r>
            <a:rPr lang="en-US" b="1" dirty="0"/>
            <a:t>Data Source</a:t>
          </a:r>
        </a:p>
      </dgm:t>
    </dgm:pt>
    <dgm:pt modelId="{25C8F542-1BEB-4BEE-A19E-C3C023CF02F7}" type="parTrans" cxnId="{176311E9-9BF9-44B3-987C-59101349E356}">
      <dgm:prSet/>
      <dgm:spPr/>
      <dgm:t>
        <a:bodyPr/>
        <a:lstStyle/>
        <a:p>
          <a:endParaRPr lang="en-US"/>
        </a:p>
      </dgm:t>
    </dgm:pt>
    <dgm:pt modelId="{3117FBA1-0A66-4D69-AFD9-31BB860BE207}" type="sibTrans" cxnId="{176311E9-9BF9-44B3-987C-59101349E356}">
      <dgm:prSet/>
      <dgm:spPr/>
      <dgm:t>
        <a:bodyPr/>
        <a:lstStyle/>
        <a:p>
          <a:endParaRPr lang="en-US"/>
        </a:p>
      </dgm:t>
    </dgm:pt>
    <dgm:pt modelId="{C239DAE6-E53F-41C1-8249-EC491D0813B3}">
      <dgm:prSet phldrT="[Text]" phldr="0"/>
      <dgm:spPr/>
      <dgm:t>
        <a:bodyPr/>
        <a:lstStyle/>
        <a:p>
          <a:r>
            <a:rPr lang="en-US" b="1" dirty="0"/>
            <a:t>MLB Statcast (Baseball Savant)</a:t>
          </a:r>
        </a:p>
      </dgm:t>
    </dgm:pt>
    <dgm:pt modelId="{C8C4D776-F628-40DE-9F24-7D7A19D43963}" type="parTrans" cxnId="{291A4D5A-B6CC-42ED-89CF-20073EACDCEF}">
      <dgm:prSet/>
      <dgm:spPr/>
      <dgm:t>
        <a:bodyPr/>
        <a:lstStyle/>
        <a:p>
          <a:endParaRPr lang="en-US"/>
        </a:p>
      </dgm:t>
    </dgm:pt>
    <dgm:pt modelId="{A15BEDF5-7B41-4026-95AA-6087CD6CBA0A}" type="sibTrans" cxnId="{291A4D5A-B6CC-42ED-89CF-20073EACDCEF}">
      <dgm:prSet/>
      <dgm:spPr/>
      <dgm:t>
        <a:bodyPr/>
        <a:lstStyle/>
        <a:p>
          <a:endParaRPr lang="en-US"/>
        </a:p>
      </dgm:t>
    </dgm:pt>
    <dgm:pt modelId="{599A2782-CB23-4A60-8FFC-9EEE5D6022A2}">
      <dgm:prSet phldrT="[Text]"/>
      <dgm:spPr/>
      <dgm:t>
        <a:bodyPr/>
        <a:lstStyle/>
        <a:p>
          <a:r>
            <a:rPr lang="en-US" b="1" dirty="0"/>
            <a:t>2015-2025 Seasons</a:t>
          </a:r>
        </a:p>
      </dgm:t>
    </dgm:pt>
    <dgm:pt modelId="{515B90B9-AD6B-4F9B-A856-81CEC944C871}" type="parTrans" cxnId="{C8425D39-975B-4DF6-99F9-9B573A2D3D65}">
      <dgm:prSet/>
      <dgm:spPr/>
      <dgm:t>
        <a:bodyPr/>
        <a:lstStyle/>
        <a:p>
          <a:endParaRPr lang="en-US"/>
        </a:p>
      </dgm:t>
    </dgm:pt>
    <dgm:pt modelId="{EB3B055D-F4E9-4016-944C-3F428AC542F1}" type="sibTrans" cxnId="{C8425D39-975B-4DF6-99F9-9B573A2D3D65}">
      <dgm:prSet/>
      <dgm:spPr/>
      <dgm:t>
        <a:bodyPr/>
        <a:lstStyle/>
        <a:p>
          <a:endParaRPr lang="en-US"/>
        </a:p>
      </dgm:t>
    </dgm:pt>
    <dgm:pt modelId="{E729CA1E-273C-4EE5-B13C-DD769CBC31F8}">
      <dgm:prSet phldrT="[Text]"/>
      <dgm:spPr/>
      <dgm:t>
        <a:bodyPr/>
        <a:lstStyle/>
        <a:p>
          <a:r>
            <a:rPr lang="en-US" b="1"/>
            <a:t>TJ Data</a:t>
          </a:r>
        </a:p>
      </dgm:t>
    </dgm:pt>
    <dgm:pt modelId="{E9F5FC4D-B16B-41DA-A790-6D7D0086D08D}" type="parTrans" cxnId="{C0EC7A88-8C6F-444E-BF1C-DF7FD7B1AA38}">
      <dgm:prSet/>
      <dgm:spPr/>
      <dgm:t>
        <a:bodyPr/>
        <a:lstStyle/>
        <a:p>
          <a:endParaRPr lang="en-US"/>
        </a:p>
      </dgm:t>
    </dgm:pt>
    <dgm:pt modelId="{BBAD6E48-39EB-4F15-9D48-9BD7987C4E37}" type="sibTrans" cxnId="{C0EC7A88-8C6F-444E-BF1C-DF7FD7B1AA38}">
      <dgm:prSet/>
      <dgm:spPr/>
      <dgm:t>
        <a:bodyPr/>
        <a:lstStyle/>
        <a:p>
          <a:endParaRPr lang="en-US"/>
        </a:p>
      </dgm:t>
    </dgm:pt>
    <dgm:pt modelId="{0F4B2803-5557-4DE6-8326-7C053797588C}">
      <dgm:prSet phldrT="[Text]" phldr="0"/>
      <dgm:spPr/>
      <dgm:t>
        <a:bodyPr/>
        <a:lstStyle/>
        <a:p>
          <a:pPr>
            <a:buFont typeface="Arial" panose="020B0604020202020204" pitchFamily="34" charset="0"/>
            <a:buNone/>
          </a:pPr>
          <a:r>
            <a:rPr lang="en-US" b="1" dirty="0"/>
            <a:t>Open-Source comprehensive MLB injury file (Roegele)</a:t>
          </a:r>
        </a:p>
      </dgm:t>
    </dgm:pt>
    <dgm:pt modelId="{B9F12547-D094-4BED-9B33-DDDFA9778256}" type="parTrans" cxnId="{73582730-6E9B-4547-93CA-4649CBBA0924}">
      <dgm:prSet/>
      <dgm:spPr/>
      <dgm:t>
        <a:bodyPr/>
        <a:lstStyle/>
        <a:p>
          <a:endParaRPr lang="en-US"/>
        </a:p>
      </dgm:t>
    </dgm:pt>
    <dgm:pt modelId="{DBE6550B-2061-4E84-A31E-DCDA5B1C4D7D}" type="sibTrans" cxnId="{73582730-6E9B-4547-93CA-4649CBBA0924}">
      <dgm:prSet/>
      <dgm:spPr/>
      <dgm:t>
        <a:bodyPr/>
        <a:lstStyle/>
        <a:p>
          <a:endParaRPr lang="en-US"/>
        </a:p>
      </dgm:t>
    </dgm:pt>
    <dgm:pt modelId="{1A21E09A-65DF-420F-B4C4-2B51740ECFDA}">
      <dgm:prSet phldrT="[Text]" phldr="0"/>
      <dgm:spPr/>
      <dgm:t>
        <a:bodyPr/>
        <a:lstStyle/>
        <a:p>
          <a:pPr>
            <a:buFont typeface="Arial" panose="020B0604020202020204" pitchFamily="34" charset="0"/>
            <a:buNone/>
          </a:pPr>
          <a:r>
            <a:rPr lang="en-US" b="1" dirty="0"/>
            <a:t>Surgery dates, recovery timelines, surgery type, etc.</a:t>
          </a:r>
        </a:p>
      </dgm:t>
    </dgm:pt>
    <dgm:pt modelId="{C30353E6-84C4-42BD-9CC3-950578556A89}" type="parTrans" cxnId="{9F1050A0-6341-496C-A7C6-0D604A2FAA21}">
      <dgm:prSet/>
      <dgm:spPr/>
      <dgm:t>
        <a:bodyPr/>
        <a:lstStyle/>
        <a:p>
          <a:endParaRPr lang="en-US"/>
        </a:p>
      </dgm:t>
    </dgm:pt>
    <dgm:pt modelId="{004335F2-29D1-40D9-B514-2ECCD370A3FD}" type="sibTrans" cxnId="{9F1050A0-6341-496C-A7C6-0D604A2FAA21}">
      <dgm:prSet/>
      <dgm:spPr/>
      <dgm:t>
        <a:bodyPr/>
        <a:lstStyle/>
        <a:p>
          <a:endParaRPr lang="en-US"/>
        </a:p>
      </dgm:t>
    </dgm:pt>
    <dgm:pt modelId="{B7503A04-1B1D-45A5-A273-9243F49B38DD}">
      <dgm:prSet phldrT="[Text]"/>
      <dgm:spPr/>
      <dgm:t>
        <a:bodyPr/>
        <a:lstStyle/>
        <a:p>
          <a:r>
            <a:rPr lang="en-US" b="1"/>
            <a:t>Sample Characteristics</a:t>
          </a:r>
        </a:p>
      </dgm:t>
    </dgm:pt>
    <dgm:pt modelId="{156DF910-3A43-45B2-A148-2D678955B733}" type="parTrans" cxnId="{F63870BE-FD5C-4F50-B286-89F2D79DC101}">
      <dgm:prSet/>
      <dgm:spPr/>
      <dgm:t>
        <a:bodyPr/>
        <a:lstStyle/>
        <a:p>
          <a:endParaRPr lang="en-US"/>
        </a:p>
      </dgm:t>
    </dgm:pt>
    <dgm:pt modelId="{F21EAC32-7D22-4B8F-AA85-DD10A03C3987}" type="sibTrans" cxnId="{F63870BE-FD5C-4F50-B286-89F2D79DC101}">
      <dgm:prSet/>
      <dgm:spPr/>
      <dgm:t>
        <a:bodyPr/>
        <a:lstStyle/>
        <a:p>
          <a:endParaRPr lang="en-US"/>
        </a:p>
      </dgm:t>
    </dgm:pt>
    <dgm:pt modelId="{8FD104F3-8780-4CED-8E74-4FA2143D85EB}">
      <dgm:prSet phldrT="[Text]" phldr="0"/>
      <dgm:spPr/>
      <dgm:t>
        <a:bodyPr/>
        <a:lstStyle/>
        <a:p>
          <a:pPr>
            <a:buFont typeface="Arial" panose="020B0604020202020204" pitchFamily="34" charset="0"/>
            <a:buChar char="•"/>
          </a:pPr>
          <a:r>
            <a:rPr lang="en-US" b="1" dirty="0"/>
            <a:t>1,900+ pitchers analyzed</a:t>
          </a:r>
        </a:p>
      </dgm:t>
    </dgm:pt>
    <dgm:pt modelId="{6100841E-AD04-431E-8575-F2DF5EBA4477}" type="parTrans" cxnId="{D9642EBE-C6C6-4507-B501-4984C7C3A0C1}">
      <dgm:prSet/>
      <dgm:spPr/>
      <dgm:t>
        <a:bodyPr/>
        <a:lstStyle/>
        <a:p>
          <a:endParaRPr lang="en-US"/>
        </a:p>
      </dgm:t>
    </dgm:pt>
    <dgm:pt modelId="{595AD06D-D4E0-4E00-8DF7-0D77E5CEBEFE}" type="sibTrans" cxnId="{D9642EBE-C6C6-4507-B501-4984C7C3A0C1}">
      <dgm:prSet/>
      <dgm:spPr/>
      <dgm:t>
        <a:bodyPr/>
        <a:lstStyle/>
        <a:p>
          <a:endParaRPr lang="en-US"/>
        </a:p>
      </dgm:t>
    </dgm:pt>
    <dgm:pt modelId="{23F2C879-821F-4930-A3D6-8E1ADCCAFBC2}">
      <dgm:prSet phldrT="[Text]" phldr="0"/>
      <dgm:spPr/>
      <dgm:t>
        <a:bodyPr/>
        <a:lstStyle/>
        <a:p>
          <a:pPr>
            <a:buFont typeface="Arial" panose="020B0604020202020204" pitchFamily="34" charset="0"/>
            <a:buChar char="•"/>
          </a:pPr>
          <a:r>
            <a:rPr lang="en-US" b="1" dirty="0"/>
            <a:t>5,700+ pitcher-season observations</a:t>
          </a:r>
        </a:p>
      </dgm:t>
    </dgm:pt>
    <dgm:pt modelId="{F13F4D15-3471-4299-BE7F-89439F032BB3}" type="parTrans" cxnId="{DFABE873-EDFA-4431-ABFE-6844E9400FBC}">
      <dgm:prSet/>
      <dgm:spPr/>
      <dgm:t>
        <a:bodyPr/>
        <a:lstStyle/>
        <a:p>
          <a:endParaRPr lang="en-US"/>
        </a:p>
      </dgm:t>
    </dgm:pt>
    <dgm:pt modelId="{7F1371FF-D8EA-4D3B-BF36-CC1FD6DC0129}" type="sibTrans" cxnId="{DFABE873-EDFA-4431-ABFE-6844E9400FBC}">
      <dgm:prSet/>
      <dgm:spPr/>
      <dgm:t>
        <a:bodyPr/>
        <a:lstStyle/>
        <a:p>
          <a:endParaRPr lang="en-US"/>
        </a:p>
      </dgm:t>
    </dgm:pt>
    <dgm:pt modelId="{C2B746D8-754B-42AE-921F-55DDB95E9B85}">
      <dgm:prSet phldrT="[Text]" phldr="0"/>
      <dgm:spPr/>
      <dgm:t>
        <a:bodyPr/>
        <a:lstStyle/>
        <a:p>
          <a:pPr>
            <a:buFont typeface="Arial" panose="020B0604020202020204" pitchFamily="34" charset="0"/>
            <a:buChar char="•"/>
          </a:pPr>
          <a:r>
            <a:rPr lang="en-US" b="1" dirty="0"/>
            <a:t>140+ changepoints detected</a:t>
          </a:r>
        </a:p>
      </dgm:t>
    </dgm:pt>
    <dgm:pt modelId="{BDA3E52A-E12A-44F0-92F3-D23CAD56FC23}" type="parTrans" cxnId="{8262336A-23F8-49C1-AF0E-38D3801DAA5E}">
      <dgm:prSet/>
      <dgm:spPr/>
      <dgm:t>
        <a:bodyPr/>
        <a:lstStyle/>
        <a:p>
          <a:endParaRPr lang="en-US"/>
        </a:p>
      </dgm:t>
    </dgm:pt>
    <dgm:pt modelId="{FAAE7727-BDF3-47A3-96FA-62986A5FA3E5}" type="sibTrans" cxnId="{8262336A-23F8-49C1-AF0E-38D3801DAA5E}">
      <dgm:prSet/>
      <dgm:spPr/>
      <dgm:t>
        <a:bodyPr/>
        <a:lstStyle/>
        <a:p>
          <a:endParaRPr lang="en-US"/>
        </a:p>
      </dgm:t>
    </dgm:pt>
    <dgm:pt modelId="{C00BD5C3-A9C8-4DAE-ADCB-5EF7880AA178}">
      <dgm:prSet phldrT="[Text]" phldr="0"/>
      <dgm:spPr/>
      <dgm:t>
        <a:bodyPr/>
        <a:lstStyle/>
        <a:p>
          <a:pPr>
            <a:buFont typeface="Arial" panose="020B0604020202020204" pitchFamily="34" charset="0"/>
            <a:buChar char="•"/>
          </a:pPr>
          <a:r>
            <a:rPr lang="en-US" b="1" dirty="0"/>
            <a:t>Ages 20-45 covered</a:t>
          </a:r>
        </a:p>
      </dgm:t>
    </dgm:pt>
    <dgm:pt modelId="{55278D30-58B0-4A93-B41E-5DA035C689FC}" type="parTrans" cxnId="{F682DD16-636E-49CB-96EE-021E93BD5720}">
      <dgm:prSet/>
      <dgm:spPr/>
      <dgm:t>
        <a:bodyPr/>
        <a:lstStyle/>
        <a:p>
          <a:endParaRPr lang="en-US"/>
        </a:p>
      </dgm:t>
    </dgm:pt>
    <dgm:pt modelId="{BF218B66-DC4A-4C93-974F-958A979FE6EF}" type="sibTrans" cxnId="{F682DD16-636E-49CB-96EE-021E93BD5720}">
      <dgm:prSet/>
      <dgm:spPr/>
      <dgm:t>
        <a:bodyPr/>
        <a:lstStyle/>
        <a:p>
          <a:endParaRPr lang="en-US"/>
        </a:p>
      </dgm:t>
    </dgm:pt>
    <dgm:pt modelId="{C3B7427A-D8DA-4354-8694-5B559A3D74DF}" type="pres">
      <dgm:prSet presAssocID="{BD26298D-C9A5-414E-B3F3-93441EC19AC2}" presName="Name0" presStyleCnt="0">
        <dgm:presLayoutVars>
          <dgm:dir/>
          <dgm:animLvl val="lvl"/>
          <dgm:resizeHandles val="exact"/>
        </dgm:presLayoutVars>
      </dgm:prSet>
      <dgm:spPr/>
    </dgm:pt>
    <dgm:pt modelId="{0DED0707-AA7D-472E-A8D6-9E7C649E2B8F}" type="pres">
      <dgm:prSet presAssocID="{0DA708F2-EB97-4152-BFF0-69DD46F31916}" presName="composite" presStyleCnt="0"/>
      <dgm:spPr/>
    </dgm:pt>
    <dgm:pt modelId="{6AAE3838-27C2-4E05-AF28-A93683595A98}" type="pres">
      <dgm:prSet presAssocID="{0DA708F2-EB97-4152-BFF0-69DD46F31916}" presName="parTx" presStyleLbl="alignNode1" presStyleIdx="0" presStyleCnt="3">
        <dgm:presLayoutVars>
          <dgm:chMax val="0"/>
          <dgm:chPref val="0"/>
        </dgm:presLayoutVars>
      </dgm:prSet>
      <dgm:spPr/>
    </dgm:pt>
    <dgm:pt modelId="{A8F3869D-642C-45E1-8FE4-2A236172EB09}" type="pres">
      <dgm:prSet presAssocID="{0DA708F2-EB97-4152-BFF0-69DD46F31916}" presName="desTx" presStyleLbl="alignAccFollowNode1" presStyleIdx="0" presStyleCnt="3">
        <dgm:presLayoutVars/>
      </dgm:prSet>
      <dgm:spPr/>
    </dgm:pt>
    <dgm:pt modelId="{DD0AF293-8471-4777-83B8-875508188F30}" type="pres">
      <dgm:prSet presAssocID="{3117FBA1-0A66-4D69-AFD9-31BB860BE207}" presName="space" presStyleCnt="0"/>
      <dgm:spPr/>
    </dgm:pt>
    <dgm:pt modelId="{6735BBCE-0AF1-4A73-906D-D5D3E342F7BA}" type="pres">
      <dgm:prSet presAssocID="{E729CA1E-273C-4EE5-B13C-DD769CBC31F8}" presName="composite" presStyleCnt="0"/>
      <dgm:spPr/>
    </dgm:pt>
    <dgm:pt modelId="{AA849B43-78F5-4814-9F5C-FC1A26E1184F}" type="pres">
      <dgm:prSet presAssocID="{E729CA1E-273C-4EE5-B13C-DD769CBC31F8}" presName="parTx" presStyleLbl="alignNode1" presStyleIdx="1" presStyleCnt="3">
        <dgm:presLayoutVars>
          <dgm:chMax val="0"/>
          <dgm:chPref val="0"/>
        </dgm:presLayoutVars>
      </dgm:prSet>
      <dgm:spPr/>
    </dgm:pt>
    <dgm:pt modelId="{28AAF9AE-FD1B-418E-9C3F-26DCD95C508B}" type="pres">
      <dgm:prSet presAssocID="{E729CA1E-273C-4EE5-B13C-DD769CBC31F8}" presName="desTx" presStyleLbl="alignAccFollowNode1" presStyleIdx="1" presStyleCnt="3">
        <dgm:presLayoutVars/>
      </dgm:prSet>
      <dgm:spPr/>
    </dgm:pt>
    <dgm:pt modelId="{6651BEA0-F2FE-432B-A938-04820295F747}" type="pres">
      <dgm:prSet presAssocID="{BBAD6E48-39EB-4F15-9D48-9BD7987C4E37}" presName="space" presStyleCnt="0"/>
      <dgm:spPr/>
    </dgm:pt>
    <dgm:pt modelId="{1555C52B-A102-4015-B27A-D6C4DBAA18A8}" type="pres">
      <dgm:prSet presAssocID="{B7503A04-1B1D-45A5-A273-9243F49B38DD}" presName="composite" presStyleCnt="0"/>
      <dgm:spPr/>
    </dgm:pt>
    <dgm:pt modelId="{0F2EF00A-F720-466E-8771-35B10F818A80}" type="pres">
      <dgm:prSet presAssocID="{B7503A04-1B1D-45A5-A273-9243F49B38DD}" presName="parTx" presStyleLbl="alignNode1" presStyleIdx="2" presStyleCnt="3">
        <dgm:presLayoutVars>
          <dgm:chMax val="0"/>
          <dgm:chPref val="0"/>
        </dgm:presLayoutVars>
      </dgm:prSet>
      <dgm:spPr/>
    </dgm:pt>
    <dgm:pt modelId="{56A3DAA5-8136-4603-A387-F291DC492F89}" type="pres">
      <dgm:prSet presAssocID="{B7503A04-1B1D-45A5-A273-9243F49B38DD}" presName="desTx" presStyleLbl="alignAccFollowNode1" presStyleIdx="2" presStyleCnt="3">
        <dgm:presLayoutVars/>
      </dgm:prSet>
      <dgm:spPr/>
    </dgm:pt>
  </dgm:ptLst>
  <dgm:cxnLst>
    <dgm:cxn modelId="{F682DD16-636E-49CB-96EE-021E93BD5720}" srcId="{B7503A04-1B1D-45A5-A273-9243F49B38DD}" destId="{C00BD5C3-A9C8-4DAE-ADCB-5EF7880AA178}" srcOrd="3" destOrd="0" parTransId="{55278D30-58B0-4A93-B41E-5DA035C689FC}" sibTransId="{BF218B66-DC4A-4C93-974F-958A979FE6EF}"/>
    <dgm:cxn modelId="{08CDE119-3777-40DF-9B04-B60D02D88416}" type="presOf" srcId="{BD26298D-C9A5-414E-B3F3-93441EC19AC2}" destId="{C3B7427A-D8DA-4354-8694-5B559A3D74DF}" srcOrd="0" destOrd="0" presId="urn:microsoft.com/office/officeart/2016/7/layout/ChevronBlockProcess"/>
    <dgm:cxn modelId="{A1691023-4876-4445-BE46-162A29A225D8}" type="presOf" srcId="{0F4B2803-5557-4DE6-8326-7C053797588C}" destId="{28AAF9AE-FD1B-418E-9C3F-26DCD95C508B}" srcOrd="0" destOrd="0" presId="urn:microsoft.com/office/officeart/2016/7/layout/ChevronBlockProcess"/>
    <dgm:cxn modelId="{33C0F726-9DBC-47E2-B686-34281FAB95EF}" type="presOf" srcId="{C00BD5C3-A9C8-4DAE-ADCB-5EF7880AA178}" destId="{56A3DAA5-8136-4603-A387-F291DC492F89}" srcOrd="0" destOrd="3" presId="urn:microsoft.com/office/officeart/2016/7/layout/ChevronBlockProcess"/>
    <dgm:cxn modelId="{19BC912C-CE9C-4AF9-9D0E-CE51306CC7C5}" type="presOf" srcId="{8FD104F3-8780-4CED-8E74-4FA2143D85EB}" destId="{56A3DAA5-8136-4603-A387-F291DC492F89}" srcOrd="0" destOrd="0" presId="urn:microsoft.com/office/officeart/2016/7/layout/ChevronBlockProcess"/>
    <dgm:cxn modelId="{73582730-6E9B-4547-93CA-4649CBBA0924}" srcId="{E729CA1E-273C-4EE5-B13C-DD769CBC31F8}" destId="{0F4B2803-5557-4DE6-8326-7C053797588C}" srcOrd="0" destOrd="0" parTransId="{B9F12547-D094-4BED-9B33-DDDFA9778256}" sibTransId="{DBE6550B-2061-4E84-A31E-DCDA5B1C4D7D}"/>
    <dgm:cxn modelId="{20A23731-1C42-4011-AC43-CFF5E2950C2B}" type="presOf" srcId="{1A21E09A-65DF-420F-B4C4-2B51740ECFDA}" destId="{28AAF9AE-FD1B-418E-9C3F-26DCD95C508B}" srcOrd="0" destOrd="1" presId="urn:microsoft.com/office/officeart/2016/7/layout/ChevronBlockProcess"/>
    <dgm:cxn modelId="{C8425D39-975B-4DF6-99F9-9B573A2D3D65}" srcId="{0DA708F2-EB97-4152-BFF0-69DD46F31916}" destId="{599A2782-CB23-4A60-8FFC-9EEE5D6022A2}" srcOrd="1" destOrd="0" parTransId="{515B90B9-AD6B-4F9B-A856-81CEC944C871}" sibTransId="{EB3B055D-F4E9-4016-944C-3F428AC542F1}"/>
    <dgm:cxn modelId="{18EB2F60-EE42-42B5-BA07-7205AA44CC2A}" type="presOf" srcId="{0DA708F2-EB97-4152-BFF0-69DD46F31916}" destId="{6AAE3838-27C2-4E05-AF28-A93683595A98}" srcOrd="0" destOrd="0" presId="urn:microsoft.com/office/officeart/2016/7/layout/ChevronBlockProcess"/>
    <dgm:cxn modelId="{8DC37963-1BF1-497E-8DC5-56AC133E3EC1}" type="presOf" srcId="{599A2782-CB23-4A60-8FFC-9EEE5D6022A2}" destId="{A8F3869D-642C-45E1-8FE4-2A236172EB09}" srcOrd="0" destOrd="1" presId="urn:microsoft.com/office/officeart/2016/7/layout/ChevronBlockProcess"/>
    <dgm:cxn modelId="{8262336A-23F8-49C1-AF0E-38D3801DAA5E}" srcId="{B7503A04-1B1D-45A5-A273-9243F49B38DD}" destId="{C2B746D8-754B-42AE-921F-55DDB95E9B85}" srcOrd="2" destOrd="0" parTransId="{BDA3E52A-E12A-44F0-92F3-D23CAD56FC23}" sibTransId="{FAAE7727-BDF3-47A3-96FA-62986A5FA3E5}"/>
    <dgm:cxn modelId="{DFABE873-EDFA-4431-ABFE-6844E9400FBC}" srcId="{B7503A04-1B1D-45A5-A273-9243F49B38DD}" destId="{23F2C879-821F-4930-A3D6-8E1ADCCAFBC2}" srcOrd="1" destOrd="0" parTransId="{F13F4D15-3471-4299-BE7F-89439F032BB3}" sibTransId="{7F1371FF-D8EA-4D3B-BF36-CC1FD6DC0129}"/>
    <dgm:cxn modelId="{8AFB1E58-4226-48A2-97AB-53A8951376A8}" type="presOf" srcId="{C2B746D8-754B-42AE-921F-55DDB95E9B85}" destId="{56A3DAA5-8136-4603-A387-F291DC492F89}" srcOrd="0" destOrd="2" presId="urn:microsoft.com/office/officeart/2016/7/layout/ChevronBlockProcess"/>
    <dgm:cxn modelId="{C9C83059-C368-4994-97B2-7AA56D61FBF7}" type="presOf" srcId="{23F2C879-821F-4930-A3D6-8E1ADCCAFBC2}" destId="{56A3DAA5-8136-4603-A387-F291DC492F89}" srcOrd="0" destOrd="1" presId="urn:microsoft.com/office/officeart/2016/7/layout/ChevronBlockProcess"/>
    <dgm:cxn modelId="{291A4D5A-B6CC-42ED-89CF-20073EACDCEF}" srcId="{0DA708F2-EB97-4152-BFF0-69DD46F31916}" destId="{C239DAE6-E53F-41C1-8249-EC491D0813B3}" srcOrd="0" destOrd="0" parTransId="{C8C4D776-F628-40DE-9F24-7D7A19D43963}" sibTransId="{A15BEDF5-7B41-4026-95AA-6087CD6CBA0A}"/>
    <dgm:cxn modelId="{7CFDF25A-9270-4BA0-9F6E-00D8E7521CCE}" type="presOf" srcId="{B7503A04-1B1D-45A5-A273-9243F49B38DD}" destId="{0F2EF00A-F720-466E-8771-35B10F818A80}" srcOrd="0" destOrd="0" presId="urn:microsoft.com/office/officeart/2016/7/layout/ChevronBlockProcess"/>
    <dgm:cxn modelId="{C0EC7A88-8C6F-444E-BF1C-DF7FD7B1AA38}" srcId="{BD26298D-C9A5-414E-B3F3-93441EC19AC2}" destId="{E729CA1E-273C-4EE5-B13C-DD769CBC31F8}" srcOrd="1" destOrd="0" parTransId="{E9F5FC4D-B16B-41DA-A790-6D7D0086D08D}" sibTransId="{BBAD6E48-39EB-4F15-9D48-9BD7987C4E37}"/>
    <dgm:cxn modelId="{9F1050A0-6341-496C-A7C6-0D604A2FAA21}" srcId="{E729CA1E-273C-4EE5-B13C-DD769CBC31F8}" destId="{1A21E09A-65DF-420F-B4C4-2B51740ECFDA}" srcOrd="1" destOrd="0" parTransId="{C30353E6-84C4-42BD-9CC3-950578556A89}" sibTransId="{004335F2-29D1-40D9-B514-2ECCD370A3FD}"/>
    <dgm:cxn modelId="{D9642EBE-C6C6-4507-B501-4984C7C3A0C1}" srcId="{B7503A04-1B1D-45A5-A273-9243F49B38DD}" destId="{8FD104F3-8780-4CED-8E74-4FA2143D85EB}" srcOrd="0" destOrd="0" parTransId="{6100841E-AD04-431E-8575-F2DF5EBA4477}" sibTransId="{595AD06D-D4E0-4E00-8DF7-0D77E5CEBEFE}"/>
    <dgm:cxn modelId="{F63870BE-FD5C-4F50-B286-89F2D79DC101}" srcId="{BD26298D-C9A5-414E-B3F3-93441EC19AC2}" destId="{B7503A04-1B1D-45A5-A273-9243F49B38DD}" srcOrd="2" destOrd="0" parTransId="{156DF910-3A43-45B2-A148-2D678955B733}" sibTransId="{F21EAC32-7D22-4B8F-AA85-DD10A03C3987}"/>
    <dgm:cxn modelId="{420B75CA-C4AD-4781-A290-86DF13E78CBA}" type="presOf" srcId="{C239DAE6-E53F-41C1-8249-EC491D0813B3}" destId="{A8F3869D-642C-45E1-8FE4-2A236172EB09}" srcOrd="0" destOrd="0" presId="urn:microsoft.com/office/officeart/2016/7/layout/ChevronBlockProcess"/>
    <dgm:cxn modelId="{176311E9-9BF9-44B3-987C-59101349E356}" srcId="{BD26298D-C9A5-414E-B3F3-93441EC19AC2}" destId="{0DA708F2-EB97-4152-BFF0-69DD46F31916}" srcOrd="0" destOrd="0" parTransId="{25C8F542-1BEB-4BEE-A19E-C3C023CF02F7}" sibTransId="{3117FBA1-0A66-4D69-AFD9-31BB860BE207}"/>
    <dgm:cxn modelId="{6EC0BAF7-981D-4F5D-BF83-4C6B77A3A202}" type="presOf" srcId="{E729CA1E-273C-4EE5-B13C-DD769CBC31F8}" destId="{AA849B43-78F5-4814-9F5C-FC1A26E1184F}" srcOrd="0" destOrd="0" presId="urn:microsoft.com/office/officeart/2016/7/layout/ChevronBlockProcess"/>
    <dgm:cxn modelId="{E8F2FBCF-1F6F-4145-93AC-88700460110F}" type="presParOf" srcId="{C3B7427A-D8DA-4354-8694-5B559A3D74DF}" destId="{0DED0707-AA7D-472E-A8D6-9E7C649E2B8F}" srcOrd="0" destOrd="0" presId="urn:microsoft.com/office/officeart/2016/7/layout/ChevronBlockProcess"/>
    <dgm:cxn modelId="{BCC4B0C9-E5BE-41EA-ADF8-BA8D92DD0041}" type="presParOf" srcId="{0DED0707-AA7D-472E-A8D6-9E7C649E2B8F}" destId="{6AAE3838-27C2-4E05-AF28-A93683595A98}" srcOrd="0" destOrd="0" presId="urn:microsoft.com/office/officeart/2016/7/layout/ChevronBlockProcess"/>
    <dgm:cxn modelId="{6E319513-FD8F-4C89-A349-B92B266D20E8}" type="presParOf" srcId="{0DED0707-AA7D-472E-A8D6-9E7C649E2B8F}" destId="{A8F3869D-642C-45E1-8FE4-2A236172EB09}" srcOrd="1" destOrd="0" presId="urn:microsoft.com/office/officeart/2016/7/layout/ChevronBlockProcess"/>
    <dgm:cxn modelId="{0C1AEB50-6403-4511-99A2-3BA283A5932D}" type="presParOf" srcId="{C3B7427A-D8DA-4354-8694-5B559A3D74DF}" destId="{DD0AF293-8471-4777-83B8-875508188F30}" srcOrd="1" destOrd="0" presId="urn:microsoft.com/office/officeart/2016/7/layout/ChevronBlockProcess"/>
    <dgm:cxn modelId="{97999324-8336-48CF-B63A-EC4C33BA29D9}" type="presParOf" srcId="{C3B7427A-D8DA-4354-8694-5B559A3D74DF}" destId="{6735BBCE-0AF1-4A73-906D-D5D3E342F7BA}" srcOrd="2" destOrd="0" presId="urn:microsoft.com/office/officeart/2016/7/layout/ChevronBlockProcess"/>
    <dgm:cxn modelId="{0FE49B34-FF70-4C1E-9039-9165B17AD428}" type="presParOf" srcId="{6735BBCE-0AF1-4A73-906D-D5D3E342F7BA}" destId="{AA849B43-78F5-4814-9F5C-FC1A26E1184F}" srcOrd="0" destOrd="0" presId="urn:microsoft.com/office/officeart/2016/7/layout/ChevronBlockProcess"/>
    <dgm:cxn modelId="{03D17F05-9864-4717-AFCD-2C76F50704EC}" type="presParOf" srcId="{6735BBCE-0AF1-4A73-906D-D5D3E342F7BA}" destId="{28AAF9AE-FD1B-418E-9C3F-26DCD95C508B}" srcOrd="1" destOrd="0" presId="urn:microsoft.com/office/officeart/2016/7/layout/ChevronBlockProcess"/>
    <dgm:cxn modelId="{B371364B-084F-40E3-B816-E1F46D233A3A}" type="presParOf" srcId="{C3B7427A-D8DA-4354-8694-5B559A3D74DF}" destId="{6651BEA0-F2FE-432B-A938-04820295F747}" srcOrd="3" destOrd="0" presId="urn:microsoft.com/office/officeart/2016/7/layout/ChevronBlockProcess"/>
    <dgm:cxn modelId="{BDA3046E-958B-41D8-BFB3-713D45136B0A}" type="presParOf" srcId="{C3B7427A-D8DA-4354-8694-5B559A3D74DF}" destId="{1555C52B-A102-4015-B27A-D6C4DBAA18A8}" srcOrd="4" destOrd="0" presId="urn:microsoft.com/office/officeart/2016/7/layout/ChevronBlockProcess"/>
    <dgm:cxn modelId="{90097AAF-943A-4350-80A3-447AAC959594}" type="presParOf" srcId="{1555C52B-A102-4015-B27A-D6C4DBAA18A8}" destId="{0F2EF00A-F720-466E-8771-35B10F818A80}" srcOrd="0" destOrd="0" presId="urn:microsoft.com/office/officeart/2016/7/layout/ChevronBlockProcess"/>
    <dgm:cxn modelId="{950B9D2B-CAC3-4C84-B709-C28300B3A01C}" type="presParOf" srcId="{1555C52B-A102-4015-B27A-D6C4DBAA18A8}" destId="{56A3DAA5-8136-4603-A387-F291DC492F89}" srcOrd="1" destOrd="0" presId="urn:microsoft.com/office/officeart/2016/7/layout/ChevronBlock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849C9E-CFD5-4618-9FB0-106F5597F645}"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3ADB585B-4A3C-43B8-B44C-0BF683A35C6B}">
      <dgm:prSet/>
      <dgm:spPr>
        <a:solidFill>
          <a:srgbClr val="2683C6"/>
        </a:solidFill>
      </dgm:spPr>
      <dgm:t>
        <a:bodyPr/>
        <a:lstStyle/>
        <a:p>
          <a:r>
            <a:rPr lang="en-US" b="1" dirty="0"/>
            <a:t>WE CAN SEPARATE AGING FROM INJURY</a:t>
          </a:r>
        </a:p>
      </dgm:t>
    </dgm:pt>
    <dgm:pt modelId="{D8AA6AC2-75CB-4D8B-A433-EA2B04BF7FBD}" type="parTrans" cxnId="{C84E1315-D698-41C7-8778-7684D056E1B3}">
      <dgm:prSet/>
      <dgm:spPr/>
      <dgm:t>
        <a:bodyPr/>
        <a:lstStyle/>
        <a:p>
          <a:endParaRPr lang="en-US"/>
        </a:p>
      </dgm:t>
    </dgm:pt>
    <dgm:pt modelId="{CE5E3F06-544F-4BEB-854B-99B200FF01A6}" type="sibTrans" cxnId="{C84E1315-D698-41C7-8778-7684D056E1B3}">
      <dgm:prSet/>
      <dgm:spPr/>
      <dgm:t>
        <a:bodyPr/>
        <a:lstStyle/>
        <a:p>
          <a:endParaRPr lang="en-US"/>
        </a:p>
      </dgm:t>
    </dgm:pt>
    <dgm:pt modelId="{9798AF81-9F5E-4FDF-8E13-DDDE01027C0A}">
      <dgm:prSet/>
      <dgm:spPr>
        <a:solidFill>
          <a:srgbClr val="2683C6"/>
        </a:solidFill>
      </dgm:spPr>
      <dgm:t>
        <a:bodyPr/>
        <a:lstStyle/>
        <a:p>
          <a:r>
            <a:rPr lang="en-US" b="1" dirty="0"/>
            <a:t>VELOCITY SHOWS CLEAR PATTERNS</a:t>
          </a:r>
        </a:p>
      </dgm:t>
    </dgm:pt>
    <dgm:pt modelId="{4078A5FD-E4A4-49CF-A7B9-E3EE2228516E}" type="parTrans" cxnId="{D17FD33B-9BE0-48A5-B1F3-BE79F0912676}">
      <dgm:prSet/>
      <dgm:spPr/>
      <dgm:t>
        <a:bodyPr/>
        <a:lstStyle/>
        <a:p>
          <a:endParaRPr lang="en-US"/>
        </a:p>
      </dgm:t>
    </dgm:pt>
    <dgm:pt modelId="{D0541685-ECA4-4D16-A6FE-D25D190A6CA4}" type="sibTrans" cxnId="{D17FD33B-9BE0-48A5-B1F3-BE79F0912676}">
      <dgm:prSet/>
      <dgm:spPr/>
      <dgm:t>
        <a:bodyPr/>
        <a:lstStyle/>
        <a:p>
          <a:endParaRPr lang="en-US"/>
        </a:p>
      </dgm:t>
    </dgm:pt>
    <dgm:pt modelId="{A8D801BA-285B-4C11-A09D-D8E610E1D4F9}">
      <dgm:prSet/>
      <dgm:spPr>
        <a:solidFill>
          <a:srgbClr val="2683C6"/>
        </a:solidFill>
      </dgm:spPr>
      <dgm:t>
        <a:bodyPr/>
        <a:lstStyle/>
        <a:p>
          <a:r>
            <a:rPr lang="en-US" b="1" dirty="0"/>
            <a:t>ACTIONABLE FRAMEWORK</a:t>
          </a:r>
        </a:p>
      </dgm:t>
    </dgm:pt>
    <dgm:pt modelId="{E85CDFED-711F-4C38-BE9F-6E500AD92D9F}" type="parTrans" cxnId="{C6F7B428-C9D9-4C7C-B25A-3E4AB6332EE0}">
      <dgm:prSet/>
      <dgm:spPr/>
      <dgm:t>
        <a:bodyPr/>
        <a:lstStyle/>
        <a:p>
          <a:endParaRPr lang="en-US"/>
        </a:p>
      </dgm:t>
    </dgm:pt>
    <dgm:pt modelId="{517A0FF9-FC35-48D8-9531-7A328D3000BF}" type="sibTrans" cxnId="{C6F7B428-C9D9-4C7C-B25A-3E4AB6332EE0}">
      <dgm:prSet/>
      <dgm:spPr/>
      <dgm:t>
        <a:bodyPr/>
        <a:lstStyle/>
        <a:p>
          <a:endParaRPr lang="en-US"/>
        </a:p>
      </dgm:t>
    </dgm:pt>
    <dgm:pt modelId="{87C1C4C2-F06E-4FB0-AE11-43E67849CEE8}">
      <dgm:prSet custT="1"/>
      <dgm:spPr>
        <a:ln>
          <a:solidFill>
            <a:srgbClr val="2683C6"/>
          </a:solidFill>
        </a:ln>
      </dgm:spPr>
      <dgm:t>
        <a:bodyPr/>
        <a:lstStyle/>
        <a:p>
          <a:r>
            <a:rPr lang="en-US" sz="1400" b="1" dirty="0">
              <a:solidFill>
                <a:schemeClr val="bg1"/>
              </a:solidFill>
            </a:rPr>
            <a:t>Bayesian models + changepoint detection = quantitative discrimination</a:t>
          </a:r>
        </a:p>
      </dgm:t>
    </dgm:pt>
    <dgm:pt modelId="{6BC965C2-376C-4165-84EB-1B0DEB2DB6F0}" type="parTrans" cxnId="{CFB6FB9F-FE9B-45C6-9350-D88F1F8E794B}">
      <dgm:prSet/>
      <dgm:spPr>
        <a:solidFill>
          <a:srgbClr val="2683C6"/>
        </a:solidFill>
        <a:ln>
          <a:solidFill>
            <a:srgbClr val="2683C6"/>
          </a:solidFill>
        </a:ln>
      </dgm:spPr>
      <dgm:t>
        <a:bodyPr/>
        <a:lstStyle/>
        <a:p>
          <a:endParaRPr lang="en-US"/>
        </a:p>
      </dgm:t>
    </dgm:pt>
    <dgm:pt modelId="{FBA274ED-E344-4335-9F67-001A1E73AD82}" type="sibTrans" cxnId="{CFB6FB9F-FE9B-45C6-9350-D88F1F8E794B}">
      <dgm:prSet/>
      <dgm:spPr/>
      <dgm:t>
        <a:bodyPr/>
        <a:lstStyle/>
        <a:p>
          <a:endParaRPr lang="en-US"/>
        </a:p>
      </dgm:t>
    </dgm:pt>
    <dgm:pt modelId="{9C2CEF67-C002-4383-8A75-89D5D133AF51}">
      <dgm:prSet custT="1"/>
      <dgm:spPr>
        <a:ln>
          <a:solidFill>
            <a:srgbClr val="2683C6"/>
          </a:solidFill>
        </a:ln>
      </dgm:spPr>
      <dgm:t>
        <a:bodyPr/>
        <a:lstStyle/>
        <a:p>
          <a:r>
            <a:rPr lang="en-US" sz="1400" b="1" dirty="0">
              <a:solidFill>
                <a:schemeClr val="bg1"/>
              </a:solidFill>
            </a:rPr>
            <a:t>Peak at mid 20’s, predictable decline, measurable TJ effects</a:t>
          </a:r>
        </a:p>
      </dgm:t>
    </dgm:pt>
    <dgm:pt modelId="{005DEB2D-AB56-4769-A8FD-D7B260B9C728}" type="parTrans" cxnId="{2001EDD3-1299-47D3-9888-B3C5DEDA3710}">
      <dgm:prSet/>
      <dgm:spPr>
        <a:solidFill>
          <a:srgbClr val="2683C6"/>
        </a:solidFill>
        <a:ln>
          <a:solidFill>
            <a:srgbClr val="2683C6"/>
          </a:solidFill>
        </a:ln>
      </dgm:spPr>
      <dgm:t>
        <a:bodyPr/>
        <a:lstStyle/>
        <a:p>
          <a:endParaRPr lang="en-US"/>
        </a:p>
      </dgm:t>
    </dgm:pt>
    <dgm:pt modelId="{7A9C1575-91D8-4FCB-8301-9FDF811E4DC5}" type="sibTrans" cxnId="{2001EDD3-1299-47D3-9888-B3C5DEDA3710}">
      <dgm:prSet/>
      <dgm:spPr/>
      <dgm:t>
        <a:bodyPr/>
        <a:lstStyle/>
        <a:p>
          <a:endParaRPr lang="en-US"/>
        </a:p>
      </dgm:t>
    </dgm:pt>
    <dgm:pt modelId="{D6B88332-C0AD-4D01-8FEF-B84DC698EF40}">
      <dgm:prSet custT="1"/>
      <dgm:spPr>
        <a:ln>
          <a:solidFill>
            <a:srgbClr val="2683C6"/>
          </a:solidFill>
        </a:ln>
      </dgm:spPr>
      <dgm:t>
        <a:bodyPr/>
        <a:lstStyle/>
        <a:p>
          <a:r>
            <a:rPr lang="en-US" sz="1400" b="1" dirty="0">
              <a:solidFill>
                <a:schemeClr val="bg1"/>
              </a:solidFill>
            </a:rPr>
            <a:t>Risk scores, projections, uncertainty quantification</a:t>
          </a:r>
        </a:p>
      </dgm:t>
    </dgm:pt>
    <dgm:pt modelId="{D5C08249-EF73-40A2-B3A3-BC93E9709339}" type="parTrans" cxnId="{DC9643AA-E335-4432-8AB7-EA062413FB44}">
      <dgm:prSet/>
      <dgm:spPr>
        <a:solidFill>
          <a:srgbClr val="2683C6"/>
        </a:solidFill>
        <a:ln>
          <a:solidFill>
            <a:srgbClr val="2683C6"/>
          </a:solidFill>
        </a:ln>
      </dgm:spPr>
      <dgm:t>
        <a:bodyPr/>
        <a:lstStyle/>
        <a:p>
          <a:endParaRPr lang="en-US"/>
        </a:p>
      </dgm:t>
    </dgm:pt>
    <dgm:pt modelId="{7FBBDCD9-5BD6-48AE-8411-DB0ACBD79DCB}" type="sibTrans" cxnId="{DC9643AA-E335-4432-8AB7-EA062413FB44}">
      <dgm:prSet/>
      <dgm:spPr/>
      <dgm:t>
        <a:bodyPr/>
        <a:lstStyle/>
        <a:p>
          <a:endParaRPr lang="en-US"/>
        </a:p>
      </dgm:t>
    </dgm:pt>
    <dgm:pt modelId="{716D5784-11A5-46E9-BC0E-873EF27F10C5}" type="pres">
      <dgm:prSet presAssocID="{45849C9E-CFD5-4618-9FB0-106F5597F645}" presName="diagram" presStyleCnt="0">
        <dgm:presLayoutVars>
          <dgm:chPref val="1"/>
          <dgm:dir/>
          <dgm:animOne val="branch"/>
          <dgm:animLvl val="lvl"/>
          <dgm:resizeHandles/>
        </dgm:presLayoutVars>
      </dgm:prSet>
      <dgm:spPr/>
    </dgm:pt>
    <dgm:pt modelId="{1775E9ED-140A-4C14-8E59-1AA501C37EE8}" type="pres">
      <dgm:prSet presAssocID="{3ADB585B-4A3C-43B8-B44C-0BF683A35C6B}" presName="root" presStyleCnt="0"/>
      <dgm:spPr/>
    </dgm:pt>
    <dgm:pt modelId="{C2DB7908-1D21-4A53-8482-F5291E9DD131}" type="pres">
      <dgm:prSet presAssocID="{3ADB585B-4A3C-43B8-B44C-0BF683A35C6B}" presName="rootComposite" presStyleCnt="0"/>
      <dgm:spPr/>
    </dgm:pt>
    <dgm:pt modelId="{74332653-8AE0-41D8-B50A-6E65526E5A5E}" type="pres">
      <dgm:prSet presAssocID="{3ADB585B-4A3C-43B8-B44C-0BF683A35C6B}" presName="rootText" presStyleLbl="node1" presStyleIdx="0" presStyleCnt="3"/>
      <dgm:spPr/>
    </dgm:pt>
    <dgm:pt modelId="{1C5D9AB2-F792-46A8-AC2D-25CF5FC208F3}" type="pres">
      <dgm:prSet presAssocID="{3ADB585B-4A3C-43B8-B44C-0BF683A35C6B}" presName="rootConnector" presStyleLbl="node1" presStyleIdx="0" presStyleCnt="3"/>
      <dgm:spPr/>
    </dgm:pt>
    <dgm:pt modelId="{0ADED6A8-936D-4404-BB8B-B1FE046BB33A}" type="pres">
      <dgm:prSet presAssocID="{3ADB585B-4A3C-43B8-B44C-0BF683A35C6B}" presName="childShape" presStyleCnt="0"/>
      <dgm:spPr/>
    </dgm:pt>
    <dgm:pt modelId="{26E974F7-5165-4661-AF33-39ABC680C155}" type="pres">
      <dgm:prSet presAssocID="{6BC965C2-376C-4165-84EB-1B0DEB2DB6F0}" presName="Name13" presStyleLbl="parChTrans1D2" presStyleIdx="0" presStyleCnt="3"/>
      <dgm:spPr/>
    </dgm:pt>
    <dgm:pt modelId="{57D65115-7764-437F-920C-25D81EC212DA}" type="pres">
      <dgm:prSet presAssocID="{87C1C4C2-F06E-4FB0-AE11-43E67849CEE8}" presName="childText" presStyleLbl="bgAcc1" presStyleIdx="0" presStyleCnt="3" custScaleX="110654" custScaleY="115586">
        <dgm:presLayoutVars>
          <dgm:bulletEnabled val="1"/>
        </dgm:presLayoutVars>
      </dgm:prSet>
      <dgm:spPr/>
    </dgm:pt>
    <dgm:pt modelId="{4D0303A0-FA0C-4A0B-883F-F18DD3D767DF}" type="pres">
      <dgm:prSet presAssocID="{9798AF81-9F5E-4FDF-8E13-DDDE01027C0A}" presName="root" presStyleCnt="0"/>
      <dgm:spPr/>
    </dgm:pt>
    <dgm:pt modelId="{FC3D0F64-C41E-4CE1-A49B-3AAFD23C8836}" type="pres">
      <dgm:prSet presAssocID="{9798AF81-9F5E-4FDF-8E13-DDDE01027C0A}" presName="rootComposite" presStyleCnt="0"/>
      <dgm:spPr/>
    </dgm:pt>
    <dgm:pt modelId="{7AA13CD0-801C-4852-942D-17987F468CBC}" type="pres">
      <dgm:prSet presAssocID="{9798AF81-9F5E-4FDF-8E13-DDDE01027C0A}" presName="rootText" presStyleLbl="node1" presStyleIdx="1" presStyleCnt="3"/>
      <dgm:spPr/>
    </dgm:pt>
    <dgm:pt modelId="{EBCE6E23-5C96-454D-95F9-3062E92083F6}" type="pres">
      <dgm:prSet presAssocID="{9798AF81-9F5E-4FDF-8E13-DDDE01027C0A}" presName="rootConnector" presStyleLbl="node1" presStyleIdx="1" presStyleCnt="3"/>
      <dgm:spPr/>
    </dgm:pt>
    <dgm:pt modelId="{3ABE2C5E-9746-4654-8985-2EE174F8E5D6}" type="pres">
      <dgm:prSet presAssocID="{9798AF81-9F5E-4FDF-8E13-DDDE01027C0A}" presName="childShape" presStyleCnt="0"/>
      <dgm:spPr/>
    </dgm:pt>
    <dgm:pt modelId="{82B66EDB-188F-4341-9892-FBA702EC2898}" type="pres">
      <dgm:prSet presAssocID="{005DEB2D-AB56-4769-A8FD-D7B260B9C728}" presName="Name13" presStyleLbl="parChTrans1D2" presStyleIdx="1" presStyleCnt="3"/>
      <dgm:spPr/>
    </dgm:pt>
    <dgm:pt modelId="{35C67726-8763-4D7B-BC16-3B4BE3B74A83}" type="pres">
      <dgm:prSet presAssocID="{9C2CEF67-C002-4383-8A75-89D5D133AF51}" presName="childText" presStyleLbl="bgAcc1" presStyleIdx="1" presStyleCnt="3" custScaleX="110654" custScaleY="115586">
        <dgm:presLayoutVars>
          <dgm:bulletEnabled val="1"/>
        </dgm:presLayoutVars>
      </dgm:prSet>
      <dgm:spPr/>
    </dgm:pt>
    <dgm:pt modelId="{09650B65-20B5-41E6-9E2A-19ADE47724CF}" type="pres">
      <dgm:prSet presAssocID="{A8D801BA-285B-4C11-A09D-D8E610E1D4F9}" presName="root" presStyleCnt="0"/>
      <dgm:spPr/>
    </dgm:pt>
    <dgm:pt modelId="{A5ACC314-6045-41A7-B40E-83E17AD83E38}" type="pres">
      <dgm:prSet presAssocID="{A8D801BA-285B-4C11-A09D-D8E610E1D4F9}" presName="rootComposite" presStyleCnt="0"/>
      <dgm:spPr/>
    </dgm:pt>
    <dgm:pt modelId="{D98E6341-61E7-495F-8C75-67B0DAF723F3}" type="pres">
      <dgm:prSet presAssocID="{A8D801BA-285B-4C11-A09D-D8E610E1D4F9}" presName="rootText" presStyleLbl="node1" presStyleIdx="2" presStyleCnt="3"/>
      <dgm:spPr/>
    </dgm:pt>
    <dgm:pt modelId="{4A04AC83-E5CD-42A5-BA1D-D54943BEA04A}" type="pres">
      <dgm:prSet presAssocID="{A8D801BA-285B-4C11-A09D-D8E610E1D4F9}" presName="rootConnector" presStyleLbl="node1" presStyleIdx="2" presStyleCnt="3"/>
      <dgm:spPr/>
    </dgm:pt>
    <dgm:pt modelId="{795CD8FD-6475-4647-A16F-4620DF6BA45A}" type="pres">
      <dgm:prSet presAssocID="{A8D801BA-285B-4C11-A09D-D8E610E1D4F9}" presName="childShape" presStyleCnt="0"/>
      <dgm:spPr/>
    </dgm:pt>
    <dgm:pt modelId="{3FA8AB94-F715-45D3-95BF-0A27F89F62FD}" type="pres">
      <dgm:prSet presAssocID="{D5C08249-EF73-40A2-B3A3-BC93E9709339}" presName="Name13" presStyleLbl="parChTrans1D2" presStyleIdx="2" presStyleCnt="3"/>
      <dgm:spPr/>
    </dgm:pt>
    <dgm:pt modelId="{8AB4C5CE-3C67-4A77-BC1B-6188FBF54C47}" type="pres">
      <dgm:prSet presAssocID="{D6B88332-C0AD-4D01-8FEF-B84DC698EF40}" presName="childText" presStyleLbl="bgAcc1" presStyleIdx="2" presStyleCnt="3" custScaleX="110654" custScaleY="115586">
        <dgm:presLayoutVars>
          <dgm:bulletEnabled val="1"/>
        </dgm:presLayoutVars>
      </dgm:prSet>
      <dgm:spPr/>
    </dgm:pt>
  </dgm:ptLst>
  <dgm:cxnLst>
    <dgm:cxn modelId="{4DDFBB01-F28D-462B-B37D-8EA164CAED7D}" type="presOf" srcId="{005DEB2D-AB56-4769-A8FD-D7B260B9C728}" destId="{82B66EDB-188F-4341-9892-FBA702EC2898}" srcOrd="0" destOrd="0" presId="urn:microsoft.com/office/officeart/2005/8/layout/hierarchy3"/>
    <dgm:cxn modelId="{E28A2E07-16A4-4C64-BFD5-A5B50C0D94AC}" type="presOf" srcId="{D5C08249-EF73-40A2-B3A3-BC93E9709339}" destId="{3FA8AB94-F715-45D3-95BF-0A27F89F62FD}" srcOrd="0" destOrd="0" presId="urn:microsoft.com/office/officeart/2005/8/layout/hierarchy3"/>
    <dgm:cxn modelId="{C84E1315-D698-41C7-8778-7684D056E1B3}" srcId="{45849C9E-CFD5-4618-9FB0-106F5597F645}" destId="{3ADB585B-4A3C-43B8-B44C-0BF683A35C6B}" srcOrd="0" destOrd="0" parTransId="{D8AA6AC2-75CB-4D8B-A433-EA2B04BF7FBD}" sibTransId="{CE5E3F06-544F-4BEB-854B-99B200FF01A6}"/>
    <dgm:cxn modelId="{C6F7B428-C9D9-4C7C-B25A-3E4AB6332EE0}" srcId="{45849C9E-CFD5-4618-9FB0-106F5597F645}" destId="{A8D801BA-285B-4C11-A09D-D8E610E1D4F9}" srcOrd="2" destOrd="0" parTransId="{E85CDFED-711F-4C38-BE9F-6E500AD92D9F}" sibTransId="{517A0FF9-FC35-48D8-9531-7A328D3000BF}"/>
    <dgm:cxn modelId="{0C18D733-C868-4FB0-965F-A67F4399DF9D}" type="presOf" srcId="{D6B88332-C0AD-4D01-8FEF-B84DC698EF40}" destId="{8AB4C5CE-3C67-4A77-BC1B-6188FBF54C47}" srcOrd="0" destOrd="0" presId="urn:microsoft.com/office/officeart/2005/8/layout/hierarchy3"/>
    <dgm:cxn modelId="{008AC436-A577-476E-9CD2-F0AF58CCCF77}" type="presOf" srcId="{3ADB585B-4A3C-43B8-B44C-0BF683A35C6B}" destId="{1C5D9AB2-F792-46A8-AC2D-25CF5FC208F3}" srcOrd="1" destOrd="0" presId="urn:microsoft.com/office/officeart/2005/8/layout/hierarchy3"/>
    <dgm:cxn modelId="{7EC1B937-49E8-4FCB-80D9-8AAC369FE85F}" type="presOf" srcId="{9798AF81-9F5E-4FDF-8E13-DDDE01027C0A}" destId="{7AA13CD0-801C-4852-942D-17987F468CBC}" srcOrd="0" destOrd="0" presId="urn:microsoft.com/office/officeart/2005/8/layout/hierarchy3"/>
    <dgm:cxn modelId="{D17FD33B-9BE0-48A5-B1F3-BE79F0912676}" srcId="{45849C9E-CFD5-4618-9FB0-106F5597F645}" destId="{9798AF81-9F5E-4FDF-8E13-DDDE01027C0A}" srcOrd="1" destOrd="0" parTransId="{4078A5FD-E4A4-49CF-A7B9-E3EE2228516E}" sibTransId="{D0541685-ECA4-4D16-A6FE-D25D190A6CA4}"/>
    <dgm:cxn modelId="{517AE94E-0AF2-4794-90B5-D005E1D53D3B}" type="presOf" srcId="{A8D801BA-285B-4C11-A09D-D8E610E1D4F9}" destId="{4A04AC83-E5CD-42A5-BA1D-D54943BEA04A}" srcOrd="1" destOrd="0" presId="urn:microsoft.com/office/officeart/2005/8/layout/hierarchy3"/>
    <dgm:cxn modelId="{5DC00670-F354-4F88-B262-1C954802DA09}" type="presOf" srcId="{9798AF81-9F5E-4FDF-8E13-DDDE01027C0A}" destId="{EBCE6E23-5C96-454D-95F9-3062E92083F6}" srcOrd="1" destOrd="0" presId="urn:microsoft.com/office/officeart/2005/8/layout/hierarchy3"/>
    <dgm:cxn modelId="{D2666871-1291-481D-8C1A-1020034C26E8}" type="presOf" srcId="{87C1C4C2-F06E-4FB0-AE11-43E67849CEE8}" destId="{57D65115-7764-437F-920C-25D81EC212DA}" srcOrd="0" destOrd="0" presId="urn:microsoft.com/office/officeart/2005/8/layout/hierarchy3"/>
    <dgm:cxn modelId="{32FD2C73-371B-4A37-8863-23E651DF6CB0}" type="presOf" srcId="{A8D801BA-285B-4C11-A09D-D8E610E1D4F9}" destId="{D98E6341-61E7-495F-8C75-67B0DAF723F3}" srcOrd="0" destOrd="0" presId="urn:microsoft.com/office/officeart/2005/8/layout/hierarchy3"/>
    <dgm:cxn modelId="{CFB6FB9F-FE9B-45C6-9350-D88F1F8E794B}" srcId="{3ADB585B-4A3C-43B8-B44C-0BF683A35C6B}" destId="{87C1C4C2-F06E-4FB0-AE11-43E67849CEE8}" srcOrd="0" destOrd="0" parTransId="{6BC965C2-376C-4165-84EB-1B0DEB2DB6F0}" sibTransId="{FBA274ED-E344-4335-9F67-001A1E73AD82}"/>
    <dgm:cxn modelId="{FCE09BA8-3441-4FD2-B357-E0EA9A0FC5F1}" type="presOf" srcId="{6BC965C2-376C-4165-84EB-1B0DEB2DB6F0}" destId="{26E974F7-5165-4661-AF33-39ABC680C155}" srcOrd="0" destOrd="0" presId="urn:microsoft.com/office/officeart/2005/8/layout/hierarchy3"/>
    <dgm:cxn modelId="{DC9643AA-E335-4432-8AB7-EA062413FB44}" srcId="{A8D801BA-285B-4C11-A09D-D8E610E1D4F9}" destId="{D6B88332-C0AD-4D01-8FEF-B84DC698EF40}" srcOrd="0" destOrd="0" parTransId="{D5C08249-EF73-40A2-B3A3-BC93E9709339}" sibTransId="{7FBBDCD9-5BD6-48AE-8411-DB0ACBD79DCB}"/>
    <dgm:cxn modelId="{145984AD-F272-4C86-BEFD-E6713CE0AC81}" type="presOf" srcId="{45849C9E-CFD5-4618-9FB0-106F5597F645}" destId="{716D5784-11A5-46E9-BC0E-873EF27F10C5}" srcOrd="0" destOrd="0" presId="urn:microsoft.com/office/officeart/2005/8/layout/hierarchy3"/>
    <dgm:cxn modelId="{596DCAC3-B2F2-4A91-84FA-63753DD149BC}" type="presOf" srcId="{3ADB585B-4A3C-43B8-B44C-0BF683A35C6B}" destId="{74332653-8AE0-41D8-B50A-6E65526E5A5E}" srcOrd="0" destOrd="0" presId="urn:microsoft.com/office/officeart/2005/8/layout/hierarchy3"/>
    <dgm:cxn modelId="{2001EDD3-1299-47D3-9888-B3C5DEDA3710}" srcId="{9798AF81-9F5E-4FDF-8E13-DDDE01027C0A}" destId="{9C2CEF67-C002-4383-8A75-89D5D133AF51}" srcOrd="0" destOrd="0" parTransId="{005DEB2D-AB56-4769-A8FD-D7B260B9C728}" sibTransId="{7A9C1575-91D8-4FCB-8301-9FDF811E4DC5}"/>
    <dgm:cxn modelId="{ED5A16ED-FAB9-4705-880A-8BAA93706C69}" type="presOf" srcId="{9C2CEF67-C002-4383-8A75-89D5D133AF51}" destId="{35C67726-8763-4D7B-BC16-3B4BE3B74A83}" srcOrd="0" destOrd="0" presId="urn:microsoft.com/office/officeart/2005/8/layout/hierarchy3"/>
    <dgm:cxn modelId="{D3CE06D8-8B87-4C68-BA31-C9315EE9CE09}" type="presParOf" srcId="{716D5784-11A5-46E9-BC0E-873EF27F10C5}" destId="{1775E9ED-140A-4C14-8E59-1AA501C37EE8}" srcOrd="0" destOrd="0" presId="urn:microsoft.com/office/officeart/2005/8/layout/hierarchy3"/>
    <dgm:cxn modelId="{A0C2DDCF-EEA3-426C-A1B0-263CE4BB39E4}" type="presParOf" srcId="{1775E9ED-140A-4C14-8E59-1AA501C37EE8}" destId="{C2DB7908-1D21-4A53-8482-F5291E9DD131}" srcOrd="0" destOrd="0" presId="urn:microsoft.com/office/officeart/2005/8/layout/hierarchy3"/>
    <dgm:cxn modelId="{2E0584A5-16FF-42A9-9163-3B129D8860AC}" type="presParOf" srcId="{C2DB7908-1D21-4A53-8482-F5291E9DD131}" destId="{74332653-8AE0-41D8-B50A-6E65526E5A5E}" srcOrd="0" destOrd="0" presId="urn:microsoft.com/office/officeart/2005/8/layout/hierarchy3"/>
    <dgm:cxn modelId="{F3E2C720-6F73-4DF8-9C5A-5B70B726E05B}" type="presParOf" srcId="{C2DB7908-1D21-4A53-8482-F5291E9DD131}" destId="{1C5D9AB2-F792-46A8-AC2D-25CF5FC208F3}" srcOrd="1" destOrd="0" presId="urn:microsoft.com/office/officeart/2005/8/layout/hierarchy3"/>
    <dgm:cxn modelId="{60F9D174-6656-4B8E-9664-DD1F2387233B}" type="presParOf" srcId="{1775E9ED-140A-4C14-8E59-1AA501C37EE8}" destId="{0ADED6A8-936D-4404-BB8B-B1FE046BB33A}" srcOrd="1" destOrd="0" presId="urn:microsoft.com/office/officeart/2005/8/layout/hierarchy3"/>
    <dgm:cxn modelId="{888B5D98-667B-4A04-837A-D2EB0031A822}" type="presParOf" srcId="{0ADED6A8-936D-4404-BB8B-B1FE046BB33A}" destId="{26E974F7-5165-4661-AF33-39ABC680C155}" srcOrd="0" destOrd="0" presId="urn:microsoft.com/office/officeart/2005/8/layout/hierarchy3"/>
    <dgm:cxn modelId="{A914A158-F004-410A-99A5-9E15C2B7979B}" type="presParOf" srcId="{0ADED6A8-936D-4404-BB8B-B1FE046BB33A}" destId="{57D65115-7764-437F-920C-25D81EC212DA}" srcOrd="1" destOrd="0" presId="urn:microsoft.com/office/officeart/2005/8/layout/hierarchy3"/>
    <dgm:cxn modelId="{65018F7A-C6D7-46CC-AF5B-9FF83F3D13DB}" type="presParOf" srcId="{716D5784-11A5-46E9-BC0E-873EF27F10C5}" destId="{4D0303A0-FA0C-4A0B-883F-F18DD3D767DF}" srcOrd="1" destOrd="0" presId="urn:microsoft.com/office/officeart/2005/8/layout/hierarchy3"/>
    <dgm:cxn modelId="{C3A62F4C-6D4F-4A9C-8C61-D19FD4ECFA2B}" type="presParOf" srcId="{4D0303A0-FA0C-4A0B-883F-F18DD3D767DF}" destId="{FC3D0F64-C41E-4CE1-A49B-3AAFD23C8836}" srcOrd="0" destOrd="0" presId="urn:microsoft.com/office/officeart/2005/8/layout/hierarchy3"/>
    <dgm:cxn modelId="{E59CBE5D-0350-4526-BEB0-04B57FF56C95}" type="presParOf" srcId="{FC3D0F64-C41E-4CE1-A49B-3AAFD23C8836}" destId="{7AA13CD0-801C-4852-942D-17987F468CBC}" srcOrd="0" destOrd="0" presId="urn:microsoft.com/office/officeart/2005/8/layout/hierarchy3"/>
    <dgm:cxn modelId="{A968465A-E4B8-4CAF-B4F6-352CDFD97F3F}" type="presParOf" srcId="{FC3D0F64-C41E-4CE1-A49B-3AAFD23C8836}" destId="{EBCE6E23-5C96-454D-95F9-3062E92083F6}" srcOrd="1" destOrd="0" presId="urn:microsoft.com/office/officeart/2005/8/layout/hierarchy3"/>
    <dgm:cxn modelId="{60DC435E-7955-4238-9314-EDA6D2E557A6}" type="presParOf" srcId="{4D0303A0-FA0C-4A0B-883F-F18DD3D767DF}" destId="{3ABE2C5E-9746-4654-8985-2EE174F8E5D6}" srcOrd="1" destOrd="0" presId="urn:microsoft.com/office/officeart/2005/8/layout/hierarchy3"/>
    <dgm:cxn modelId="{D9FEA83A-7236-4CE7-A55B-445614695345}" type="presParOf" srcId="{3ABE2C5E-9746-4654-8985-2EE174F8E5D6}" destId="{82B66EDB-188F-4341-9892-FBA702EC2898}" srcOrd="0" destOrd="0" presId="urn:microsoft.com/office/officeart/2005/8/layout/hierarchy3"/>
    <dgm:cxn modelId="{858AA4E5-49FB-4B68-BDBF-31BF76403F6C}" type="presParOf" srcId="{3ABE2C5E-9746-4654-8985-2EE174F8E5D6}" destId="{35C67726-8763-4D7B-BC16-3B4BE3B74A83}" srcOrd="1" destOrd="0" presId="urn:microsoft.com/office/officeart/2005/8/layout/hierarchy3"/>
    <dgm:cxn modelId="{67C28145-0DDC-4CA5-A9E3-BBDD6E9E4D73}" type="presParOf" srcId="{716D5784-11A5-46E9-BC0E-873EF27F10C5}" destId="{09650B65-20B5-41E6-9E2A-19ADE47724CF}" srcOrd="2" destOrd="0" presId="urn:microsoft.com/office/officeart/2005/8/layout/hierarchy3"/>
    <dgm:cxn modelId="{D7AFACAB-8AA5-409F-8C04-4E323FA2DCFE}" type="presParOf" srcId="{09650B65-20B5-41E6-9E2A-19ADE47724CF}" destId="{A5ACC314-6045-41A7-B40E-83E17AD83E38}" srcOrd="0" destOrd="0" presId="urn:microsoft.com/office/officeart/2005/8/layout/hierarchy3"/>
    <dgm:cxn modelId="{42374F22-E51A-4489-99CD-3F5249F6324A}" type="presParOf" srcId="{A5ACC314-6045-41A7-B40E-83E17AD83E38}" destId="{D98E6341-61E7-495F-8C75-67B0DAF723F3}" srcOrd="0" destOrd="0" presId="urn:microsoft.com/office/officeart/2005/8/layout/hierarchy3"/>
    <dgm:cxn modelId="{73784072-68AE-4E67-B7BC-8340FC539DBB}" type="presParOf" srcId="{A5ACC314-6045-41A7-B40E-83E17AD83E38}" destId="{4A04AC83-E5CD-42A5-BA1D-D54943BEA04A}" srcOrd="1" destOrd="0" presId="urn:microsoft.com/office/officeart/2005/8/layout/hierarchy3"/>
    <dgm:cxn modelId="{231866FF-0FE5-4D22-8A2A-2234914576AD}" type="presParOf" srcId="{09650B65-20B5-41E6-9E2A-19ADE47724CF}" destId="{795CD8FD-6475-4647-A16F-4620DF6BA45A}" srcOrd="1" destOrd="0" presId="urn:microsoft.com/office/officeart/2005/8/layout/hierarchy3"/>
    <dgm:cxn modelId="{84BF63E6-ED39-4E2F-BAC5-0FBB46A026EA}" type="presParOf" srcId="{795CD8FD-6475-4647-A16F-4620DF6BA45A}" destId="{3FA8AB94-F715-45D3-95BF-0A27F89F62FD}" srcOrd="0" destOrd="0" presId="urn:microsoft.com/office/officeart/2005/8/layout/hierarchy3"/>
    <dgm:cxn modelId="{F4691B42-F5B1-4022-A9A9-29569E98FE2E}" type="presParOf" srcId="{795CD8FD-6475-4647-A16F-4620DF6BA45A}" destId="{8AB4C5CE-3C67-4A77-BC1B-6188FBF54C47}" srcOrd="1"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6DCED96-0A21-4BE4-BB65-927E890CEAFA}"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487D4CC2-3F88-48BB-8B09-6D13C64F1534}">
      <dgm:prSet/>
      <dgm:spPr/>
      <dgm:t>
        <a:bodyPr/>
        <a:lstStyle/>
        <a:p>
          <a:r>
            <a:rPr lang="en-US" b="1" dirty="0"/>
            <a:t>CONTRACT NEGOTIATIONS:</a:t>
          </a:r>
        </a:p>
      </dgm:t>
    </dgm:pt>
    <dgm:pt modelId="{497CE190-6C96-4C8B-981D-8B18FC351EF6}" type="parTrans" cxnId="{73F79234-6817-4C71-88B8-1C0C2A56CE8B}">
      <dgm:prSet/>
      <dgm:spPr/>
      <dgm:t>
        <a:bodyPr/>
        <a:lstStyle/>
        <a:p>
          <a:endParaRPr lang="en-US" b="1"/>
        </a:p>
      </dgm:t>
    </dgm:pt>
    <dgm:pt modelId="{1766E168-F6F4-41E8-BA54-11A4E6F0B8AA}" type="sibTrans" cxnId="{73F79234-6817-4C71-88B8-1C0C2A56CE8B}">
      <dgm:prSet/>
      <dgm:spPr/>
      <dgm:t>
        <a:bodyPr/>
        <a:lstStyle/>
        <a:p>
          <a:endParaRPr lang="en-US" b="1"/>
        </a:p>
      </dgm:t>
    </dgm:pt>
    <dgm:pt modelId="{97874E46-B46E-4C44-BFB3-B832EC8D5AAD}">
      <dgm:prSet/>
      <dgm:spPr/>
      <dgm:t>
        <a:bodyPr/>
        <a:lstStyle/>
        <a:p>
          <a:r>
            <a:rPr lang="en-US" b="1" dirty="0"/>
            <a:t>INJURY RECOVERY:</a:t>
          </a:r>
        </a:p>
      </dgm:t>
    </dgm:pt>
    <dgm:pt modelId="{5DD6008F-4F0B-4EAE-B7C9-39BBF2932AE9}" type="parTrans" cxnId="{B03C9780-2297-4661-93F3-7D1EB6DCFCBA}">
      <dgm:prSet/>
      <dgm:spPr/>
      <dgm:t>
        <a:bodyPr/>
        <a:lstStyle/>
        <a:p>
          <a:endParaRPr lang="en-US" b="1"/>
        </a:p>
      </dgm:t>
    </dgm:pt>
    <dgm:pt modelId="{61490BAB-4136-4D09-A87E-8DE893D78852}" type="sibTrans" cxnId="{B03C9780-2297-4661-93F3-7D1EB6DCFCBA}">
      <dgm:prSet/>
      <dgm:spPr/>
      <dgm:t>
        <a:bodyPr/>
        <a:lstStyle/>
        <a:p>
          <a:endParaRPr lang="en-US" b="1"/>
        </a:p>
      </dgm:t>
    </dgm:pt>
    <dgm:pt modelId="{4F1F88A0-A63D-480B-B790-4DFFEEF703B7}">
      <dgm:prSet/>
      <dgm:spPr/>
      <dgm:t>
        <a:bodyPr/>
        <a:lstStyle/>
        <a:p>
          <a:r>
            <a:rPr lang="en-US" b="1" dirty="0"/>
            <a:t>ROSTER MANAGEMENT:</a:t>
          </a:r>
        </a:p>
      </dgm:t>
    </dgm:pt>
    <dgm:pt modelId="{B23D3044-E94C-4CCB-8110-DE8294F2FD3A}" type="parTrans" cxnId="{D7142579-CC6E-4182-8CB7-E25D79751A62}">
      <dgm:prSet/>
      <dgm:spPr/>
      <dgm:t>
        <a:bodyPr/>
        <a:lstStyle/>
        <a:p>
          <a:endParaRPr lang="en-US" b="1"/>
        </a:p>
      </dgm:t>
    </dgm:pt>
    <dgm:pt modelId="{8AE573B6-D281-4C9F-B5AA-9689EB3FE46F}" type="sibTrans" cxnId="{D7142579-CC6E-4182-8CB7-E25D79751A62}">
      <dgm:prSet/>
      <dgm:spPr/>
      <dgm:t>
        <a:bodyPr/>
        <a:lstStyle/>
        <a:p>
          <a:endParaRPr lang="en-US" b="1"/>
        </a:p>
      </dgm:t>
    </dgm:pt>
    <dgm:pt modelId="{F2671A87-7F37-4207-B306-575888E7389A}">
      <dgm:prSet/>
      <dgm:spPr>
        <a:solidFill>
          <a:schemeClr val="accent4">
            <a:lumMod val="75000"/>
          </a:schemeClr>
        </a:solidFill>
      </dgm:spPr>
      <dgm:t>
        <a:bodyPr/>
        <a:lstStyle/>
        <a:p>
          <a:r>
            <a:rPr lang="en-US" b="1" dirty="0"/>
            <a:t>TRADE</a:t>
          </a:r>
          <a:br>
            <a:rPr lang="en-US" b="1" dirty="0"/>
          </a:br>
          <a:r>
            <a:rPr lang="en-US" b="1" dirty="0"/>
            <a:t>TIMING:</a:t>
          </a:r>
        </a:p>
      </dgm:t>
    </dgm:pt>
    <dgm:pt modelId="{C2128B19-C47A-4967-94AE-D5A1DA527F89}" type="parTrans" cxnId="{89CC92F7-0A7B-4317-B0B1-D6C10B9A9CDE}">
      <dgm:prSet/>
      <dgm:spPr/>
      <dgm:t>
        <a:bodyPr/>
        <a:lstStyle/>
        <a:p>
          <a:endParaRPr lang="en-US" b="1"/>
        </a:p>
      </dgm:t>
    </dgm:pt>
    <dgm:pt modelId="{C50C3D07-3012-404C-8A90-6FB9F6CF2B87}" type="sibTrans" cxnId="{89CC92F7-0A7B-4317-B0B1-D6C10B9A9CDE}">
      <dgm:prSet/>
      <dgm:spPr/>
      <dgm:t>
        <a:bodyPr/>
        <a:lstStyle/>
        <a:p>
          <a:endParaRPr lang="en-US" b="1"/>
        </a:p>
      </dgm:t>
    </dgm:pt>
    <dgm:pt modelId="{21F69940-C987-4A41-8E86-FC9A12AF3816}">
      <dgm:prSet custT="1"/>
      <dgm:spPr>
        <a:solidFill>
          <a:schemeClr val="accent3">
            <a:lumMod val="50000"/>
          </a:schemeClr>
        </a:solidFill>
        <a:ln w="15875" cap="flat" cmpd="sng" algn="ctr">
          <a:solidFill>
            <a:prstClr val="white">
              <a:hueOff val="0"/>
              <a:satOff val="0"/>
              <a:lumOff val="0"/>
              <a:alphaOff val="0"/>
            </a:prstClr>
          </a:solidFill>
          <a:prstDash val="solid"/>
        </a:ln>
        <a:effectLst/>
      </dgm:spPr>
      <dgm:t>
        <a:bodyPr spcFirstLastPara="0" vert="horz" wrap="square" lIns="49530" tIns="49530" rIns="49530" bIns="49530" numCol="1" spcCol="1270" anchor="ctr" anchorCtr="0"/>
        <a:lstStyle/>
        <a:p>
          <a:pPr marL="0" lvl="0" indent="0" algn="ctr" defTabSz="577850">
            <a:lnSpc>
              <a:spcPct val="90000"/>
            </a:lnSpc>
            <a:spcBef>
              <a:spcPct val="0"/>
            </a:spcBef>
            <a:spcAft>
              <a:spcPct val="35000"/>
            </a:spcAft>
            <a:buNone/>
          </a:pPr>
          <a:r>
            <a:rPr lang="en-US" sz="1600" b="1" kern="1200" dirty="0"/>
            <a:t>EARLY-CAREER PROJECTIONS:</a:t>
          </a:r>
          <a:endParaRPr lang="en-US" sz="1600" b="1" kern="1200" dirty="0">
            <a:solidFill>
              <a:prstClr val="white"/>
            </a:solidFill>
            <a:latin typeface="Calibri" panose="020F0502020204030204"/>
            <a:ea typeface="+mn-ea"/>
            <a:cs typeface="+mn-cs"/>
          </a:endParaRPr>
        </a:p>
      </dgm:t>
    </dgm:pt>
    <dgm:pt modelId="{D0230605-E359-45D7-9E76-16BDD9E4FFD0}" type="parTrans" cxnId="{1312274F-7F76-4F09-92AD-5A1E1A98DA18}">
      <dgm:prSet/>
      <dgm:spPr/>
      <dgm:t>
        <a:bodyPr/>
        <a:lstStyle/>
        <a:p>
          <a:endParaRPr lang="en-US" b="1"/>
        </a:p>
      </dgm:t>
    </dgm:pt>
    <dgm:pt modelId="{7E264395-7E0F-4E3A-B4C3-667EC63F2496}" type="sibTrans" cxnId="{1312274F-7F76-4F09-92AD-5A1E1A98DA18}">
      <dgm:prSet/>
      <dgm:spPr/>
      <dgm:t>
        <a:bodyPr/>
        <a:lstStyle/>
        <a:p>
          <a:endParaRPr lang="en-US" b="1"/>
        </a:p>
      </dgm:t>
    </dgm:pt>
    <dgm:pt modelId="{26781AAD-CA4B-45C0-80CD-317E7A166811}">
      <dgm:prSet custT="1"/>
      <dgm:spPr>
        <a:solidFill>
          <a:srgbClr val="2683C6">
            <a:hueOff val="0"/>
            <a:satOff val="0"/>
            <a:lumOff val="0"/>
            <a:alphaOff val="0"/>
          </a:srgbClr>
        </a:solidFill>
        <a:ln w="15875" cap="flat" cmpd="sng" algn="ctr">
          <a:solidFill>
            <a:prstClr val="white">
              <a:hueOff val="0"/>
              <a:satOff val="0"/>
              <a:lumOff val="0"/>
              <a:alphaOff val="0"/>
            </a:prstClr>
          </a:solidFill>
          <a:prstDash val="solid"/>
        </a:ln>
        <a:effectLst/>
      </dgm:spPr>
      <dgm:t>
        <a:bodyPr spcFirstLastPara="0" vert="horz" wrap="square" lIns="57150" tIns="57150" rIns="57150" bIns="57150" numCol="1" spcCol="1270" anchor="ctr" anchorCtr="0"/>
        <a:lstStyle/>
        <a:p>
          <a:pPr marL="0" lvl="0" indent="0" algn="ctr" defTabSz="577850">
            <a:lnSpc>
              <a:spcPct val="90000"/>
            </a:lnSpc>
            <a:spcBef>
              <a:spcPct val="0"/>
            </a:spcBef>
            <a:spcAft>
              <a:spcPct val="35000"/>
            </a:spcAft>
            <a:buNone/>
          </a:pPr>
          <a:r>
            <a:rPr lang="en-US" sz="1300" b="1" kern="1200" dirty="0">
              <a:solidFill>
                <a:prstClr val="white"/>
              </a:solidFill>
              <a:latin typeface="Calibri" panose="020F0502020204030204"/>
              <a:ea typeface="+mn-ea"/>
              <a:cs typeface="+mn-cs"/>
            </a:rPr>
            <a:t>Objective risk assessment for free agents</a:t>
          </a:r>
        </a:p>
      </dgm:t>
    </dgm:pt>
    <dgm:pt modelId="{C3B51C8F-9180-4E70-BDA4-0B63307D73C2}" type="parTrans" cxnId="{4FF4E654-485E-4BDA-A3CA-13DB842E1EA0}">
      <dgm:prSet/>
      <dgm:spPr/>
      <dgm:t>
        <a:bodyPr/>
        <a:lstStyle/>
        <a:p>
          <a:endParaRPr lang="en-US" b="1"/>
        </a:p>
      </dgm:t>
    </dgm:pt>
    <dgm:pt modelId="{1D37D183-1798-4A13-A3FF-1C3A5208062A}" type="sibTrans" cxnId="{4FF4E654-485E-4BDA-A3CA-13DB842E1EA0}">
      <dgm:prSet/>
      <dgm:spPr/>
      <dgm:t>
        <a:bodyPr/>
        <a:lstStyle/>
        <a:p>
          <a:endParaRPr lang="en-US" b="1"/>
        </a:p>
      </dgm:t>
    </dgm:pt>
    <dgm:pt modelId="{1265E1A2-8AED-4852-8DB2-D917329A9D6C}">
      <dgm:prSet custT="1"/>
      <dgm:spPr>
        <a:solidFill>
          <a:srgbClr val="28C4CC">
            <a:hueOff val="0"/>
            <a:satOff val="0"/>
            <a:lumOff val="0"/>
            <a:alphaOff val="0"/>
          </a:srgbClr>
        </a:solidFill>
        <a:ln w="15875" cap="flat" cmpd="sng" algn="ctr">
          <a:solidFill>
            <a:prstClr val="white">
              <a:hueOff val="0"/>
              <a:satOff val="0"/>
              <a:lumOff val="0"/>
              <a:alphaOff val="0"/>
            </a:prstClr>
          </a:solidFill>
          <a:prstDash val="solid"/>
        </a:ln>
        <a:effectLst/>
      </dgm:spPr>
      <dgm:t>
        <a:bodyPr spcFirstLastPara="0" vert="horz" wrap="square" lIns="57150" tIns="57150" rIns="57150" bIns="57150" numCol="1" spcCol="1270" anchor="ctr" anchorCtr="0"/>
        <a:lstStyle/>
        <a:p>
          <a:pPr marL="0" lvl="0" indent="0" algn="ctr" defTabSz="577850">
            <a:lnSpc>
              <a:spcPct val="90000"/>
            </a:lnSpc>
            <a:spcBef>
              <a:spcPct val="0"/>
            </a:spcBef>
            <a:spcAft>
              <a:spcPct val="35000"/>
            </a:spcAft>
            <a:buNone/>
          </a:pPr>
          <a:r>
            <a:rPr lang="en-US" sz="1300" b="1" kern="1200" dirty="0"/>
            <a:t>Set realistic TJ recovery expectations</a:t>
          </a:r>
          <a:endParaRPr lang="en-US" sz="1300" b="1" kern="1200" dirty="0">
            <a:solidFill>
              <a:prstClr val="white"/>
            </a:solidFill>
            <a:latin typeface="Calibri" panose="020F0502020204030204"/>
            <a:ea typeface="+mn-ea"/>
            <a:cs typeface="+mn-cs"/>
          </a:endParaRPr>
        </a:p>
      </dgm:t>
    </dgm:pt>
    <dgm:pt modelId="{FFE85234-00C9-49D9-AD5E-1DAB73ED7D95}" type="parTrans" cxnId="{AF401C87-171C-4E9C-8B8C-EBC04C9178E2}">
      <dgm:prSet/>
      <dgm:spPr/>
      <dgm:t>
        <a:bodyPr/>
        <a:lstStyle/>
        <a:p>
          <a:endParaRPr lang="en-US" b="1"/>
        </a:p>
      </dgm:t>
    </dgm:pt>
    <dgm:pt modelId="{786CEACA-2AE6-45A6-A8CD-ECE54D4D77FD}" type="sibTrans" cxnId="{AF401C87-171C-4E9C-8B8C-EBC04C9178E2}">
      <dgm:prSet/>
      <dgm:spPr/>
      <dgm:t>
        <a:bodyPr/>
        <a:lstStyle/>
        <a:p>
          <a:endParaRPr lang="en-US" b="1"/>
        </a:p>
      </dgm:t>
    </dgm:pt>
    <dgm:pt modelId="{8F54A112-239F-44E8-A193-0EE8E25FA92C}">
      <dgm:prSet custT="1"/>
      <dgm:spPr>
        <a:solidFill>
          <a:srgbClr val="42BA97">
            <a:hueOff val="0"/>
            <a:satOff val="0"/>
            <a:lumOff val="0"/>
            <a:alphaOff val="0"/>
          </a:srgbClr>
        </a:solidFill>
        <a:ln w="15875" cap="flat" cmpd="sng" algn="ctr">
          <a:solidFill>
            <a:prstClr val="white">
              <a:hueOff val="0"/>
              <a:satOff val="0"/>
              <a:lumOff val="0"/>
              <a:alphaOff val="0"/>
            </a:prstClr>
          </a:solidFill>
          <a:prstDash val="solid"/>
        </a:ln>
        <a:effectLst/>
      </dgm:spPr>
      <dgm:t>
        <a:bodyPr spcFirstLastPara="0" vert="horz" wrap="square" lIns="57150" tIns="57150" rIns="57150" bIns="57150" numCol="1" spcCol="1270" anchor="ctr" anchorCtr="0"/>
        <a:lstStyle/>
        <a:p>
          <a:pPr marL="0" lvl="0" indent="0" algn="ctr" defTabSz="577850">
            <a:lnSpc>
              <a:spcPct val="90000"/>
            </a:lnSpc>
            <a:spcBef>
              <a:spcPct val="0"/>
            </a:spcBef>
            <a:spcAft>
              <a:spcPct val="35000"/>
            </a:spcAft>
            <a:buNone/>
          </a:pPr>
          <a:r>
            <a:rPr lang="en-US" sz="1300" b="1" kern="1200" dirty="0">
              <a:solidFill>
                <a:prstClr val="white"/>
              </a:solidFill>
              <a:latin typeface="Calibri" panose="020F0502020204030204"/>
              <a:ea typeface="+mn-ea"/>
              <a:cs typeface="+mn-cs"/>
            </a:rPr>
            <a:t>Monitor entire pitching staff risk profiles</a:t>
          </a:r>
        </a:p>
      </dgm:t>
    </dgm:pt>
    <dgm:pt modelId="{B85109AA-8EE2-49EC-A888-E0C6BBC3AA8E}" type="parTrans" cxnId="{687662C9-B98C-480A-ADC0-195F472441E5}">
      <dgm:prSet/>
      <dgm:spPr/>
      <dgm:t>
        <a:bodyPr/>
        <a:lstStyle/>
        <a:p>
          <a:endParaRPr lang="en-US" b="1"/>
        </a:p>
      </dgm:t>
    </dgm:pt>
    <dgm:pt modelId="{0E0B1F6C-5BD7-4500-BEF7-0AF92051DD1F}" type="sibTrans" cxnId="{687662C9-B98C-480A-ADC0-195F472441E5}">
      <dgm:prSet/>
      <dgm:spPr/>
      <dgm:t>
        <a:bodyPr/>
        <a:lstStyle/>
        <a:p>
          <a:endParaRPr lang="en-US" b="1"/>
        </a:p>
      </dgm:t>
    </dgm:pt>
    <dgm:pt modelId="{48CF8E49-A3D0-459B-BE49-85E8E96AA2B3}">
      <dgm:prSet custT="1"/>
      <dgm:spPr>
        <a:solidFill>
          <a:schemeClr val="accent4">
            <a:lumMod val="75000"/>
          </a:schemeClr>
        </a:solidFill>
        <a:ln w="15875" cap="flat" cmpd="sng" algn="ctr">
          <a:solidFill>
            <a:prstClr val="white">
              <a:hueOff val="0"/>
              <a:satOff val="0"/>
              <a:lumOff val="0"/>
              <a:alphaOff val="0"/>
            </a:prstClr>
          </a:solidFill>
          <a:prstDash val="solid"/>
        </a:ln>
        <a:effectLst/>
      </dgm:spPr>
      <dgm:t>
        <a:bodyPr spcFirstLastPara="0" vert="horz" wrap="square" lIns="49530" tIns="49530" rIns="49530" bIns="49530" numCol="1" spcCol="1270" anchor="ctr" anchorCtr="0"/>
        <a:lstStyle/>
        <a:p>
          <a:pPr marL="0" lvl="0" indent="0" algn="ctr" defTabSz="577850">
            <a:lnSpc>
              <a:spcPct val="90000"/>
            </a:lnSpc>
            <a:spcBef>
              <a:spcPct val="0"/>
            </a:spcBef>
            <a:spcAft>
              <a:spcPct val="35000"/>
            </a:spcAft>
            <a:buNone/>
          </a:pPr>
          <a:r>
            <a:rPr lang="en-US" sz="1300" b="1" kern="1200" dirty="0"/>
            <a:t>Identify pitchers approaching high-risk </a:t>
          </a:r>
          <a:r>
            <a:rPr lang="en-US" sz="1300" b="1" kern="1200" dirty="0">
              <a:solidFill>
                <a:prstClr val="white"/>
              </a:solidFill>
              <a:latin typeface="Calibri" panose="020F0502020204030204"/>
              <a:ea typeface="+mn-ea"/>
              <a:cs typeface="+mn-cs"/>
            </a:rPr>
            <a:t>windows</a:t>
          </a:r>
        </a:p>
      </dgm:t>
    </dgm:pt>
    <dgm:pt modelId="{710C8057-77D0-418E-95F0-33A504D4CE36}" type="parTrans" cxnId="{5086394A-F45D-48E2-A64D-E7150AF0F2A6}">
      <dgm:prSet/>
      <dgm:spPr/>
      <dgm:t>
        <a:bodyPr/>
        <a:lstStyle/>
        <a:p>
          <a:endParaRPr lang="en-US" b="1"/>
        </a:p>
      </dgm:t>
    </dgm:pt>
    <dgm:pt modelId="{F17572F4-3299-4343-B1AE-8EDFA251E43F}" type="sibTrans" cxnId="{5086394A-F45D-48E2-A64D-E7150AF0F2A6}">
      <dgm:prSet/>
      <dgm:spPr/>
      <dgm:t>
        <a:bodyPr/>
        <a:lstStyle/>
        <a:p>
          <a:endParaRPr lang="en-US" b="1"/>
        </a:p>
      </dgm:t>
    </dgm:pt>
    <dgm:pt modelId="{3A3EF7F2-78BF-4319-8C0F-702C8BDFF6CE}">
      <dgm:prSet custT="1"/>
      <dgm:spPr>
        <a:solidFill>
          <a:schemeClr val="accent3">
            <a:lumMod val="50000"/>
          </a:schemeClr>
        </a:solidFill>
        <a:ln w="15875" cap="flat" cmpd="sng" algn="ctr">
          <a:solidFill>
            <a:prstClr val="white">
              <a:hueOff val="0"/>
              <a:satOff val="0"/>
              <a:lumOff val="0"/>
              <a:alphaOff val="0"/>
            </a:prstClr>
          </a:solidFill>
          <a:prstDash val="solid"/>
        </a:ln>
        <a:effectLst/>
      </dgm:spPr>
      <dgm:t>
        <a:bodyPr spcFirstLastPara="0" vert="horz" wrap="square" lIns="49530" tIns="49530" rIns="49530" bIns="49530" numCol="1" spcCol="1270" anchor="ctr" anchorCtr="0"/>
        <a:lstStyle/>
        <a:p>
          <a:pPr marL="0" lvl="0" indent="0" algn="ctr" defTabSz="577850">
            <a:lnSpc>
              <a:spcPct val="90000"/>
            </a:lnSpc>
            <a:spcBef>
              <a:spcPct val="0"/>
            </a:spcBef>
            <a:spcAft>
              <a:spcPct val="35000"/>
            </a:spcAft>
            <a:buNone/>
          </a:pPr>
          <a:r>
            <a:rPr lang="en-US" sz="1300" b="1" kern="1200" dirty="0"/>
            <a:t>Optimize workload during peak years</a:t>
          </a:r>
          <a:endParaRPr lang="en-US" sz="1300" b="1" kern="1200" dirty="0">
            <a:solidFill>
              <a:prstClr val="white"/>
            </a:solidFill>
            <a:latin typeface="Calibri" panose="020F0502020204030204"/>
            <a:ea typeface="+mn-ea"/>
            <a:cs typeface="+mn-cs"/>
          </a:endParaRPr>
        </a:p>
      </dgm:t>
    </dgm:pt>
    <dgm:pt modelId="{786BFAA6-72C6-49CA-94AE-6A0B4A6E48D8}" type="parTrans" cxnId="{D89D4369-F16A-4496-8962-EE97E85B19BA}">
      <dgm:prSet/>
      <dgm:spPr/>
      <dgm:t>
        <a:bodyPr/>
        <a:lstStyle/>
        <a:p>
          <a:endParaRPr lang="en-US" b="1"/>
        </a:p>
      </dgm:t>
    </dgm:pt>
    <dgm:pt modelId="{9D5F37DD-0384-42B6-AAD6-F60C45CAEF47}" type="sibTrans" cxnId="{D89D4369-F16A-4496-8962-EE97E85B19BA}">
      <dgm:prSet/>
      <dgm:spPr/>
      <dgm:t>
        <a:bodyPr/>
        <a:lstStyle/>
        <a:p>
          <a:endParaRPr lang="en-US" b="1"/>
        </a:p>
      </dgm:t>
    </dgm:pt>
    <dgm:pt modelId="{860D19D6-7366-43B5-BF36-3C5088150D88}">
      <dgm:prSet custT="1"/>
      <dgm:spPr>
        <a:solidFill>
          <a:srgbClr val="2683C6">
            <a:hueOff val="0"/>
            <a:satOff val="0"/>
            <a:lumOff val="0"/>
            <a:alphaOff val="0"/>
          </a:srgbClr>
        </a:solidFill>
        <a:ln w="15875" cap="flat" cmpd="sng" algn="ctr">
          <a:solidFill>
            <a:prstClr val="white">
              <a:hueOff val="0"/>
              <a:satOff val="0"/>
              <a:lumOff val="0"/>
              <a:alphaOff val="0"/>
            </a:prstClr>
          </a:solidFill>
          <a:prstDash val="solid"/>
        </a:ln>
        <a:effectLst/>
      </dgm:spPr>
      <dgm:t>
        <a:bodyPr spcFirstLastPara="0" vert="horz" wrap="square" lIns="57150" tIns="57150" rIns="57150" bIns="57150" numCol="1" spcCol="1270" anchor="ctr" anchorCtr="0"/>
        <a:lstStyle/>
        <a:p>
          <a:pPr marL="0" lvl="0" indent="0" algn="ctr" defTabSz="577850">
            <a:lnSpc>
              <a:spcPct val="90000"/>
            </a:lnSpc>
            <a:spcBef>
              <a:spcPct val="0"/>
            </a:spcBef>
            <a:spcAft>
              <a:spcPct val="35000"/>
            </a:spcAft>
            <a:buNone/>
          </a:pPr>
          <a:r>
            <a:rPr lang="en-US" sz="1300" b="1" kern="1200" dirty="0">
              <a:solidFill>
                <a:prstClr val="white"/>
              </a:solidFill>
              <a:latin typeface="Calibri" panose="020F0502020204030204"/>
              <a:ea typeface="+mn-ea"/>
              <a:cs typeface="+mn-cs"/>
            </a:rPr>
            <a:t>Project velocity through contract years with uncertainty</a:t>
          </a:r>
        </a:p>
      </dgm:t>
    </dgm:pt>
    <dgm:pt modelId="{4FCE9D52-A411-4EFA-B00A-AB6064D0F007}" type="parTrans" cxnId="{6189FA4F-F371-4CC7-9327-A62E74BB32DB}">
      <dgm:prSet/>
      <dgm:spPr/>
      <dgm:t>
        <a:bodyPr/>
        <a:lstStyle/>
        <a:p>
          <a:endParaRPr lang="en-US" b="1"/>
        </a:p>
      </dgm:t>
    </dgm:pt>
    <dgm:pt modelId="{519096AE-3CA3-4E04-A76D-0C792C11EF9F}" type="sibTrans" cxnId="{6189FA4F-F371-4CC7-9327-A62E74BB32DB}">
      <dgm:prSet/>
      <dgm:spPr/>
      <dgm:t>
        <a:bodyPr/>
        <a:lstStyle/>
        <a:p>
          <a:endParaRPr lang="en-US" b="1"/>
        </a:p>
      </dgm:t>
    </dgm:pt>
    <dgm:pt modelId="{4D825685-3BD3-4571-A531-1312949718E7}">
      <dgm:prSet custT="1"/>
      <dgm:spPr>
        <a:solidFill>
          <a:srgbClr val="28C4CC">
            <a:hueOff val="0"/>
            <a:satOff val="0"/>
            <a:lumOff val="0"/>
            <a:alphaOff val="0"/>
          </a:srgbClr>
        </a:solidFill>
        <a:ln w="15875" cap="flat" cmpd="sng" algn="ctr">
          <a:solidFill>
            <a:prstClr val="white">
              <a:hueOff val="0"/>
              <a:satOff val="0"/>
              <a:lumOff val="0"/>
              <a:alphaOff val="0"/>
            </a:prstClr>
          </a:solidFill>
          <a:prstDash val="solid"/>
        </a:ln>
        <a:effectLst/>
      </dgm:spPr>
      <dgm:t>
        <a:bodyPr spcFirstLastPara="0" vert="horz" wrap="square" lIns="57150" tIns="57150" rIns="57150" bIns="57150" numCol="1" spcCol="1270" anchor="ctr" anchorCtr="0"/>
        <a:lstStyle/>
        <a:p>
          <a:pPr marL="0" lvl="0" indent="0" algn="ctr" defTabSz="577850">
            <a:lnSpc>
              <a:spcPct val="90000"/>
            </a:lnSpc>
            <a:spcBef>
              <a:spcPct val="0"/>
            </a:spcBef>
            <a:spcAft>
              <a:spcPct val="35000"/>
            </a:spcAft>
            <a:buNone/>
          </a:pPr>
          <a:r>
            <a:rPr lang="en-US" sz="1300" b="1" kern="1200" dirty="0"/>
            <a:t>Identify problematic recoveries early</a:t>
          </a:r>
          <a:endParaRPr lang="en-US" sz="1300" b="1" kern="1200" dirty="0">
            <a:solidFill>
              <a:prstClr val="white"/>
            </a:solidFill>
            <a:latin typeface="Calibri" panose="020F0502020204030204"/>
            <a:ea typeface="+mn-ea"/>
            <a:cs typeface="+mn-cs"/>
          </a:endParaRPr>
        </a:p>
      </dgm:t>
    </dgm:pt>
    <dgm:pt modelId="{29C169E4-B935-4EA0-8165-E1F4C1F09A6A}" type="parTrans" cxnId="{2FDDCA52-8E6B-4228-9A67-AB878964F1E5}">
      <dgm:prSet/>
      <dgm:spPr/>
      <dgm:t>
        <a:bodyPr/>
        <a:lstStyle/>
        <a:p>
          <a:endParaRPr lang="en-US" b="1"/>
        </a:p>
      </dgm:t>
    </dgm:pt>
    <dgm:pt modelId="{CEA1B9B8-14D1-453C-8721-FBEF86F26E50}" type="sibTrans" cxnId="{2FDDCA52-8E6B-4228-9A67-AB878964F1E5}">
      <dgm:prSet/>
      <dgm:spPr/>
      <dgm:t>
        <a:bodyPr/>
        <a:lstStyle/>
        <a:p>
          <a:endParaRPr lang="en-US" b="1"/>
        </a:p>
      </dgm:t>
    </dgm:pt>
    <dgm:pt modelId="{DD784D14-D8EB-4D79-A72A-BD8A3B05AE5B}">
      <dgm:prSet custT="1"/>
      <dgm:spPr>
        <a:solidFill>
          <a:srgbClr val="42BA97">
            <a:hueOff val="0"/>
            <a:satOff val="0"/>
            <a:lumOff val="0"/>
            <a:alphaOff val="0"/>
          </a:srgbClr>
        </a:solidFill>
        <a:ln w="15875" cap="flat" cmpd="sng" algn="ctr">
          <a:solidFill>
            <a:prstClr val="white">
              <a:hueOff val="0"/>
              <a:satOff val="0"/>
              <a:lumOff val="0"/>
              <a:alphaOff val="0"/>
            </a:prstClr>
          </a:solidFill>
          <a:prstDash val="solid"/>
        </a:ln>
        <a:effectLst/>
      </dgm:spPr>
      <dgm:t>
        <a:bodyPr spcFirstLastPara="0" vert="horz" wrap="square" lIns="57150" tIns="57150" rIns="57150" bIns="57150" numCol="1" spcCol="1270" anchor="ctr" anchorCtr="0"/>
        <a:lstStyle/>
        <a:p>
          <a:pPr marL="0" lvl="0" indent="0" algn="ctr" defTabSz="577850">
            <a:lnSpc>
              <a:spcPct val="90000"/>
            </a:lnSpc>
            <a:spcBef>
              <a:spcPct val="0"/>
            </a:spcBef>
            <a:spcAft>
              <a:spcPct val="35000"/>
            </a:spcAft>
            <a:buNone/>
          </a:pPr>
          <a:r>
            <a:rPr lang="en-US" sz="1300" b="1" kern="1200" dirty="0">
              <a:solidFill>
                <a:prstClr val="white"/>
              </a:solidFill>
              <a:latin typeface="Calibri" panose="020F0502020204030204"/>
              <a:ea typeface="+mn-ea"/>
              <a:cs typeface="+mn-cs"/>
            </a:rPr>
            <a:t>Inform demotion/DFA decisions objectively</a:t>
          </a:r>
        </a:p>
      </dgm:t>
    </dgm:pt>
    <dgm:pt modelId="{FCE3C715-BD3C-4668-A590-69DBAD799ED9}" type="parTrans" cxnId="{6BC44D65-99BB-4D0F-8A4D-24041DA72CE8}">
      <dgm:prSet/>
      <dgm:spPr/>
      <dgm:t>
        <a:bodyPr/>
        <a:lstStyle/>
        <a:p>
          <a:endParaRPr lang="en-US" b="1"/>
        </a:p>
      </dgm:t>
    </dgm:pt>
    <dgm:pt modelId="{E61C7669-FCC4-4647-95DE-675D999BF8C9}" type="sibTrans" cxnId="{6BC44D65-99BB-4D0F-8A4D-24041DA72CE8}">
      <dgm:prSet/>
      <dgm:spPr/>
      <dgm:t>
        <a:bodyPr/>
        <a:lstStyle/>
        <a:p>
          <a:endParaRPr lang="en-US" b="1"/>
        </a:p>
      </dgm:t>
    </dgm:pt>
    <dgm:pt modelId="{37AB8988-14EA-4EFB-B866-C6751A401B94}">
      <dgm:prSet custT="1"/>
      <dgm:spPr>
        <a:solidFill>
          <a:schemeClr val="accent4">
            <a:lumMod val="75000"/>
          </a:schemeClr>
        </a:solidFill>
      </dgm:spPr>
      <dgm:t>
        <a:bodyPr/>
        <a:lstStyle/>
        <a:p>
          <a:pPr marL="0" lvl="0" indent="0" algn="ctr" defTabSz="577850">
            <a:lnSpc>
              <a:spcPct val="90000"/>
            </a:lnSpc>
            <a:spcBef>
              <a:spcPct val="0"/>
            </a:spcBef>
            <a:spcAft>
              <a:spcPct val="35000"/>
            </a:spcAft>
            <a:buNone/>
          </a:pPr>
          <a:r>
            <a:rPr lang="en-US" sz="1300" b="1" kern="1200" dirty="0">
              <a:solidFill>
                <a:prstClr val="white"/>
              </a:solidFill>
              <a:latin typeface="Calibri" panose="020F0502020204030204"/>
              <a:ea typeface="+mn-ea"/>
              <a:cs typeface="+mn-cs"/>
            </a:rPr>
            <a:t>Maximize return before market recognizes decline</a:t>
          </a:r>
        </a:p>
      </dgm:t>
    </dgm:pt>
    <dgm:pt modelId="{F089F07C-FEAA-44A1-B8D2-1744277BCB17}" type="parTrans" cxnId="{728D81B2-10D5-4874-AC1C-27B239117DF2}">
      <dgm:prSet/>
      <dgm:spPr/>
      <dgm:t>
        <a:bodyPr/>
        <a:lstStyle/>
        <a:p>
          <a:endParaRPr lang="en-US" b="1"/>
        </a:p>
      </dgm:t>
    </dgm:pt>
    <dgm:pt modelId="{C721AB72-3B56-48E2-9D10-6A6F21CBFC63}" type="sibTrans" cxnId="{728D81B2-10D5-4874-AC1C-27B239117DF2}">
      <dgm:prSet/>
      <dgm:spPr/>
      <dgm:t>
        <a:bodyPr/>
        <a:lstStyle/>
        <a:p>
          <a:endParaRPr lang="en-US" b="1"/>
        </a:p>
      </dgm:t>
    </dgm:pt>
    <dgm:pt modelId="{2C128E62-6DF0-47C0-989F-4969A0933B08}">
      <dgm:prSet custT="1"/>
      <dgm:spPr>
        <a:solidFill>
          <a:srgbClr val="28C4CC">
            <a:lumMod val="50000"/>
          </a:srgbClr>
        </a:solidFill>
        <a:ln w="15875" cap="flat" cmpd="sng" algn="ctr">
          <a:solidFill>
            <a:prstClr val="white">
              <a:hueOff val="0"/>
              <a:satOff val="0"/>
              <a:lumOff val="0"/>
              <a:alphaOff val="0"/>
            </a:prstClr>
          </a:solidFill>
          <a:prstDash val="solid"/>
        </a:ln>
        <a:effectLst/>
      </dgm:spPr>
      <dgm:t>
        <a:bodyPr spcFirstLastPara="0" vert="horz" wrap="square" lIns="49530" tIns="49530" rIns="49530" bIns="49530" numCol="1" spcCol="1270" anchor="ctr" anchorCtr="0"/>
        <a:lstStyle/>
        <a:p>
          <a:pPr marL="0" lvl="0" indent="0" algn="ctr" defTabSz="577850">
            <a:lnSpc>
              <a:spcPct val="90000"/>
            </a:lnSpc>
            <a:spcBef>
              <a:spcPct val="0"/>
            </a:spcBef>
            <a:spcAft>
              <a:spcPct val="35000"/>
            </a:spcAft>
            <a:buNone/>
          </a:pPr>
          <a:r>
            <a:rPr lang="en-US" sz="1200" b="1" kern="1200" dirty="0">
              <a:solidFill>
                <a:prstClr val="white"/>
              </a:solidFill>
              <a:latin typeface="Calibri" panose="020F0502020204030204"/>
              <a:ea typeface="+mn-ea"/>
              <a:cs typeface="+mn-cs"/>
            </a:rPr>
            <a:t>Support development and identify pitcher-specific decline onset timing</a:t>
          </a:r>
        </a:p>
      </dgm:t>
    </dgm:pt>
    <dgm:pt modelId="{792C2E04-C335-44C4-AD29-9BB54BD7BEFD}" type="parTrans" cxnId="{6196E020-0B17-45A2-8F2E-C4F0274705E0}">
      <dgm:prSet/>
      <dgm:spPr/>
      <dgm:t>
        <a:bodyPr/>
        <a:lstStyle/>
        <a:p>
          <a:endParaRPr lang="en-US" b="1"/>
        </a:p>
      </dgm:t>
    </dgm:pt>
    <dgm:pt modelId="{2F6AF465-5C9D-412E-B73A-2AAE4C0B3A2F}" type="sibTrans" cxnId="{6196E020-0B17-45A2-8F2E-C4F0274705E0}">
      <dgm:prSet/>
      <dgm:spPr/>
      <dgm:t>
        <a:bodyPr/>
        <a:lstStyle/>
        <a:p>
          <a:endParaRPr lang="en-US" b="1"/>
        </a:p>
      </dgm:t>
    </dgm:pt>
    <dgm:pt modelId="{9B0D6B21-2116-488B-958A-A32D4FF497F6}" type="pres">
      <dgm:prSet presAssocID="{36DCED96-0A21-4BE4-BB65-927E890CEAFA}" presName="diagram" presStyleCnt="0">
        <dgm:presLayoutVars>
          <dgm:dir/>
          <dgm:resizeHandles val="exact"/>
        </dgm:presLayoutVars>
      </dgm:prSet>
      <dgm:spPr/>
    </dgm:pt>
    <dgm:pt modelId="{2B14A3A9-E0B2-40E3-A458-FBB5C8649B8C}" type="pres">
      <dgm:prSet presAssocID="{487D4CC2-3F88-48BB-8B09-6D13C64F1534}" presName="node" presStyleLbl="node1" presStyleIdx="0" presStyleCnt="15">
        <dgm:presLayoutVars>
          <dgm:bulletEnabled val="1"/>
        </dgm:presLayoutVars>
      </dgm:prSet>
      <dgm:spPr/>
    </dgm:pt>
    <dgm:pt modelId="{B752C2B4-6FF2-40EA-B7C2-9302DA0DF872}" type="pres">
      <dgm:prSet presAssocID="{1766E168-F6F4-41E8-BA54-11A4E6F0B8AA}" presName="sibTrans" presStyleCnt="0"/>
      <dgm:spPr/>
    </dgm:pt>
    <dgm:pt modelId="{D043A477-5BF9-4B84-B48F-D4BA8D030D42}" type="pres">
      <dgm:prSet presAssocID="{97874E46-B46E-4C44-BFB3-B832EC8D5AAD}" presName="node" presStyleLbl="node1" presStyleIdx="1" presStyleCnt="15">
        <dgm:presLayoutVars>
          <dgm:bulletEnabled val="1"/>
        </dgm:presLayoutVars>
      </dgm:prSet>
      <dgm:spPr/>
    </dgm:pt>
    <dgm:pt modelId="{7488E09F-604B-4841-B4CA-0B1B5E451308}" type="pres">
      <dgm:prSet presAssocID="{61490BAB-4136-4D09-A87E-8DE893D78852}" presName="sibTrans" presStyleCnt="0"/>
      <dgm:spPr/>
    </dgm:pt>
    <dgm:pt modelId="{CDD7B6F8-6731-441D-BD32-6B24A4D503ED}" type="pres">
      <dgm:prSet presAssocID="{4F1F88A0-A63D-480B-B790-4DFFEEF703B7}" presName="node" presStyleLbl="node1" presStyleIdx="2" presStyleCnt="15">
        <dgm:presLayoutVars>
          <dgm:bulletEnabled val="1"/>
        </dgm:presLayoutVars>
      </dgm:prSet>
      <dgm:spPr/>
    </dgm:pt>
    <dgm:pt modelId="{31029115-B22C-4E6C-BF77-E203770D362A}" type="pres">
      <dgm:prSet presAssocID="{8AE573B6-D281-4C9F-B5AA-9689EB3FE46F}" presName="sibTrans" presStyleCnt="0"/>
      <dgm:spPr/>
    </dgm:pt>
    <dgm:pt modelId="{1983F9CF-37BD-4B94-BB50-1D184DD3D656}" type="pres">
      <dgm:prSet presAssocID="{F2671A87-7F37-4207-B306-575888E7389A}" presName="node" presStyleLbl="node1" presStyleIdx="3" presStyleCnt="15">
        <dgm:presLayoutVars>
          <dgm:bulletEnabled val="1"/>
        </dgm:presLayoutVars>
      </dgm:prSet>
      <dgm:spPr/>
    </dgm:pt>
    <dgm:pt modelId="{D588B040-E4EF-4964-B3B7-3AABF5FDF28B}" type="pres">
      <dgm:prSet presAssocID="{C50C3D07-3012-404C-8A90-6FB9F6CF2B87}" presName="sibTrans" presStyleCnt="0"/>
      <dgm:spPr/>
    </dgm:pt>
    <dgm:pt modelId="{9F932949-6B5B-4C1F-A0DB-98C55B5AAC16}" type="pres">
      <dgm:prSet presAssocID="{21F69940-C987-4A41-8E86-FC9A12AF3816}" presName="node" presStyleLbl="node1" presStyleIdx="4" presStyleCnt="15">
        <dgm:presLayoutVars>
          <dgm:bulletEnabled val="1"/>
        </dgm:presLayoutVars>
      </dgm:prSet>
      <dgm:spPr>
        <a:xfrm>
          <a:off x="758523" y="982019"/>
          <a:ext cx="1401570" cy="840942"/>
        </a:xfrm>
        <a:prstGeom prst="rect">
          <a:avLst/>
        </a:prstGeom>
      </dgm:spPr>
    </dgm:pt>
    <dgm:pt modelId="{B161134C-C7C0-475E-9FEA-F40AEA9701C3}" type="pres">
      <dgm:prSet presAssocID="{7E264395-7E0F-4E3A-B4C3-667EC63F2496}" presName="sibTrans" presStyleCnt="0"/>
      <dgm:spPr/>
    </dgm:pt>
    <dgm:pt modelId="{E9E454BB-4DE7-410E-95A6-1E81C4B044B3}" type="pres">
      <dgm:prSet presAssocID="{26781AAD-CA4B-45C0-80CD-317E7A166811}" presName="node" presStyleLbl="node1" presStyleIdx="5" presStyleCnt="15">
        <dgm:presLayoutVars>
          <dgm:bulletEnabled val="1"/>
        </dgm:presLayoutVars>
      </dgm:prSet>
      <dgm:spPr>
        <a:xfrm>
          <a:off x="2809" y="1436673"/>
          <a:ext cx="1521221" cy="912733"/>
        </a:xfrm>
        <a:prstGeom prst="rect">
          <a:avLst/>
        </a:prstGeom>
      </dgm:spPr>
    </dgm:pt>
    <dgm:pt modelId="{E028481E-95F8-4B43-AE0C-72429233E1B0}" type="pres">
      <dgm:prSet presAssocID="{1D37D183-1798-4A13-A3FF-1C3A5208062A}" presName="sibTrans" presStyleCnt="0"/>
      <dgm:spPr/>
    </dgm:pt>
    <dgm:pt modelId="{F353F5F0-723B-439C-AB3F-37B9365923E7}" type="pres">
      <dgm:prSet presAssocID="{1265E1A2-8AED-4852-8DB2-D917329A9D6C}" presName="node" presStyleLbl="node1" presStyleIdx="6" presStyleCnt="15">
        <dgm:presLayoutVars>
          <dgm:bulletEnabled val="1"/>
        </dgm:presLayoutVars>
      </dgm:prSet>
      <dgm:spPr>
        <a:xfrm>
          <a:off x="1676153" y="1436673"/>
          <a:ext cx="1521221" cy="912733"/>
        </a:xfrm>
        <a:prstGeom prst="rect">
          <a:avLst/>
        </a:prstGeom>
      </dgm:spPr>
    </dgm:pt>
    <dgm:pt modelId="{D42AC7FF-88B5-4120-92F1-9036EC302C5C}" type="pres">
      <dgm:prSet presAssocID="{786CEACA-2AE6-45A6-A8CD-ECE54D4D77FD}" presName="sibTrans" presStyleCnt="0"/>
      <dgm:spPr/>
    </dgm:pt>
    <dgm:pt modelId="{198591EA-B3F1-4692-8B6C-6905D7773C69}" type="pres">
      <dgm:prSet presAssocID="{8F54A112-239F-44E8-A193-0EE8E25FA92C}" presName="node" presStyleLbl="node1" presStyleIdx="7" presStyleCnt="15">
        <dgm:presLayoutVars>
          <dgm:bulletEnabled val="1"/>
        </dgm:presLayoutVars>
      </dgm:prSet>
      <dgm:spPr>
        <a:xfrm>
          <a:off x="3349498" y="1436673"/>
          <a:ext cx="1521221" cy="912733"/>
        </a:xfrm>
        <a:prstGeom prst="rect">
          <a:avLst/>
        </a:prstGeom>
      </dgm:spPr>
    </dgm:pt>
    <dgm:pt modelId="{AB343F2B-D5A6-45F7-890D-1BFE3975E49B}" type="pres">
      <dgm:prSet presAssocID="{0E0B1F6C-5BD7-4500-BEF7-0AF92051DD1F}" presName="sibTrans" presStyleCnt="0"/>
      <dgm:spPr/>
    </dgm:pt>
    <dgm:pt modelId="{F419DA2C-ACD0-47AD-B3EA-799782A9B816}" type="pres">
      <dgm:prSet presAssocID="{48CF8E49-A3D0-459B-BE49-85E8E96AA2B3}" presName="node" presStyleLbl="node1" presStyleIdx="8" presStyleCnt="15">
        <dgm:presLayoutVars>
          <dgm:bulletEnabled val="1"/>
        </dgm:presLayoutVars>
      </dgm:prSet>
      <dgm:spPr>
        <a:xfrm>
          <a:off x="5022842" y="1436673"/>
          <a:ext cx="1521221" cy="912733"/>
        </a:xfrm>
        <a:prstGeom prst="rect">
          <a:avLst/>
        </a:prstGeom>
      </dgm:spPr>
    </dgm:pt>
    <dgm:pt modelId="{F227AB54-39E9-4504-AD32-3268CB4DC756}" type="pres">
      <dgm:prSet presAssocID="{F17572F4-3299-4343-B1AE-8EDFA251E43F}" presName="sibTrans" presStyleCnt="0"/>
      <dgm:spPr/>
    </dgm:pt>
    <dgm:pt modelId="{6D5C4A68-3B73-4EFD-B854-63B3E7E9DEBE}" type="pres">
      <dgm:prSet presAssocID="{3A3EF7F2-78BF-4319-8C0F-702C8BDFF6CE}" presName="node" presStyleLbl="node1" presStyleIdx="9" presStyleCnt="15">
        <dgm:presLayoutVars>
          <dgm:bulletEnabled val="1"/>
        </dgm:presLayoutVars>
      </dgm:prSet>
      <dgm:spPr>
        <a:xfrm>
          <a:off x="2300251" y="1963118"/>
          <a:ext cx="1401570" cy="840942"/>
        </a:xfrm>
        <a:prstGeom prst="rect">
          <a:avLst/>
        </a:prstGeom>
      </dgm:spPr>
    </dgm:pt>
    <dgm:pt modelId="{019F4700-D42C-47BB-B899-670E2CC1B594}" type="pres">
      <dgm:prSet presAssocID="{9D5F37DD-0384-42B6-AAD6-F60C45CAEF47}" presName="sibTrans" presStyleCnt="0"/>
      <dgm:spPr/>
    </dgm:pt>
    <dgm:pt modelId="{B40E4BCF-73BD-4A89-9533-10E52734F8CE}" type="pres">
      <dgm:prSet presAssocID="{860D19D6-7366-43B5-BF36-3C5088150D88}" presName="node" presStyleLbl="node1" presStyleIdx="10" presStyleCnt="15">
        <dgm:presLayoutVars>
          <dgm:bulletEnabled val="1"/>
        </dgm:presLayoutVars>
      </dgm:prSet>
      <dgm:spPr>
        <a:xfrm>
          <a:off x="2809" y="2501528"/>
          <a:ext cx="1521221" cy="912733"/>
        </a:xfrm>
        <a:prstGeom prst="rect">
          <a:avLst/>
        </a:prstGeom>
      </dgm:spPr>
    </dgm:pt>
    <dgm:pt modelId="{58B812F4-6611-4FBC-BAAA-D93AFC914494}" type="pres">
      <dgm:prSet presAssocID="{519096AE-3CA3-4E04-A76D-0C792C11EF9F}" presName="sibTrans" presStyleCnt="0"/>
      <dgm:spPr/>
    </dgm:pt>
    <dgm:pt modelId="{06EC70FB-D84C-42E0-B775-B6769656A983}" type="pres">
      <dgm:prSet presAssocID="{4D825685-3BD3-4571-A531-1312949718E7}" presName="node" presStyleLbl="node1" presStyleIdx="11" presStyleCnt="15">
        <dgm:presLayoutVars>
          <dgm:bulletEnabled val="1"/>
        </dgm:presLayoutVars>
      </dgm:prSet>
      <dgm:spPr>
        <a:xfrm>
          <a:off x="1676153" y="2501528"/>
          <a:ext cx="1521221" cy="912733"/>
        </a:xfrm>
        <a:prstGeom prst="rect">
          <a:avLst/>
        </a:prstGeom>
      </dgm:spPr>
    </dgm:pt>
    <dgm:pt modelId="{1AC9D08C-2F8F-428A-B352-78640E5E42DE}" type="pres">
      <dgm:prSet presAssocID="{CEA1B9B8-14D1-453C-8721-FBEF86F26E50}" presName="sibTrans" presStyleCnt="0"/>
      <dgm:spPr/>
    </dgm:pt>
    <dgm:pt modelId="{080D0416-85E6-49C7-A7DE-A86376715FED}" type="pres">
      <dgm:prSet presAssocID="{DD784D14-D8EB-4D79-A72A-BD8A3B05AE5B}" presName="node" presStyleLbl="node1" presStyleIdx="12" presStyleCnt="15">
        <dgm:presLayoutVars>
          <dgm:bulletEnabled val="1"/>
        </dgm:presLayoutVars>
      </dgm:prSet>
      <dgm:spPr>
        <a:xfrm>
          <a:off x="3349498" y="2501528"/>
          <a:ext cx="1521221" cy="912733"/>
        </a:xfrm>
        <a:prstGeom prst="rect">
          <a:avLst/>
        </a:prstGeom>
      </dgm:spPr>
    </dgm:pt>
    <dgm:pt modelId="{EB65D319-E393-4D68-8019-82E1A95315D1}" type="pres">
      <dgm:prSet presAssocID="{E61C7669-FCC4-4647-95DE-675D999BF8C9}" presName="sibTrans" presStyleCnt="0"/>
      <dgm:spPr/>
    </dgm:pt>
    <dgm:pt modelId="{68D4638A-1197-4901-8B1C-A79FAB191DF1}" type="pres">
      <dgm:prSet presAssocID="{37AB8988-14EA-4EFB-B866-C6751A401B94}" presName="node" presStyleLbl="node1" presStyleIdx="13" presStyleCnt="15">
        <dgm:presLayoutVars>
          <dgm:bulletEnabled val="1"/>
        </dgm:presLayoutVars>
      </dgm:prSet>
      <dgm:spPr/>
    </dgm:pt>
    <dgm:pt modelId="{28BFC97E-B089-4A83-856D-1778E109C843}" type="pres">
      <dgm:prSet presAssocID="{C721AB72-3B56-48E2-9D10-6A6F21CBFC63}" presName="sibTrans" presStyleCnt="0"/>
      <dgm:spPr/>
    </dgm:pt>
    <dgm:pt modelId="{21568DE2-0EDC-4489-A268-081464685C1D}" type="pres">
      <dgm:prSet presAssocID="{2C128E62-6DF0-47C0-989F-4969A0933B08}" presName="node" presStyleLbl="node1" presStyleIdx="14" presStyleCnt="15">
        <dgm:presLayoutVars>
          <dgm:bulletEnabled val="1"/>
        </dgm:presLayoutVars>
      </dgm:prSet>
      <dgm:spPr>
        <a:xfrm>
          <a:off x="6696186" y="2501528"/>
          <a:ext cx="1521221" cy="912733"/>
        </a:xfrm>
        <a:prstGeom prst="rect">
          <a:avLst/>
        </a:prstGeom>
      </dgm:spPr>
    </dgm:pt>
  </dgm:ptLst>
  <dgm:cxnLst>
    <dgm:cxn modelId="{992EC801-2A96-445C-B650-EBCCC79283B9}" type="presOf" srcId="{97874E46-B46E-4C44-BFB3-B832EC8D5AAD}" destId="{D043A477-5BF9-4B84-B48F-D4BA8D030D42}" srcOrd="0" destOrd="0" presId="urn:microsoft.com/office/officeart/2005/8/layout/default"/>
    <dgm:cxn modelId="{187EC509-3124-4B05-B629-6A21C83C5826}" type="presOf" srcId="{2C128E62-6DF0-47C0-989F-4969A0933B08}" destId="{21568DE2-0EDC-4489-A268-081464685C1D}" srcOrd="0" destOrd="0" presId="urn:microsoft.com/office/officeart/2005/8/layout/default"/>
    <dgm:cxn modelId="{6196E020-0B17-45A2-8F2E-C4F0274705E0}" srcId="{36DCED96-0A21-4BE4-BB65-927E890CEAFA}" destId="{2C128E62-6DF0-47C0-989F-4969A0933B08}" srcOrd="14" destOrd="0" parTransId="{792C2E04-C335-44C4-AD29-9BB54BD7BEFD}" sibTransId="{2F6AF465-5C9D-412E-B73A-2AAE4C0B3A2F}"/>
    <dgm:cxn modelId="{73F79234-6817-4C71-88B8-1C0C2A56CE8B}" srcId="{36DCED96-0A21-4BE4-BB65-927E890CEAFA}" destId="{487D4CC2-3F88-48BB-8B09-6D13C64F1534}" srcOrd="0" destOrd="0" parTransId="{497CE190-6C96-4C8B-981D-8B18FC351EF6}" sibTransId="{1766E168-F6F4-41E8-BA54-11A4E6F0B8AA}"/>
    <dgm:cxn modelId="{4DDA1036-C1F9-44EE-BED0-63A4300A54B2}" type="presOf" srcId="{F2671A87-7F37-4207-B306-575888E7389A}" destId="{1983F9CF-37BD-4B94-BB50-1D184DD3D656}" srcOrd="0" destOrd="0" presId="urn:microsoft.com/office/officeart/2005/8/layout/default"/>
    <dgm:cxn modelId="{B0D9353A-20BA-4050-93B1-467EA40E3965}" type="presOf" srcId="{4D825685-3BD3-4571-A531-1312949718E7}" destId="{06EC70FB-D84C-42E0-B775-B6769656A983}" srcOrd="0" destOrd="0" presId="urn:microsoft.com/office/officeart/2005/8/layout/default"/>
    <dgm:cxn modelId="{D6304D3B-F7E0-4774-AFCE-52C073FA0907}" type="presOf" srcId="{21F69940-C987-4A41-8E86-FC9A12AF3816}" destId="{9F932949-6B5B-4C1F-A0DB-98C55B5AAC16}" srcOrd="0" destOrd="0" presId="urn:microsoft.com/office/officeart/2005/8/layout/default"/>
    <dgm:cxn modelId="{3C07F63E-0794-4DA8-A9FA-853D943F175C}" type="presOf" srcId="{48CF8E49-A3D0-459B-BE49-85E8E96AA2B3}" destId="{F419DA2C-ACD0-47AD-B3EA-799782A9B816}" srcOrd="0" destOrd="0" presId="urn:microsoft.com/office/officeart/2005/8/layout/default"/>
    <dgm:cxn modelId="{5F133940-F303-48D9-8994-DEF26813EC1B}" type="presOf" srcId="{860D19D6-7366-43B5-BF36-3C5088150D88}" destId="{B40E4BCF-73BD-4A89-9533-10E52734F8CE}" srcOrd="0" destOrd="0" presId="urn:microsoft.com/office/officeart/2005/8/layout/default"/>
    <dgm:cxn modelId="{EE236D43-95F7-4393-A3A2-0C20C8B0546B}" type="presOf" srcId="{36DCED96-0A21-4BE4-BB65-927E890CEAFA}" destId="{9B0D6B21-2116-488B-958A-A32D4FF497F6}" srcOrd="0" destOrd="0" presId="urn:microsoft.com/office/officeart/2005/8/layout/default"/>
    <dgm:cxn modelId="{2E3B6165-7C54-4941-9953-303C604D9704}" type="presOf" srcId="{3A3EF7F2-78BF-4319-8C0F-702C8BDFF6CE}" destId="{6D5C4A68-3B73-4EFD-B854-63B3E7E9DEBE}" srcOrd="0" destOrd="0" presId="urn:microsoft.com/office/officeart/2005/8/layout/default"/>
    <dgm:cxn modelId="{6BC44D65-99BB-4D0F-8A4D-24041DA72CE8}" srcId="{36DCED96-0A21-4BE4-BB65-927E890CEAFA}" destId="{DD784D14-D8EB-4D79-A72A-BD8A3B05AE5B}" srcOrd="12" destOrd="0" parTransId="{FCE3C715-BD3C-4668-A590-69DBAD799ED9}" sibTransId="{E61C7669-FCC4-4647-95DE-675D999BF8C9}"/>
    <dgm:cxn modelId="{2B1CEC65-34F5-4A6C-8B76-2C0FF1F8AAD1}" type="presOf" srcId="{DD784D14-D8EB-4D79-A72A-BD8A3B05AE5B}" destId="{080D0416-85E6-49C7-A7DE-A86376715FED}" srcOrd="0" destOrd="0" presId="urn:microsoft.com/office/officeart/2005/8/layout/default"/>
    <dgm:cxn modelId="{D89D4369-F16A-4496-8962-EE97E85B19BA}" srcId="{36DCED96-0A21-4BE4-BB65-927E890CEAFA}" destId="{3A3EF7F2-78BF-4319-8C0F-702C8BDFF6CE}" srcOrd="9" destOrd="0" parTransId="{786BFAA6-72C6-49CA-94AE-6A0B4A6E48D8}" sibTransId="{9D5F37DD-0384-42B6-AAD6-F60C45CAEF47}"/>
    <dgm:cxn modelId="{5086394A-F45D-48E2-A64D-E7150AF0F2A6}" srcId="{36DCED96-0A21-4BE4-BB65-927E890CEAFA}" destId="{48CF8E49-A3D0-459B-BE49-85E8E96AA2B3}" srcOrd="8" destOrd="0" parTransId="{710C8057-77D0-418E-95F0-33A504D4CE36}" sibTransId="{F17572F4-3299-4343-B1AE-8EDFA251E43F}"/>
    <dgm:cxn modelId="{1312274F-7F76-4F09-92AD-5A1E1A98DA18}" srcId="{36DCED96-0A21-4BE4-BB65-927E890CEAFA}" destId="{21F69940-C987-4A41-8E86-FC9A12AF3816}" srcOrd="4" destOrd="0" parTransId="{D0230605-E359-45D7-9E76-16BDD9E4FFD0}" sibTransId="{7E264395-7E0F-4E3A-B4C3-667EC63F2496}"/>
    <dgm:cxn modelId="{6189FA4F-F371-4CC7-9327-A62E74BB32DB}" srcId="{36DCED96-0A21-4BE4-BB65-927E890CEAFA}" destId="{860D19D6-7366-43B5-BF36-3C5088150D88}" srcOrd="10" destOrd="0" parTransId="{4FCE9D52-A411-4EFA-B00A-AB6064D0F007}" sibTransId="{519096AE-3CA3-4E04-A76D-0C792C11EF9F}"/>
    <dgm:cxn modelId="{2FDDCA52-8E6B-4228-9A67-AB878964F1E5}" srcId="{36DCED96-0A21-4BE4-BB65-927E890CEAFA}" destId="{4D825685-3BD3-4571-A531-1312949718E7}" srcOrd="11" destOrd="0" parTransId="{29C169E4-B935-4EA0-8165-E1F4C1F09A6A}" sibTransId="{CEA1B9B8-14D1-453C-8721-FBEF86F26E50}"/>
    <dgm:cxn modelId="{4FF4E654-485E-4BDA-A3CA-13DB842E1EA0}" srcId="{36DCED96-0A21-4BE4-BB65-927E890CEAFA}" destId="{26781AAD-CA4B-45C0-80CD-317E7A166811}" srcOrd="5" destOrd="0" parTransId="{C3B51C8F-9180-4E70-BDA4-0B63307D73C2}" sibTransId="{1D37D183-1798-4A13-A3FF-1C3A5208062A}"/>
    <dgm:cxn modelId="{D7142579-CC6E-4182-8CB7-E25D79751A62}" srcId="{36DCED96-0A21-4BE4-BB65-927E890CEAFA}" destId="{4F1F88A0-A63D-480B-B790-4DFFEEF703B7}" srcOrd="2" destOrd="0" parTransId="{B23D3044-E94C-4CCB-8110-DE8294F2FD3A}" sibTransId="{8AE573B6-D281-4C9F-B5AA-9689EB3FE46F}"/>
    <dgm:cxn modelId="{B03C9780-2297-4661-93F3-7D1EB6DCFCBA}" srcId="{36DCED96-0A21-4BE4-BB65-927E890CEAFA}" destId="{97874E46-B46E-4C44-BFB3-B832EC8D5AAD}" srcOrd="1" destOrd="0" parTransId="{5DD6008F-4F0B-4EAE-B7C9-39BBF2932AE9}" sibTransId="{61490BAB-4136-4D09-A87E-8DE893D78852}"/>
    <dgm:cxn modelId="{AF401C87-171C-4E9C-8B8C-EBC04C9178E2}" srcId="{36DCED96-0A21-4BE4-BB65-927E890CEAFA}" destId="{1265E1A2-8AED-4852-8DB2-D917329A9D6C}" srcOrd="6" destOrd="0" parTransId="{FFE85234-00C9-49D9-AD5E-1DAB73ED7D95}" sibTransId="{786CEACA-2AE6-45A6-A8CD-ECE54D4D77FD}"/>
    <dgm:cxn modelId="{FD665695-1E2E-4950-A9F3-B8DD9431CB23}" type="presOf" srcId="{26781AAD-CA4B-45C0-80CD-317E7A166811}" destId="{E9E454BB-4DE7-410E-95A6-1E81C4B044B3}" srcOrd="0" destOrd="0" presId="urn:microsoft.com/office/officeart/2005/8/layout/default"/>
    <dgm:cxn modelId="{3C440A96-573F-4B0A-B3C0-7BBE4D865494}" type="presOf" srcId="{4F1F88A0-A63D-480B-B790-4DFFEEF703B7}" destId="{CDD7B6F8-6731-441D-BD32-6B24A4D503ED}" srcOrd="0" destOrd="0" presId="urn:microsoft.com/office/officeart/2005/8/layout/default"/>
    <dgm:cxn modelId="{7B5D59AE-A4E1-470B-913C-051DAFAD7864}" type="presOf" srcId="{37AB8988-14EA-4EFB-B866-C6751A401B94}" destId="{68D4638A-1197-4901-8B1C-A79FAB191DF1}" srcOrd="0" destOrd="0" presId="urn:microsoft.com/office/officeart/2005/8/layout/default"/>
    <dgm:cxn modelId="{728D81B2-10D5-4874-AC1C-27B239117DF2}" srcId="{36DCED96-0A21-4BE4-BB65-927E890CEAFA}" destId="{37AB8988-14EA-4EFB-B866-C6751A401B94}" srcOrd="13" destOrd="0" parTransId="{F089F07C-FEAA-44A1-B8D2-1744277BCB17}" sibTransId="{C721AB72-3B56-48E2-9D10-6A6F21CBFC63}"/>
    <dgm:cxn modelId="{FD081FC4-2F7B-45C5-B39C-75D75D06ABD0}" type="presOf" srcId="{1265E1A2-8AED-4852-8DB2-D917329A9D6C}" destId="{F353F5F0-723B-439C-AB3F-37B9365923E7}" srcOrd="0" destOrd="0" presId="urn:microsoft.com/office/officeart/2005/8/layout/default"/>
    <dgm:cxn modelId="{25A347C7-24E3-4313-84D7-0B26382F84D0}" type="presOf" srcId="{8F54A112-239F-44E8-A193-0EE8E25FA92C}" destId="{198591EA-B3F1-4692-8B6C-6905D7773C69}" srcOrd="0" destOrd="0" presId="urn:microsoft.com/office/officeart/2005/8/layout/default"/>
    <dgm:cxn modelId="{687662C9-B98C-480A-ADC0-195F472441E5}" srcId="{36DCED96-0A21-4BE4-BB65-927E890CEAFA}" destId="{8F54A112-239F-44E8-A193-0EE8E25FA92C}" srcOrd="7" destOrd="0" parTransId="{B85109AA-8EE2-49EC-A888-E0C6BBC3AA8E}" sibTransId="{0E0B1F6C-5BD7-4500-BEF7-0AF92051DD1F}"/>
    <dgm:cxn modelId="{D68636CA-AD79-4553-92BC-F9FD2889C962}" type="presOf" srcId="{487D4CC2-3F88-48BB-8B09-6D13C64F1534}" destId="{2B14A3A9-E0B2-40E3-A458-FBB5C8649B8C}" srcOrd="0" destOrd="0" presId="urn:microsoft.com/office/officeart/2005/8/layout/default"/>
    <dgm:cxn modelId="{89CC92F7-0A7B-4317-B0B1-D6C10B9A9CDE}" srcId="{36DCED96-0A21-4BE4-BB65-927E890CEAFA}" destId="{F2671A87-7F37-4207-B306-575888E7389A}" srcOrd="3" destOrd="0" parTransId="{C2128B19-C47A-4967-94AE-D5A1DA527F89}" sibTransId="{C50C3D07-3012-404C-8A90-6FB9F6CF2B87}"/>
    <dgm:cxn modelId="{132668A7-10D7-43FB-9AFB-E6E6077AB3BB}" type="presParOf" srcId="{9B0D6B21-2116-488B-958A-A32D4FF497F6}" destId="{2B14A3A9-E0B2-40E3-A458-FBB5C8649B8C}" srcOrd="0" destOrd="0" presId="urn:microsoft.com/office/officeart/2005/8/layout/default"/>
    <dgm:cxn modelId="{9585F30B-4578-41A1-A8CE-77F1BA49C6AC}" type="presParOf" srcId="{9B0D6B21-2116-488B-958A-A32D4FF497F6}" destId="{B752C2B4-6FF2-40EA-B7C2-9302DA0DF872}" srcOrd="1" destOrd="0" presId="urn:microsoft.com/office/officeart/2005/8/layout/default"/>
    <dgm:cxn modelId="{0536C311-A583-4B00-BE16-306462A5C1D4}" type="presParOf" srcId="{9B0D6B21-2116-488B-958A-A32D4FF497F6}" destId="{D043A477-5BF9-4B84-B48F-D4BA8D030D42}" srcOrd="2" destOrd="0" presId="urn:microsoft.com/office/officeart/2005/8/layout/default"/>
    <dgm:cxn modelId="{790BD135-B13C-49C6-9A56-43B41D808855}" type="presParOf" srcId="{9B0D6B21-2116-488B-958A-A32D4FF497F6}" destId="{7488E09F-604B-4841-B4CA-0B1B5E451308}" srcOrd="3" destOrd="0" presId="urn:microsoft.com/office/officeart/2005/8/layout/default"/>
    <dgm:cxn modelId="{1F779D67-5F9C-4307-AD11-BDBEE201B3BE}" type="presParOf" srcId="{9B0D6B21-2116-488B-958A-A32D4FF497F6}" destId="{CDD7B6F8-6731-441D-BD32-6B24A4D503ED}" srcOrd="4" destOrd="0" presId="urn:microsoft.com/office/officeart/2005/8/layout/default"/>
    <dgm:cxn modelId="{D79C3889-D168-4EB2-B655-2B9FA2D44CBF}" type="presParOf" srcId="{9B0D6B21-2116-488B-958A-A32D4FF497F6}" destId="{31029115-B22C-4E6C-BF77-E203770D362A}" srcOrd="5" destOrd="0" presId="urn:microsoft.com/office/officeart/2005/8/layout/default"/>
    <dgm:cxn modelId="{540D87CC-B0E9-411A-A311-D378CC5D97A3}" type="presParOf" srcId="{9B0D6B21-2116-488B-958A-A32D4FF497F6}" destId="{1983F9CF-37BD-4B94-BB50-1D184DD3D656}" srcOrd="6" destOrd="0" presId="urn:microsoft.com/office/officeart/2005/8/layout/default"/>
    <dgm:cxn modelId="{7E679CA2-5911-401A-9F31-81359CA3EE44}" type="presParOf" srcId="{9B0D6B21-2116-488B-958A-A32D4FF497F6}" destId="{D588B040-E4EF-4964-B3B7-3AABF5FDF28B}" srcOrd="7" destOrd="0" presId="urn:microsoft.com/office/officeart/2005/8/layout/default"/>
    <dgm:cxn modelId="{9BF097C3-A9C7-4FA0-B2D8-FE2C4637C652}" type="presParOf" srcId="{9B0D6B21-2116-488B-958A-A32D4FF497F6}" destId="{9F932949-6B5B-4C1F-A0DB-98C55B5AAC16}" srcOrd="8" destOrd="0" presId="urn:microsoft.com/office/officeart/2005/8/layout/default"/>
    <dgm:cxn modelId="{7932B06A-0424-4D7D-9CB7-9E65D72DC403}" type="presParOf" srcId="{9B0D6B21-2116-488B-958A-A32D4FF497F6}" destId="{B161134C-C7C0-475E-9FEA-F40AEA9701C3}" srcOrd="9" destOrd="0" presId="urn:microsoft.com/office/officeart/2005/8/layout/default"/>
    <dgm:cxn modelId="{89AA99A1-6ACA-4661-B2C4-464B56EE6FB9}" type="presParOf" srcId="{9B0D6B21-2116-488B-958A-A32D4FF497F6}" destId="{E9E454BB-4DE7-410E-95A6-1E81C4B044B3}" srcOrd="10" destOrd="0" presId="urn:microsoft.com/office/officeart/2005/8/layout/default"/>
    <dgm:cxn modelId="{C559BB75-8FE2-49F8-9089-8FFEB0315ADD}" type="presParOf" srcId="{9B0D6B21-2116-488B-958A-A32D4FF497F6}" destId="{E028481E-95F8-4B43-AE0C-72429233E1B0}" srcOrd="11" destOrd="0" presId="urn:microsoft.com/office/officeart/2005/8/layout/default"/>
    <dgm:cxn modelId="{9B28C1B9-1323-4B60-8A96-4AEA1218E770}" type="presParOf" srcId="{9B0D6B21-2116-488B-958A-A32D4FF497F6}" destId="{F353F5F0-723B-439C-AB3F-37B9365923E7}" srcOrd="12" destOrd="0" presId="urn:microsoft.com/office/officeart/2005/8/layout/default"/>
    <dgm:cxn modelId="{B7667919-8103-4B75-8BFF-046BA132755C}" type="presParOf" srcId="{9B0D6B21-2116-488B-958A-A32D4FF497F6}" destId="{D42AC7FF-88B5-4120-92F1-9036EC302C5C}" srcOrd="13" destOrd="0" presId="urn:microsoft.com/office/officeart/2005/8/layout/default"/>
    <dgm:cxn modelId="{51F27A9C-B49E-4C1F-81DB-93B9C9C90617}" type="presParOf" srcId="{9B0D6B21-2116-488B-958A-A32D4FF497F6}" destId="{198591EA-B3F1-4692-8B6C-6905D7773C69}" srcOrd="14" destOrd="0" presId="urn:microsoft.com/office/officeart/2005/8/layout/default"/>
    <dgm:cxn modelId="{1F9EA816-C5E0-4C1C-A0D4-189FAE950254}" type="presParOf" srcId="{9B0D6B21-2116-488B-958A-A32D4FF497F6}" destId="{AB343F2B-D5A6-45F7-890D-1BFE3975E49B}" srcOrd="15" destOrd="0" presId="urn:microsoft.com/office/officeart/2005/8/layout/default"/>
    <dgm:cxn modelId="{BBE95A91-6BDC-4AA1-BB48-FC9FC5DFFC0F}" type="presParOf" srcId="{9B0D6B21-2116-488B-958A-A32D4FF497F6}" destId="{F419DA2C-ACD0-47AD-B3EA-799782A9B816}" srcOrd="16" destOrd="0" presId="urn:microsoft.com/office/officeart/2005/8/layout/default"/>
    <dgm:cxn modelId="{494197D5-9D97-4E70-8E31-C6EC84F0B2C4}" type="presParOf" srcId="{9B0D6B21-2116-488B-958A-A32D4FF497F6}" destId="{F227AB54-39E9-4504-AD32-3268CB4DC756}" srcOrd="17" destOrd="0" presId="urn:microsoft.com/office/officeart/2005/8/layout/default"/>
    <dgm:cxn modelId="{4395A363-5B25-4B0A-A736-6AFECB97BDE6}" type="presParOf" srcId="{9B0D6B21-2116-488B-958A-A32D4FF497F6}" destId="{6D5C4A68-3B73-4EFD-B854-63B3E7E9DEBE}" srcOrd="18" destOrd="0" presId="urn:microsoft.com/office/officeart/2005/8/layout/default"/>
    <dgm:cxn modelId="{2D5EA185-44A6-4180-AEAC-1784355E3BFB}" type="presParOf" srcId="{9B0D6B21-2116-488B-958A-A32D4FF497F6}" destId="{019F4700-D42C-47BB-B899-670E2CC1B594}" srcOrd="19" destOrd="0" presId="urn:microsoft.com/office/officeart/2005/8/layout/default"/>
    <dgm:cxn modelId="{E751B302-2E65-426C-9449-673D94DD761B}" type="presParOf" srcId="{9B0D6B21-2116-488B-958A-A32D4FF497F6}" destId="{B40E4BCF-73BD-4A89-9533-10E52734F8CE}" srcOrd="20" destOrd="0" presId="urn:microsoft.com/office/officeart/2005/8/layout/default"/>
    <dgm:cxn modelId="{4B6710F8-52D5-4BAA-8EB0-CD12A2E68E1D}" type="presParOf" srcId="{9B0D6B21-2116-488B-958A-A32D4FF497F6}" destId="{58B812F4-6611-4FBC-BAAA-D93AFC914494}" srcOrd="21" destOrd="0" presId="urn:microsoft.com/office/officeart/2005/8/layout/default"/>
    <dgm:cxn modelId="{79DBD4FF-2421-4F3B-B46C-45E213181122}" type="presParOf" srcId="{9B0D6B21-2116-488B-958A-A32D4FF497F6}" destId="{06EC70FB-D84C-42E0-B775-B6769656A983}" srcOrd="22" destOrd="0" presId="urn:microsoft.com/office/officeart/2005/8/layout/default"/>
    <dgm:cxn modelId="{C2D1BC44-E1D2-43AB-8AC4-DCBAABCBD0B6}" type="presParOf" srcId="{9B0D6B21-2116-488B-958A-A32D4FF497F6}" destId="{1AC9D08C-2F8F-428A-B352-78640E5E42DE}" srcOrd="23" destOrd="0" presId="urn:microsoft.com/office/officeart/2005/8/layout/default"/>
    <dgm:cxn modelId="{FD1FF8B3-22EC-4389-A6CD-1DC556837F54}" type="presParOf" srcId="{9B0D6B21-2116-488B-958A-A32D4FF497F6}" destId="{080D0416-85E6-49C7-A7DE-A86376715FED}" srcOrd="24" destOrd="0" presId="urn:microsoft.com/office/officeart/2005/8/layout/default"/>
    <dgm:cxn modelId="{52AB9A27-C3FF-4461-AB93-44F77D18F3D2}" type="presParOf" srcId="{9B0D6B21-2116-488B-958A-A32D4FF497F6}" destId="{EB65D319-E393-4D68-8019-82E1A95315D1}" srcOrd="25" destOrd="0" presId="urn:microsoft.com/office/officeart/2005/8/layout/default"/>
    <dgm:cxn modelId="{65EC2EFC-C99A-40C9-A5A0-223DFE10EC8B}" type="presParOf" srcId="{9B0D6B21-2116-488B-958A-A32D4FF497F6}" destId="{68D4638A-1197-4901-8B1C-A79FAB191DF1}" srcOrd="26" destOrd="0" presId="urn:microsoft.com/office/officeart/2005/8/layout/default"/>
    <dgm:cxn modelId="{54504748-857D-4F44-9899-CB5F1CA50EAD}" type="presParOf" srcId="{9B0D6B21-2116-488B-958A-A32D4FF497F6}" destId="{28BFC97E-B089-4A83-856D-1778E109C843}" srcOrd="27" destOrd="0" presId="urn:microsoft.com/office/officeart/2005/8/layout/default"/>
    <dgm:cxn modelId="{682E447D-9F3C-48CC-BFAB-0F2BD41A1F98}" type="presParOf" srcId="{9B0D6B21-2116-488B-958A-A32D4FF497F6}" destId="{21568DE2-0EDC-4489-A268-081464685C1D}" srcOrd="28"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AE3838-27C2-4E05-AF28-A93683595A98}">
      <dsp:nvSpPr>
        <dsp:cNvPr id="0" name=""/>
        <dsp:cNvSpPr/>
      </dsp:nvSpPr>
      <dsp:spPr>
        <a:xfrm>
          <a:off x="6406" y="485516"/>
          <a:ext cx="2535450" cy="760635"/>
        </a:xfrm>
        <a:prstGeom prst="chevron">
          <a:avLst>
            <a:gd name="adj" fmla="val 30000"/>
          </a:avLst>
        </a:prstGeom>
        <a:gradFill rotWithShape="0">
          <a:gsLst>
            <a:gs pos="0">
              <a:schemeClr val="accent2">
                <a:shade val="80000"/>
                <a:hueOff val="0"/>
                <a:satOff val="0"/>
                <a:lumOff val="0"/>
                <a:alphaOff val="0"/>
                <a:shade val="85000"/>
                <a:satMod val="130000"/>
              </a:schemeClr>
            </a:gs>
            <a:gs pos="34000">
              <a:schemeClr val="accent2">
                <a:shade val="80000"/>
                <a:hueOff val="0"/>
                <a:satOff val="0"/>
                <a:lumOff val="0"/>
                <a:alphaOff val="0"/>
                <a:shade val="87000"/>
                <a:satMod val="125000"/>
              </a:schemeClr>
            </a:gs>
            <a:gs pos="70000">
              <a:schemeClr val="accent2">
                <a:shade val="80000"/>
                <a:hueOff val="0"/>
                <a:satOff val="0"/>
                <a:lumOff val="0"/>
                <a:alphaOff val="0"/>
                <a:tint val="100000"/>
                <a:shade val="90000"/>
                <a:satMod val="130000"/>
              </a:schemeClr>
            </a:gs>
            <a:gs pos="100000">
              <a:schemeClr val="accent2">
                <a:shade val="80000"/>
                <a:hueOff val="0"/>
                <a:satOff val="0"/>
                <a:lumOff val="0"/>
                <a:alphaOff val="0"/>
                <a:tint val="100000"/>
                <a:shade val="100000"/>
                <a:satMod val="110000"/>
              </a:schemeClr>
            </a:gs>
          </a:gsLst>
          <a:path path="circle">
            <a:fillToRect l="100000" t="100000" r="100000" b="100000"/>
          </a:path>
        </a:gradFill>
        <a:ln w="12700" cap="flat" cmpd="sng" algn="ctr">
          <a:solidFill>
            <a:schemeClr val="accent2">
              <a:shade val="80000"/>
              <a:hueOff val="0"/>
              <a:satOff val="0"/>
              <a:lumOff val="0"/>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93917" tIns="93917" rIns="93917" bIns="93917" numCol="1" spcCol="1270" anchor="ctr" anchorCtr="0">
          <a:noAutofit/>
        </a:bodyPr>
        <a:lstStyle/>
        <a:p>
          <a:pPr marL="0" lvl="0" indent="0" algn="ctr" defTabSz="889000">
            <a:lnSpc>
              <a:spcPct val="90000"/>
            </a:lnSpc>
            <a:spcBef>
              <a:spcPct val="0"/>
            </a:spcBef>
            <a:spcAft>
              <a:spcPct val="35000"/>
            </a:spcAft>
            <a:buNone/>
          </a:pPr>
          <a:r>
            <a:rPr lang="en-US" sz="2000" b="1" kern="1200" dirty="0"/>
            <a:t>Data Source</a:t>
          </a:r>
        </a:p>
      </dsp:txBody>
      <dsp:txXfrm>
        <a:off x="234597" y="485516"/>
        <a:ext cx="2079069" cy="760635"/>
      </dsp:txXfrm>
    </dsp:sp>
    <dsp:sp modelId="{A8F3869D-642C-45E1-8FE4-2A236172EB09}">
      <dsp:nvSpPr>
        <dsp:cNvPr id="0" name=""/>
        <dsp:cNvSpPr/>
      </dsp:nvSpPr>
      <dsp:spPr>
        <a:xfrm>
          <a:off x="6406" y="1246151"/>
          <a:ext cx="2307259" cy="2291691"/>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82325" tIns="182325" rIns="182325" bIns="364650" numCol="1" spcCol="1270" anchor="t" anchorCtr="0">
          <a:noAutofit/>
        </a:bodyPr>
        <a:lstStyle/>
        <a:p>
          <a:pPr marL="0" lvl="0" indent="0" algn="l" defTabSz="666750">
            <a:lnSpc>
              <a:spcPct val="90000"/>
            </a:lnSpc>
            <a:spcBef>
              <a:spcPct val="0"/>
            </a:spcBef>
            <a:spcAft>
              <a:spcPct val="35000"/>
            </a:spcAft>
            <a:buNone/>
          </a:pPr>
          <a:r>
            <a:rPr lang="en-US" sz="1500" b="1" kern="1200" dirty="0"/>
            <a:t>MLB Statcast (Baseball Savant)</a:t>
          </a:r>
        </a:p>
        <a:p>
          <a:pPr marL="0" lvl="0" indent="0" algn="l" defTabSz="666750">
            <a:lnSpc>
              <a:spcPct val="90000"/>
            </a:lnSpc>
            <a:spcBef>
              <a:spcPct val="0"/>
            </a:spcBef>
            <a:spcAft>
              <a:spcPct val="35000"/>
            </a:spcAft>
            <a:buNone/>
          </a:pPr>
          <a:r>
            <a:rPr lang="en-US" sz="1500" b="1" kern="1200" dirty="0"/>
            <a:t>2015-2025 Seasons</a:t>
          </a:r>
        </a:p>
      </dsp:txBody>
      <dsp:txXfrm>
        <a:off x="6406" y="1246151"/>
        <a:ext cx="2307259" cy="2291691"/>
      </dsp:txXfrm>
    </dsp:sp>
    <dsp:sp modelId="{AA849B43-78F5-4814-9F5C-FC1A26E1184F}">
      <dsp:nvSpPr>
        <dsp:cNvPr id="0" name=""/>
        <dsp:cNvSpPr/>
      </dsp:nvSpPr>
      <dsp:spPr>
        <a:xfrm>
          <a:off x="2504174" y="485516"/>
          <a:ext cx="2535450" cy="760635"/>
        </a:xfrm>
        <a:prstGeom prst="chevron">
          <a:avLst>
            <a:gd name="adj" fmla="val 30000"/>
          </a:avLst>
        </a:prstGeom>
        <a:gradFill rotWithShape="0">
          <a:gsLst>
            <a:gs pos="0">
              <a:schemeClr val="accent2">
                <a:shade val="80000"/>
                <a:hueOff val="259796"/>
                <a:satOff val="-11129"/>
                <a:lumOff val="15349"/>
                <a:alphaOff val="0"/>
                <a:shade val="85000"/>
                <a:satMod val="130000"/>
              </a:schemeClr>
            </a:gs>
            <a:gs pos="34000">
              <a:schemeClr val="accent2">
                <a:shade val="80000"/>
                <a:hueOff val="259796"/>
                <a:satOff val="-11129"/>
                <a:lumOff val="15349"/>
                <a:alphaOff val="0"/>
                <a:shade val="87000"/>
                <a:satMod val="125000"/>
              </a:schemeClr>
            </a:gs>
            <a:gs pos="70000">
              <a:schemeClr val="accent2">
                <a:shade val="80000"/>
                <a:hueOff val="259796"/>
                <a:satOff val="-11129"/>
                <a:lumOff val="15349"/>
                <a:alphaOff val="0"/>
                <a:tint val="100000"/>
                <a:shade val="90000"/>
                <a:satMod val="130000"/>
              </a:schemeClr>
            </a:gs>
            <a:gs pos="100000">
              <a:schemeClr val="accent2">
                <a:shade val="80000"/>
                <a:hueOff val="259796"/>
                <a:satOff val="-11129"/>
                <a:lumOff val="15349"/>
                <a:alphaOff val="0"/>
                <a:tint val="100000"/>
                <a:shade val="100000"/>
                <a:satMod val="110000"/>
              </a:schemeClr>
            </a:gs>
          </a:gsLst>
          <a:path path="circle">
            <a:fillToRect l="100000" t="100000" r="100000" b="100000"/>
          </a:path>
        </a:gradFill>
        <a:ln w="12700" cap="flat" cmpd="sng" algn="ctr">
          <a:solidFill>
            <a:schemeClr val="accent2">
              <a:shade val="80000"/>
              <a:hueOff val="259796"/>
              <a:satOff val="-11129"/>
              <a:lumOff val="15349"/>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93917" tIns="93917" rIns="93917" bIns="93917" numCol="1" spcCol="1270" anchor="ctr" anchorCtr="0">
          <a:noAutofit/>
        </a:bodyPr>
        <a:lstStyle/>
        <a:p>
          <a:pPr marL="0" lvl="0" indent="0" algn="ctr" defTabSz="889000">
            <a:lnSpc>
              <a:spcPct val="90000"/>
            </a:lnSpc>
            <a:spcBef>
              <a:spcPct val="0"/>
            </a:spcBef>
            <a:spcAft>
              <a:spcPct val="35000"/>
            </a:spcAft>
            <a:buNone/>
          </a:pPr>
          <a:r>
            <a:rPr lang="en-US" sz="2000" b="1" kern="1200"/>
            <a:t>TJ Data</a:t>
          </a:r>
        </a:p>
      </dsp:txBody>
      <dsp:txXfrm>
        <a:off x="2732365" y="485516"/>
        <a:ext cx="2079069" cy="760635"/>
      </dsp:txXfrm>
    </dsp:sp>
    <dsp:sp modelId="{28AAF9AE-FD1B-418E-9C3F-26DCD95C508B}">
      <dsp:nvSpPr>
        <dsp:cNvPr id="0" name=""/>
        <dsp:cNvSpPr/>
      </dsp:nvSpPr>
      <dsp:spPr>
        <a:xfrm>
          <a:off x="2504174" y="1246151"/>
          <a:ext cx="2307259" cy="2291691"/>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82325" tIns="182325" rIns="182325" bIns="364650" numCol="1" spcCol="1270" anchor="t" anchorCtr="0">
          <a:noAutofit/>
        </a:bodyPr>
        <a:lstStyle/>
        <a:p>
          <a:pPr marL="0" lvl="0" indent="0" algn="l" defTabSz="666750">
            <a:lnSpc>
              <a:spcPct val="90000"/>
            </a:lnSpc>
            <a:spcBef>
              <a:spcPct val="0"/>
            </a:spcBef>
            <a:spcAft>
              <a:spcPct val="35000"/>
            </a:spcAft>
            <a:buFont typeface="Arial" panose="020B0604020202020204" pitchFamily="34" charset="0"/>
            <a:buNone/>
          </a:pPr>
          <a:r>
            <a:rPr lang="en-US" sz="1500" b="1" kern="1200" dirty="0"/>
            <a:t>Open-Source comprehensive MLB injury file (Roegele)</a:t>
          </a:r>
        </a:p>
        <a:p>
          <a:pPr marL="0" lvl="0" indent="0" algn="l" defTabSz="666750">
            <a:lnSpc>
              <a:spcPct val="90000"/>
            </a:lnSpc>
            <a:spcBef>
              <a:spcPct val="0"/>
            </a:spcBef>
            <a:spcAft>
              <a:spcPct val="35000"/>
            </a:spcAft>
            <a:buFont typeface="Arial" panose="020B0604020202020204" pitchFamily="34" charset="0"/>
            <a:buNone/>
          </a:pPr>
          <a:r>
            <a:rPr lang="en-US" sz="1500" b="1" kern="1200" dirty="0"/>
            <a:t>Surgery dates, recovery timelines, surgery type, etc.</a:t>
          </a:r>
        </a:p>
      </dsp:txBody>
      <dsp:txXfrm>
        <a:off x="2504174" y="1246151"/>
        <a:ext cx="2307259" cy="2291691"/>
      </dsp:txXfrm>
    </dsp:sp>
    <dsp:sp modelId="{0F2EF00A-F720-466E-8771-35B10F818A80}">
      <dsp:nvSpPr>
        <dsp:cNvPr id="0" name=""/>
        <dsp:cNvSpPr/>
      </dsp:nvSpPr>
      <dsp:spPr>
        <a:xfrm>
          <a:off x="5001943" y="485516"/>
          <a:ext cx="2535450" cy="760635"/>
        </a:xfrm>
        <a:prstGeom prst="chevron">
          <a:avLst>
            <a:gd name="adj" fmla="val 30000"/>
          </a:avLst>
        </a:prstGeom>
        <a:gradFill rotWithShape="0">
          <a:gsLst>
            <a:gs pos="0">
              <a:schemeClr val="accent2">
                <a:shade val="80000"/>
                <a:hueOff val="519592"/>
                <a:satOff val="-22257"/>
                <a:lumOff val="30698"/>
                <a:alphaOff val="0"/>
                <a:shade val="85000"/>
                <a:satMod val="130000"/>
              </a:schemeClr>
            </a:gs>
            <a:gs pos="34000">
              <a:schemeClr val="accent2">
                <a:shade val="80000"/>
                <a:hueOff val="519592"/>
                <a:satOff val="-22257"/>
                <a:lumOff val="30698"/>
                <a:alphaOff val="0"/>
                <a:shade val="87000"/>
                <a:satMod val="125000"/>
              </a:schemeClr>
            </a:gs>
            <a:gs pos="70000">
              <a:schemeClr val="accent2">
                <a:shade val="80000"/>
                <a:hueOff val="519592"/>
                <a:satOff val="-22257"/>
                <a:lumOff val="30698"/>
                <a:alphaOff val="0"/>
                <a:tint val="100000"/>
                <a:shade val="90000"/>
                <a:satMod val="130000"/>
              </a:schemeClr>
            </a:gs>
            <a:gs pos="100000">
              <a:schemeClr val="accent2">
                <a:shade val="80000"/>
                <a:hueOff val="519592"/>
                <a:satOff val="-22257"/>
                <a:lumOff val="30698"/>
                <a:alphaOff val="0"/>
                <a:tint val="100000"/>
                <a:shade val="100000"/>
                <a:satMod val="110000"/>
              </a:schemeClr>
            </a:gs>
          </a:gsLst>
          <a:path path="circle">
            <a:fillToRect l="100000" t="100000" r="100000" b="100000"/>
          </a:path>
        </a:gradFill>
        <a:ln w="12700" cap="flat" cmpd="sng" algn="ctr">
          <a:solidFill>
            <a:schemeClr val="accent2">
              <a:shade val="80000"/>
              <a:hueOff val="519592"/>
              <a:satOff val="-22257"/>
              <a:lumOff val="30698"/>
              <a:alphaOff val="0"/>
            </a:schemeClr>
          </a:solidFill>
          <a:prstDash val="solid"/>
        </a:ln>
        <a:effectLst>
          <a:outerShdw blurRad="38100" dist="25400" dir="2700000" algn="br"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93917" tIns="93917" rIns="93917" bIns="93917" numCol="1" spcCol="1270" anchor="ctr" anchorCtr="0">
          <a:noAutofit/>
        </a:bodyPr>
        <a:lstStyle/>
        <a:p>
          <a:pPr marL="0" lvl="0" indent="0" algn="ctr" defTabSz="889000">
            <a:lnSpc>
              <a:spcPct val="90000"/>
            </a:lnSpc>
            <a:spcBef>
              <a:spcPct val="0"/>
            </a:spcBef>
            <a:spcAft>
              <a:spcPct val="35000"/>
            </a:spcAft>
            <a:buNone/>
          </a:pPr>
          <a:r>
            <a:rPr lang="en-US" sz="2000" b="1" kern="1200"/>
            <a:t>Sample Characteristics</a:t>
          </a:r>
        </a:p>
      </dsp:txBody>
      <dsp:txXfrm>
        <a:off x="5230134" y="485516"/>
        <a:ext cx="2079069" cy="760635"/>
      </dsp:txXfrm>
    </dsp:sp>
    <dsp:sp modelId="{56A3DAA5-8136-4603-A387-F291DC492F89}">
      <dsp:nvSpPr>
        <dsp:cNvPr id="0" name=""/>
        <dsp:cNvSpPr/>
      </dsp:nvSpPr>
      <dsp:spPr>
        <a:xfrm>
          <a:off x="5001943" y="1246151"/>
          <a:ext cx="2307259" cy="2291691"/>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82325" tIns="182325" rIns="182325" bIns="364650" numCol="1" spcCol="1270" anchor="t" anchorCtr="0">
          <a:noAutofit/>
        </a:bodyPr>
        <a:lstStyle/>
        <a:p>
          <a:pPr marL="0" lvl="0" indent="0" algn="l" defTabSz="666750">
            <a:lnSpc>
              <a:spcPct val="90000"/>
            </a:lnSpc>
            <a:spcBef>
              <a:spcPct val="0"/>
            </a:spcBef>
            <a:spcAft>
              <a:spcPct val="35000"/>
            </a:spcAft>
            <a:buFont typeface="Arial" panose="020B0604020202020204" pitchFamily="34" charset="0"/>
            <a:buNone/>
          </a:pPr>
          <a:r>
            <a:rPr lang="en-US" sz="1500" b="1" kern="1200" dirty="0"/>
            <a:t>1,900+ pitchers analyzed</a:t>
          </a:r>
        </a:p>
        <a:p>
          <a:pPr marL="0" lvl="0" indent="0" algn="l" defTabSz="666750">
            <a:lnSpc>
              <a:spcPct val="90000"/>
            </a:lnSpc>
            <a:spcBef>
              <a:spcPct val="0"/>
            </a:spcBef>
            <a:spcAft>
              <a:spcPct val="35000"/>
            </a:spcAft>
            <a:buFont typeface="Arial" panose="020B0604020202020204" pitchFamily="34" charset="0"/>
            <a:buNone/>
          </a:pPr>
          <a:r>
            <a:rPr lang="en-US" sz="1500" b="1" kern="1200" dirty="0"/>
            <a:t>5,700+ pitcher-season observations</a:t>
          </a:r>
        </a:p>
        <a:p>
          <a:pPr marL="0" lvl="0" indent="0" algn="l" defTabSz="666750">
            <a:lnSpc>
              <a:spcPct val="90000"/>
            </a:lnSpc>
            <a:spcBef>
              <a:spcPct val="0"/>
            </a:spcBef>
            <a:spcAft>
              <a:spcPct val="35000"/>
            </a:spcAft>
            <a:buFont typeface="Arial" panose="020B0604020202020204" pitchFamily="34" charset="0"/>
            <a:buNone/>
          </a:pPr>
          <a:r>
            <a:rPr lang="en-US" sz="1500" b="1" kern="1200" dirty="0"/>
            <a:t>140+ changepoints detected</a:t>
          </a:r>
        </a:p>
        <a:p>
          <a:pPr marL="0" lvl="0" indent="0" algn="l" defTabSz="666750">
            <a:lnSpc>
              <a:spcPct val="90000"/>
            </a:lnSpc>
            <a:spcBef>
              <a:spcPct val="0"/>
            </a:spcBef>
            <a:spcAft>
              <a:spcPct val="35000"/>
            </a:spcAft>
            <a:buFont typeface="Arial" panose="020B0604020202020204" pitchFamily="34" charset="0"/>
            <a:buNone/>
          </a:pPr>
          <a:r>
            <a:rPr lang="en-US" sz="1500" b="1" kern="1200" dirty="0"/>
            <a:t>Ages 20-45 covered</a:t>
          </a:r>
        </a:p>
      </dsp:txBody>
      <dsp:txXfrm>
        <a:off x="5001943" y="1246151"/>
        <a:ext cx="2307259" cy="229169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332653-8AE0-41D8-B50A-6E65526E5A5E}">
      <dsp:nvSpPr>
        <dsp:cNvPr id="0" name=""/>
        <dsp:cNvSpPr/>
      </dsp:nvSpPr>
      <dsp:spPr>
        <a:xfrm>
          <a:off x="1645" y="1943601"/>
          <a:ext cx="2257189" cy="1128594"/>
        </a:xfrm>
        <a:prstGeom prst="roundRect">
          <a:avLst>
            <a:gd name="adj" fmla="val 10000"/>
          </a:avLst>
        </a:prstGeom>
        <a:solidFill>
          <a:srgbClr val="2683C6"/>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WE CAN SEPARATE AGING FROM INJURY</a:t>
          </a:r>
        </a:p>
      </dsp:txBody>
      <dsp:txXfrm>
        <a:off x="34700" y="1976656"/>
        <a:ext cx="2191079" cy="1062484"/>
      </dsp:txXfrm>
    </dsp:sp>
    <dsp:sp modelId="{26E974F7-5165-4661-AF33-39ABC680C155}">
      <dsp:nvSpPr>
        <dsp:cNvPr id="0" name=""/>
        <dsp:cNvSpPr/>
      </dsp:nvSpPr>
      <dsp:spPr>
        <a:xfrm>
          <a:off x="227364" y="3072196"/>
          <a:ext cx="225718" cy="934397"/>
        </a:xfrm>
        <a:custGeom>
          <a:avLst/>
          <a:gdLst/>
          <a:ahLst/>
          <a:cxnLst/>
          <a:rect l="0" t="0" r="0" b="0"/>
          <a:pathLst>
            <a:path>
              <a:moveTo>
                <a:pt x="0" y="0"/>
              </a:moveTo>
              <a:lnTo>
                <a:pt x="0" y="934397"/>
              </a:lnTo>
              <a:lnTo>
                <a:pt x="225718" y="934397"/>
              </a:lnTo>
            </a:path>
          </a:pathLst>
        </a:custGeom>
        <a:noFill/>
        <a:ln w="15875" cap="flat" cmpd="sng" algn="ctr">
          <a:solidFill>
            <a:srgbClr val="2683C6"/>
          </a:solidFill>
          <a:prstDash val="solid"/>
        </a:ln>
        <a:effectLst/>
      </dsp:spPr>
      <dsp:style>
        <a:lnRef idx="2">
          <a:scrgbClr r="0" g="0" b="0"/>
        </a:lnRef>
        <a:fillRef idx="0">
          <a:scrgbClr r="0" g="0" b="0"/>
        </a:fillRef>
        <a:effectRef idx="0">
          <a:scrgbClr r="0" g="0" b="0"/>
        </a:effectRef>
        <a:fontRef idx="minor"/>
      </dsp:style>
    </dsp:sp>
    <dsp:sp modelId="{57D65115-7764-437F-920C-25D81EC212DA}">
      <dsp:nvSpPr>
        <dsp:cNvPr id="0" name=""/>
        <dsp:cNvSpPr/>
      </dsp:nvSpPr>
      <dsp:spPr>
        <a:xfrm>
          <a:off x="453083" y="3354344"/>
          <a:ext cx="1998136" cy="1304497"/>
        </a:xfrm>
        <a:prstGeom prst="roundRect">
          <a:avLst>
            <a:gd name="adj" fmla="val 10000"/>
          </a:avLst>
        </a:prstGeom>
        <a:solidFill>
          <a:schemeClr val="lt1">
            <a:alpha val="90000"/>
            <a:hueOff val="0"/>
            <a:satOff val="0"/>
            <a:lumOff val="0"/>
            <a:alphaOff val="0"/>
          </a:schemeClr>
        </a:solidFill>
        <a:ln w="15875" cap="flat" cmpd="sng" algn="ctr">
          <a:solidFill>
            <a:srgbClr val="2683C6"/>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rPr>
            <a:t>Bayesian models + changepoint detection = quantitative discrimination</a:t>
          </a:r>
        </a:p>
      </dsp:txBody>
      <dsp:txXfrm>
        <a:off x="491290" y="3392551"/>
        <a:ext cx="1921722" cy="1228083"/>
      </dsp:txXfrm>
    </dsp:sp>
    <dsp:sp modelId="{7AA13CD0-801C-4852-942D-17987F468CBC}">
      <dsp:nvSpPr>
        <dsp:cNvPr id="0" name=""/>
        <dsp:cNvSpPr/>
      </dsp:nvSpPr>
      <dsp:spPr>
        <a:xfrm>
          <a:off x="2823132" y="1943601"/>
          <a:ext cx="2257189" cy="1128594"/>
        </a:xfrm>
        <a:prstGeom prst="roundRect">
          <a:avLst>
            <a:gd name="adj" fmla="val 10000"/>
          </a:avLst>
        </a:prstGeom>
        <a:solidFill>
          <a:srgbClr val="2683C6"/>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VELOCITY SHOWS CLEAR PATTERNS</a:t>
          </a:r>
        </a:p>
      </dsp:txBody>
      <dsp:txXfrm>
        <a:off x="2856187" y="1976656"/>
        <a:ext cx="2191079" cy="1062484"/>
      </dsp:txXfrm>
    </dsp:sp>
    <dsp:sp modelId="{82B66EDB-188F-4341-9892-FBA702EC2898}">
      <dsp:nvSpPr>
        <dsp:cNvPr id="0" name=""/>
        <dsp:cNvSpPr/>
      </dsp:nvSpPr>
      <dsp:spPr>
        <a:xfrm>
          <a:off x="3048850" y="3072196"/>
          <a:ext cx="225718" cy="934397"/>
        </a:xfrm>
        <a:custGeom>
          <a:avLst/>
          <a:gdLst/>
          <a:ahLst/>
          <a:cxnLst/>
          <a:rect l="0" t="0" r="0" b="0"/>
          <a:pathLst>
            <a:path>
              <a:moveTo>
                <a:pt x="0" y="0"/>
              </a:moveTo>
              <a:lnTo>
                <a:pt x="0" y="934397"/>
              </a:lnTo>
              <a:lnTo>
                <a:pt x="225718" y="934397"/>
              </a:lnTo>
            </a:path>
          </a:pathLst>
        </a:custGeom>
        <a:noFill/>
        <a:ln w="15875" cap="flat" cmpd="sng" algn="ctr">
          <a:solidFill>
            <a:srgbClr val="2683C6"/>
          </a:solidFill>
          <a:prstDash val="solid"/>
        </a:ln>
        <a:effectLst/>
      </dsp:spPr>
      <dsp:style>
        <a:lnRef idx="2">
          <a:scrgbClr r="0" g="0" b="0"/>
        </a:lnRef>
        <a:fillRef idx="0">
          <a:scrgbClr r="0" g="0" b="0"/>
        </a:fillRef>
        <a:effectRef idx="0">
          <a:scrgbClr r="0" g="0" b="0"/>
        </a:effectRef>
        <a:fontRef idx="minor"/>
      </dsp:style>
    </dsp:sp>
    <dsp:sp modelId="{35C67726-8763-4D7B-BC16-3B4BE3B74A83}">
      <dsp:nvSpPr>
        <dsp:cNvPr id="0" name=""/>
        <dsp:cNvSpPr/>
      </dsp:nvSpPr>
      <dsp:spPr>
        <a:xfrm>
          <a:off x="3274569" y="3354344"/>
          <a:ext cx="1998136" cy="1304497"/>
        </a:xfrm>
        <a:prstGeom prst="roundRect">
          <a:avLst>
            <a:gd name="adj" fmla="val 10000"/>
          </a:avLst>
        </a:prstGeom>
        <a:solidFill>
          <a:schemeClr val="lt1">
            <a:alpha val="90000"/>
            <a:hueOff val="0"/>
            <a:satOff val="0"/>
            <a:lumOff val="0"/>
            <a:alphaOff val="0"/>
          </a:schemeClr>
        </a:solidFill>
        <a:ln w="15875" cap="flat" cmpd="sng" algn="ctr">
          <a:solidFill>
            <a:srgbClr val="2683C6"/>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rPr>
            <a:t>Peak at mid 20’s, predictable decline, measurable TJ effects</a:t>
          </a:r>
        </a:p>
      </dsp:txBody>
      <dsp:txXfrm>
        <a:off x="3312776" y="3392551"/>
        <a:ext cx="1921722" cy="1228083"/>
      </dsp:txXfrm>
    </dsp:sp>
    <dsp:sp modelId="{D98E6341-61E7-495F-8C75-67B0DAF723F3}">
      <dsp:nvSpPr>
        <dsp:cNvPr id="0" name=""/>
        <dsp:cNvSpPr/>
      </dsp:nvSpPr>
      <dsp:spPr>
        <a:xfrm>
          <a:off x="5644618" y="1943601"/>
          <a:ext cx="2257189" cy="1128594"/>
        </a:xfrm>
        <a:prstGeom prst="roundRect">
          <a:avLst>
            <a:gd name="adj" fmla="val 10000"/>
          </a:avLst>
        </a:prstGeom>
        <a:solidFill>
          <a:srgbClr val="2683C6"/>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b="1" kern="1200" dirty="0"/>
            <a:t>ACTIONABLE FRAMEWORK</a:t>
          </a:r>
        </a:p>
      </dsp:txBody>
      <dsp:txXfrm>
        <a:off x="5677673" y="1976656"/>
        <a:ext cx="2191079" cy="1062484"/>
      </dsp:txXfrm>
    </dsp:sp>
    <dsp:sp modelId="{3FA8AB94-F715-45D3-95BF-0A27F89F62FD}">
      <dsp:nvSpPr>
        <dsp:cNvPr id="0" name=""/>
        <dsp:cNvSpPr/>
      </dsp:nvSpPr>
      <dsp:spPr>
        <a:xfrm>
          <a:off x="5870337" y="3072196"/>
          <a:ext cx="225718" cy="934397"/>
        </a:xfrm>
        <a:custGeom>
          <a:avLst/>
          <a:gdLst/>
          <a:ahLst/>
          <a:cxnLst/>
          <a:rect l="0" t="0" r="0" b="0"/>
          <a:pathLst>
            <a:path>
              <a:moveTo>
                <a:pt x="0" y="0"/>
              </a:moveTo>
              <a:lnTo>
                <a:pt x="0" y="934397"/>
              </a:lnTo>
              <a:lnTo>
                <a:pt x="225718" y="934397"/>
              </a:lnTo>
            </a:path>
          </a:pathLst>
        </a:custGeom>
        <a:noFill/>
        <a:ln w="15875" cap="flat" cmpd="sng" algn="ctr">
          <a:solidFill>
            <a:srgbClr val="2683C6"/>
          </a:solidFill>
          <a:prstDash val="solid"/>
        </a:ln>
        <a:effectLst/>
      </dsp:spPr>
      <dsp:style>
        <a:lnRef idx="2">
          <a:scrgbClr r="0" g="0" b="0"/>
        </a:lnRef>
        <a:fillRef idx="0">
          <a:scrgbClr r="0" g="0" b="0"/>
        </a:fillRef>
        <a:effectRef idx="0">
          <a:scrgbClr r="0" g="0" b="0"/>
        </a:effectRef>
        <a:fontRef idx="minor"/>
      </dsp:style>
    </dsp:sp>
    <dsp:sp modelId="{8AB4C5CE-3C67-4A77-BC1B-6188FBF54C47}">
      <dsp:nvSpPr>
        <dsp:cNvPr id="0" name=""/>
        <dsp:cNvSpPr/>
      </dsp:nvSpPr>
      <dsp:spPr>
        <a:xfrm>
          <a:off x="6096056" y="3354344"/>
          <a:ext cx="1998136" cy="1304497"/>
        </a:xfrm>
        <a:prstGeom prst="roundRect">
          <a:avLst>
            <a:gd name="adj" fmla="val 10000"/>
          </a:avLst>
        </a:prstGeom>
        <a:solidFill>
          <a:schemeClr val="lt1">
            <a:alpha val="90000"/>
            <a:hueOff val="0"/>
            <a:satOff val="0"/>
            <a:lumOff val="0"/>
            <a:alphaOff val="0"/>
          </a:schemeClr>
        </a:solidFill>
        <a:ln w="15875" cap="flat" cmpd="sng" algn="ctr">
          <a:solidFill>
            <a:srgbClr val="2683C6"/>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rPr>
            <a:t>Risk scores, projections, uncertainty quantification</a:t>
          </a:r>
        </a:p>
      </dsp:txBody>
      <dsp:txXfrm>
        <a:off x="6134263" y="3392551"/>
        <a:ext cx="1921722" cy="12280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14A3A9-E0B2-40E3-A458-FBB5C8649B8C}">
      <dsp:nvSpPr>
        <dsp:cNvPr id="0" name=""/>
        <dsp:cNvSpPr/>
      </dsp:nvSpPr>
      <dsp:spPr>
        <a:xfrm>
          <a:off x="2809" y="371818"/>
          <a:ext cx="1521221" cy="912733"/>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CONTRACT NEGOTIATIONS:</a:t>
          </a:r>
        </a:p>
      </dsp:txBody>
      <dsp:txXfrm>
        <a:off x="2809" y="371818"/>
        <a:ext cx="1521221" cy="912733"/>
      </dsp:txXfrm>
    </dsp:sp>
    <dsp:sp modelId="{D043A477-5BF9-4B84-B48F-D4BA8D030D42}">
      <dsp:nvSpPr>
        <dsp:cNvPr id="0" name=""/>
        <dsp:cNvSpPr/>
      </dsp:nvSpPr>
      <dsp:spPr>
        <a:xfrm>
          <a:off x="1676153" y="371818"/>
          <a:ext cx="1521221" cy="912733"/>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INJURY RECOVERY:</a:t>
          </a:r>
        </a:p>
      </dsp:txBody>
      <dsp:txXfrm>
        <a:off x="1676153" y="371818"/>
        <a:ext cx="1521221" cy="912733"/>
      </dsp:txXfrm>
    </dsp:sp>
    <dsp:sp modelId="{CDD7B6F8-6731-441D-BD32-6B24A4D503ED}">
      <dsp:nvSpPr>
        <dsp:cNvPr id="0" name=""/>
        <dsp:cNvSpPr/>
      </dsp:nvSpPr>
      <dsp:spPr>
        <a:xfrm>
          <a:off x="3349498" y="371818"/>
          <a:ext cx="1521221" cy="912733"/>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ROSTER MANAGEMENT:</a:t>
          </a:r>
        </a:p>
      </dsp:txBody>
      <dsp:txXfrm>
        <a:off x="3349498" y="371818"/>
        <a:ext cx="1521221" cy="912733"/>
      </dsp:txXfrm>
    </dsp:sp>
    <dsp:sp modelId="{1983F9CF-37BD-4B94-BB50-1D184DD3D656}">
      <dsp:nvSpPr>
        <dsp:cNvPr id="0" name=""/>
        <dsp:cNvSpPr/>
      </dsp:nvSpPr>
      <dsp:spPr>
        <a:xfrm>
          <a:off x="5022842" y="371818"/>
          <a:ext cx="1521221" cy="912733"/>
        </a:xfrm>
        <a:prstGeom prst="rect">
          <a:avLst/>
        </a:prstGeom>
        <a:solidFill>
          <a:schemeClr val="accent4">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TRADE</a:t>
          </a:r>
          <a:br>
            <a:rPr lang="en-US" sz="1600" b="1" kern="1200" dirty="0"/>
          </a:br>
          <a:r>
            <a:rPr lang="en-US" sz="1600" b="1" kern="1200" dirty="0"/>
            <a:t>TIMING:</a:t>
          </a:r>
        </a:p>
      </dsp:txBody>
      <dsp:txXfrm>
        <a:off x="5022842" y="371818"/>
        <a:ext cx="1521221" cy="912733"/>
      </dsp:txXfrm>
    </dsp:sp>
    <dsp:sp modelId="{9F932949-6B5B-4C1F-A0DB-98C55B5AAC16}">
      <dsp:nvSpPr>
        <dsp:cNvPr id="0" name=""/>
        <dsp:cNvSpPr/>
      </dsp:nvSpPr>
      <dsp:spPr>
        <a:xfrm>
          <a:off x="6696186" y="371818"/>
          <a:ext cx="1521221" cy="912733"/>
        </a:xfrm>
        <a:prstGeom prst="rect">
          <a:avLst/>
        </a:prstGeom>
        <a:solidFill>
          <a:schemeClr val="accent3">
            <a:lumMod val="50000"/>
          </a:schemeClr>
        </a:solidFill>
        <a:ln w="15875"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600" b="1" kern="1200" dirty="0"/>
            <a:t>EARLY-CAREER PROJECTIONS:</a:t>
          </a:r>
          <a:endParaRPr lang="en-US" sz="1600" b="1" kern="1200" dirty="0">
            <a:solidFill>
              <a:prstClr val="white"/>
            </a:solidFill>
            <a:latin typeface="Calibri" panose="020F0502020204030204"/>
            <a:ea typeface="+mn-ea"/>
            <a:cs typeface="+mn-cs"/>
          </a:endParaRPr>
        </a:p>
      </dsp:txBody>
      <dsp:txXfrm>
        <a:off x="6696186" y="371818"/>
        <a:ext cx="1521221" cy="912733"/>
      </dsp:txXfrm>
    </dsp:sp>
    <dsp:sp modelId="{E9E454BB-4DE7-410E-95A6-1E81C4B044B3}">
      <dsp:nvSpPr>
        <dsp:cNvPr id="0" name=""/>
        <dsp:cNvSpPr/>
      </dsp:nvSpPr>
      <dsp:spPr>
        <a:xfrm>
          <a:off x="2809" y="1436673"/>
          <a:ext cx="1521221" cy="912733"/>
        </a:xfrm>
        <a:prstGeom prst="rect">
          <a:avLst/>
        </a:prstGeom>
        <a:solidFill>
          <a:srgbClr val="2683C6">
            <a:hueOff val="0"/>
            <a:satOff val="0"/>
            <a:lumOff val="0"/>
            <a:alphaOff val="0"/>
          </a:srgbClr>
        </a:solidFill>
        <a:ln w="15875"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prstClr val="white"/>
              </a:solidFill>
              <a:latin typeface="Calibri" panose="020F0502020204030204"/>
              <a:ea typeface="+mn-ea"/>
              <a:cs typeface="+mn-cs"/>
            </a:rPr>
            <a:t>Objective risk assessment for free agents</a:t>
          </a:r>
        </a:p>
      </dsp:txBody>
      <dsp:txXfrm>
        <a:off x="2809" y="1436673"/>
        <a:ext cx="1521221" cy="912733"/>
      </dsp:txXfrm>
    </dsp:sp>
    <dsp:sp modelId="{F353F5F0-723B-439C-AB3F-37B9365923E7}">
      <dsp:nvSpPr>
        <dsp:cNvPr id="0" name=""/>
        <dsp:cNvSpPr/>
      </dsp:nvSpPr>
      <dsp:spPr>
        <a:xfrm>
          <a:off x="1676153" y="1436673"/>
          <a:ext cx="1521221" cy="912733"/>
        </a:xfrm>
        <a:prstGeom prst="rect">
          <a:avLst/>
        </a:prstGeom>
        <a:solidFill>
          <a:srgbClr val="28C4CC">
            <a:hueOff val="0"/>
            <a:satOff val="0"/>
            <a:lumOff val="0"/>
            <a:alphaOff val="0"/>
          </a:srgbClr>
        </a:solidFill>
        <a:ln w="15875"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577850">
            <a:lnSpc>
              <a:spcPct val="90000"/>
            </a:lnSpc>
            <a:spcBef>
              <a:spcPct val="0"/>
            </a:spcBef>
            <a:spcAft>
              <a:spcPct val="35000"/>
            </a:spcAft>
            <a:buNone/>
          </a:pPr>
          <a:r>
            <a:rPr lang="en-US" sz="1300" b="1" kern="1200" dirty="0"/>
            <a:t>Set realistic TJ recovery expectations</a:t>
          </a:r>
          <a:endParaRPr lang="en-US" sz="1300" b="1" kern="1200" dirty="0">
            <a:solidFill>
              <a:prstClr val="white"/>
            </a:solidFill>
            <a:latin typeface="Calibri" panose="020F0502020204030204"/>
            <a:ea typeface="+mn-ea"/>
            <a:cs typeface="+mn-cs"/>
          </a:endParaRPr>
        </a:p>
      </dsp:txBody>
      <dsp:txXfrm>
        <a:off x="1676153" y="1436673"/>
        <a:ext cx="1521221" cy="912733"/>
      </dsp:txXfrm>
    </dsp:sp>
    <dsp:sp modelId="{198591EA-B3F1-4692-8B6C-6905D7773C69}">
      <dsp:nvSpPr>
        <dsp:cNvPr id="0" name=""/>
        <dsp:cNvSpPr/>
      </dsp:nvSpPr>
      <dsp:spPr>
        <a:xfrm>
          <a:off x="3349498" y="1436673"/>
          <a:ext cx="1521221" cy="912733"/>
        </a:xfrm>
        <a:prstGeom prst="rect">
          <a:avLst/>
        </a:prstGeom>
        <a:solidFill>
          <a:srgbClr val="42BA97">
            <a:hueOff val="0"/>
            <a:satOff val="0"/>
            <a:lumOff val="0"/>
            <a:alphaOff val="0"/>
          </a:srgbClr>
        </a:solidFill>
        <a:ln w="15875"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prstClr val="white"/>
              </a:solidFill>
              <a:latin typeface="Calibri" panose="020F0502020204030204"/>
              <a:ea typeface="+mn-ea"/>
              <a:cs typeface="+mn-cs"/>
            </a:rPr>
            <a:t>Monitor entire pitching staff risk profiles</a:t>
          </a:r>
        </a:p>
      </dsp:txBody>
      <dsp:txXfrm>
        <a:off x="3349498" y="1436673"/>
        <a:ext cx="1521221" cy="912733"/>
      </dsp:txXfrm>
    </dsp:sp>
    <dsp:sp modelId="{F419DA2C-ACD0-47AD-B3EA-799782A9B816}">
      <dsp:nvSpPr>
        <dsp:cNvPr id="0" name=""/>
        <dsp:cNvSpPr/>
      </dsp:nvSpPr>
      <dsp:spPr>
        <a:xfrm>
          <a:off x="5022842" y="1436673"/>
          <a:ext cx="1521221" cy="912733"/>
        </a:xfrm>
        <a:prstGeom prst="rect">
          <a:avLst/>
        </a:prstGeom>
        <a:solidFill>
          <a:schemeClr val="accent4">
            <a:lumMod val="75000"/>
          </a:schemeClr>
        </a:solidFill>
        <a:ln w="15875"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Identify pitchers approaching high-risk </a:t>
          </a:r>
          <a:r>
            <a:rPr lang="en-US" sz="1300" b="1" kern="1200" dirty="0">
              <a:solidFill>
                <a:prstClr val="white"/>
              </a:solidFill>
              <a:latin typeface="Calibri" panose="020F0502020204030204"/>
              <a:ea typeface="+mn-ea"/>
              <a:cs typeface="+mn-cs"/>
            </a:rPr>
            <a:t>windows</a:t>
          </a:r>
        </a:p>
      </dsp:txBody>
      <dsp:txXfrm>
        <a:off x="5022842" y="1436673"/>
        <a:ext cx="1521221" cy="912733"/>
      </dsp:txXfrm>
    </dsp:sp>
    <dsp:sp modelId="{6D5C4A68-3B73-4EFD-B854-63B3E7E9DEBE}">
      <dsp:nvSpPr>
        <dsp:cNvPr id="0" name=""/>
        <dsp:cNvSpPr/>
      </dsp:nvSpPr>
      <dsp:spPr>
        <a:xfrm>
          <a:off x="6696186" y="1436673"/>
          <a:ext cx="1521221" cy="912733"/>
        </a:xfrm>
        <a:prstGeom prst="rect">
          <a:avLst/>
        </a:prstGeom>
        <a:solidFill>
          <a:schemeClr val="accent3">
            <a:lumMod val="50000"/>
          </a:schemeClr>
        </a:solidFill>
        <a:ln w="15875"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Optimize workload during peak years</a:t>
          </a:r>
          <a:endParaRPr lang="en-US" sz="1300" b="1" kern="1200" dirty="0">
            <a:solidFill>
              <a:prstClr val="white"/>
            </a:solidFill>
            <a:latin typeface="Calibri" panose="020F0502020204030204"/>
            <a:ea typeface="+mn-ea"/>
            <a:cs typeface="+mn-cs"/>
          </a:endParaRPr>
        </a:p>
      </dsp:txBody>
      <dsp:txXfrm>
        <a:off x="6696186" y="1436673"/>
        <a:ext cx="1521221" cy="912733"/>
      </dsp:txXfrm>
    </dsp:sp>
    <dsp:sp modelId="{B40E4BCF-73BD-4A89-9533-10E52734F8CE}">
      <dsp:nvSpPr>
        <dsp:cNvPr id="0" name=""/>
        <dsp:cNvSpPr/>
      </dsp:nvSpPr>
      <dsp:spPr>
        <a:xfrm>
          <a:off x="2809" y="2501528"/>
          <a:ext cx="1521221" cy="912733"/>
        </a:xfrm>
        <a:prstGeom prst="rect">
          <a:avLst/>
        </a:prstGeom>
        <a:solidFill>
          <a:srgbClr val="2683C6">
            <a:hueOff val="0"/>
            <a:satOff val="0"/>
            <a:lumOff val="0"/>
            <a:alphaOff val="0"/>
          </a:srgbClr>
        </a:solidFill>
        <a:ln w="15875"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prstClr val="white"/>
              </a:solidFill>
              <a:latin typeface="Calibri" panose="020F0502020204030204"/>
              <a:ea typeface="+mn-ea"/>
              <a:cs typeface="+mn-cs"/>
            </a:rPr>
            <a:t>Project velocity through contract years with uncertainty</a:t>
          </a:r>
        </a:p>
      </dsp:txBody>
      <dsp:txXfrm>
        <a:off x="2809" y="2501528"/>
        <a:ext cx="1521221" cy="912733"/>
      </dsp:txXfrm>
    </dsp:sp>
    <dsp:sp modelId="{06EC70FB-D84C-42E0-B775-B6769656A983}">
      <dsp:nvSpPr>
        <dsp:cNvPr id="0" name=""/>
        <dsp:cNvSpPr/>
      </dsp:nvSpPr>
      <dsp:spPr>
        <a:xfrm>
          <a:off x="1676153" y="2501528"/>
          <a:ext cx="1521221" cy="912733"/>
        </a:xfrm>
        <a:prstGeom prst="rect">
          <a:avLst/>
        </a:prstGeom>
        <a:solidFill>
          <a:srgbClr val="28C4CC">
            <a:hueOff val="0"/>
            <a:satOff val="0"/>
            <a:lumOff val="0"/>
            <a:alphaOff val="0"/>
          </a:srgbClr>
        </a:solidFill>
        <a:ln w="15875"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577850">
            <a:lnSpc>
              <a:spcPct val="90000"/>
            </a:lnSpc>
            <a:spcBef>
              <a:spcPct val="0"/>
            </a:spcBef>
            <a:spcAft>
              <a:spcPct val="35000"/>
            </a:spcAft>
            <a:buNone/>
          </a:pPr>
          <a:r>
            <a:rPr lang="en-US" sz="1300" b="1" kern="1200" dirty="0"/>
            <a:t>Identify problematic recoveries early</a:t>
          </a:r>
          <a:endParaRPr lang="en-US" sz="1300" b="1" kern="1200" dirty="0">
            <a:solidFill>
              <a:prstClr val="white"/>
            </a:solidFill>
            <a:latin typeface="Calibri" panose="020F0502020204030204"/>
            <a:ea typeface="+mn-ea"/>
            <a:cs typeface="+mn-cs"/>
          </a:endParaRPr>
        </a:p>
      </dsp:txBody>
      <dsp:txXfrm>
        <a:off x="1676153" y="2501528"/>
        <a:ext cx="1521221" cy="912733"/>
      </dsp:txXfrm>
    </dsp:sp>
    <dsp:sp modelId="{080D0416-85E6-49C7-A7DE-A86376715FED}">
      <dsp:nvSpPr>
        <dsp:cNvPr id="0" name=""/>
        <dsp:cNvSpPr/>
      </dsp:nvSpPr>
      <dsp:spPr>
        <a:xfrm>
          <a:off x="3349498" y="2501528"/>
          <a:ext cx="1521221" cy="912733"/>
        </a:xfrm>
        <a:prstGeom prst="rect">
          <a:avLst/>
        </a:prstGeom>
        <a:solidFill>
          <a:srgbClr val="42BA97">
            <a:hueOff val="0"/>
            <a:satOff val="0"/>
            <a:lumOff val="0"/>
            <a:alphaOff val="0"/>
          </a:srgbClr>
        </a:solidFill>
        <a:ln w="15875"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prstClr val="white"/>
              </a:solidFill>
              <a:latin typeface="Calibri" panose="020F0502020204030204"/>
              <a:ea typeface="+mn-ea"/>
              <a:cs typeface="+mn-cs"/>
            </a:rPr>
            <a:t>Inform demotion/DFA decisions objectively</a:t>
          </a:r>
        </a:p>
      </dsp:txBody>
      <dsp:txXfrm>
        <a:off x="3349498" y="2501528"/>
        <a:ext cx="1521221" cy="912733"/>
      </dsp:txXfrm>
    </dsp:sp>
    <dsp:sp modelId="{68D4638A-1197-4901-8B1C-A79FAB191DF1}">
      <dsp:nvSpPr>
        <dsp:cNvPr id="0" name=""/>
        <dsp:cNvSpPr/>
      </dsp:nvSpPr>
      <dsp:spPr>
        <a:xfrm>
          <a:off x="5022842" y="2501528"/>
          <a:ext cx="1521221" cy="912733"/>
        </a:xfrm>
        <a:prstGeom prst="rect">
          <a:avLst/>
        </a:prstGeom>
        <a:solidFill>
          <a:schemeClr val="accent4">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solidFill>
                <a:prstClr val="white"/>
              </a:solidFill>
              <a:latin typeface="Calibri" panose="020F0502020204030204"/>
              <a:ea typeface="+mn-ea"/>
              <a:cs typeface="+mn-cs"/>
            </a:rPr>
            <a:t>Maximize return before market recognizes decline</a:t>
          </a:r>
        </a:p>
      </dsp:txBody>
      <dsp:txXfrm>
        <a:off x="5022842" y="2501528"/>
        <a:ext cx="1521221" cy="912733"/>
      </dsp:txXfrm>
    </dsp:sp>
    <dsp:sp modelId="{21568DE2-0EDC-4489-A268-081464685C1D}">
      <dsp:nvSpPr>
        <dsp:cNvPr id="0" name=""/>
        <dsp:cNvSpPr/>
      </dsp:nvSpPr>
      <dsp:spPr>
        <a:xfrm>
          <a:off x="6696186" y="2501528"/>
          <a:ext cx="1521221" cy="912733"/>
        </a:xfrm>
        <a:prstGeom prst="rect">
          <a:avLst/>
        </a:prstGeom>
        <a:solidFill>
          <a:srgbClr val="28C4CC">
            <a:lumMod val="50000"/>
          </a:srgbClr>
        </a:solidFill>
        <a:ln w="15875"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200" b="1" kern="1200" dirty="0">
              <a:solidFill>
                <a:prstClr val="white"/>
              </a:solidFill>
              <a:latin typeface="Calibri" panose="020F0502020204030204"/>
              <a:ea typeface="+mn-ea"/>
              <a:cs typeface="+mn-cs"/>
            </a:rPr>
            <a:t>Support development and identify pitcher-specific decline onset timing</a:t>
          </a:r>
        </a:p>
      </dsp:txBody>
      <dsp:txXfrm>
        <a:off x="6696186" y="2501528"/>
        <a:ext cx="1521221" cy="912733"/>
      </dsp:txXfrm>
    </dsp:sp>
  </dsp:spTree>
</dsp:drawing>
</file>

<file path=ppt/diagrams/layout1.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054BB6C8-6D8C-466F-AEFE-751D45CF511D}" type="datetimeFigureOut">
              <a:rPr lang="en-US" smtClean="0"/>
              <a:t>8/24/2026</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9AB546D9-F734-4EEA-8BFB-7B6A38932749}" type="slidenum">
              <a:rPr lang="en-US" smtClean="0"/>
              <a:t>‹#›</a:t>
            </a:fld>
            <a:endParaRPr lang="en-US"/>
          </a:p>
        </p:txBody>
      </p:sp>
    </p:spTree>
    <p:extLst>
      <p:ext uri="{BB962C8B-B14F-4D97-AF65-F5344CB8AC3E}">
        <p14:creationId xmlns:p14="http://schemas.microsoft.com/office/powerpoint/2010/main" val="2413435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Good morning everyone. My name is Nickolas Bartle, and I'm a graduate baseball analyst at Wake Forest University. </a:t>
            </a:r>
            <a:br>
              <a:rPr lang="en-US" dirty="0"/>
            </a:br>
            <a:br>
              <a:rPr lang="en-US" dirty="0"/>
            </a:br>
            <a:r>
              <a:rPr lang="en-US" dirty="0"/>
              <a:t>Today I'm excited to share research that tackles one of baseball's most persistent evaluation challenges: when we see a pitcher's velocity declining, how do we know whether we're looking at natural aging or injury-related deterioration? This distinction matters enormously for contract negotiations, roster decisions, and long-term player development.</a:t>
            </a:r>
            <a:br>
              <a:rPr lang="en-US" dirty="0"/>
            </a:br>
            <a:endParaRPr lang="en-US" dirty="0"/>
          </a:p>
          <a:p>
            <a:r>
              <a:rPr lang="en-US" dirty="0"/>
              <a:t>Over the next 15 minutes, I'll walk you through a Bayesian framework that quantitatively separates these effects, show you real-world case studies, and discuss practical applications for front offices and player evaluation teams.</a:t>
            </a:r>
          </a:p>
          <a:p>
            <a:endParaRPr lang="en-US" dirty="0"/>
          </a:p>
          <a:p>
            <a:endParaRPr lang="en-US" dirty="0"/>
          </a:p>
          <a:p>
            <a:r>
              <a:rPr lang="en-US" b="1" u="sng" dirty="0">
                <a:solidFill>
                  <a:srgbClr val="FF0000"/>
                </a:solidFill>
                <a:effectLst>
                  <a:outerShdw blurRad="38100" dist="38100" dir="2700000" algn="tl">
                    <a:srgbClr val="000000">
                      <a:alpha val="43137"/>
                    </a:srgbClr>
                  </a:outerShdw>
                </a:effectLst>
              </a:rPr>
              <a:t>Show of hand here, who’s favorite player has had tommy john surgery, and was curious how they were going to perform the next season?</a:t>
            </a:r>
            <a:br>
              <a:rPr lang="en-US" dirty="0"/>
            </a:br>
            <a:br>
              <a:rPr lang="en-US" dirty="0"/>
            </a:br>
            <a:r>
              <a:rPr lang="en-US" dirty="0"/>
              <a:t>Transition - Let me start by framing the problem more concretely:</a:t>
            </a:r>
          </a:p>
          <a:p>
            <a:endParaRPr lang="en-US" dirty="0"/>
          </a:p>
        </p:txBody>
      </p:sp>
      <p:sp>
        <p:nvSpPr>
          <p:cNvPr id="4" name="Slide Number Placeholder 3"/>
          <p:cNvSpPr>
            <a:spLocks noGrp="1"/>
          </p:cNvSpPr>
          <p:nvPr>
            <p:ph type="sldNum" sz="quarter" idx="5"/>
          </p:nvPr>
        </p:nvSpPr>
        <p:spPr/>
        <p:txBody>
          <a:bodyPr/>
          <a:lstStyle/>
          <a:p>
            <a:fld id="{9AB546D9-F734-4EEA-8BFB-7B6A38932749}" type="slidenum">
              <a:rPr lang="en-US" smtClean="0"/>
              <a:t>1</a:t>
            </a:fld>
            <a:endParaRPr lang="en-US"/>
          </a:p>
        </p:txBody>
      </p:sp>
    </p:spTree>
    <p:extLst>
      <p:ext uri="{BB962C8B-B14F-4D97-AF65-F5344CB8AC3E}">
        <p14:creationId xmlns:p14="http://schemas.microsoft.com/office/powerpoint/2010/main" val="4193838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Talk about myself. I’m a yapper. No Biggie.</a:t>
            </a:r>
          </a:p>
        </p:txBody>
      </p:sp>
      <p:sp>
        <p:nvSpPr>
          <p:cNvPr id="4" name="Slide Number Placeholder 3"/>
          <p:cNvSpPr>
            <a:spLocks noGrp="1"/>
          </p:cNvSpPr>
          <p:nvPr>
            <p:ph type="sldNum" sz="quarter" idx="5"/>
          </p:nvPr>
        </p:nvSpPr>
        <p:spPr/>
        <p:txBody>
          <a:bodyPr/>
          <a:lstStyle/>
          <a:p>
            <a:fld id="{9AB546D9-F734-4EEA-8BFB-7B6A38932749}" type="slidenum">
              <a:rPr lang="en-US" smtClean="0"/>
              <a:t>2</a:t>
            </a:fld>
            <a:endParaRPr lang="en-US"/>
          </a:p>
        </p:txBody>
      </p:sp>
    </p:spTree>
    <p:extLst>
      <p:ext uri="{BB962C8B-B14F-4D97-AF65-F5344CB8AC3E}">
        <p14:creationId xmlns:p14="http://schemas.microsoft.com/office/powerpoint/2010/main" val="1154536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Our primary research question is: Can we quantitatively separate natural aging effects from injury-related decline in pitcher velocity?</a:t>
            </a:r>
          </a:p>
          <a:p>
            <a:endParaRPr lang="en-US" dirty="0"/>
          </a:p>
          <a:p>
            <a:r>
              <a:rPr lang="en-US" dirty="0"/>
              <a:t>To answer this comprehensively, I broke it into a few targeted supporting questions:</a:t>
            </a:r>
          </a:p>
          <a:p>
            <a:endParaRPr lang="en-US" dirty="0"/>
          </a:p>
          <a:p>
            <a:r>
              <a:rPr lang="en-US" dirty="0"/>
              <a:t>First, what is the population-level aging pattern? We need a baseline to know what 'normal' looks like (within the dataset I’m using)</a:t>
            </a:r>
          </a:p>
          <a:p>
            <a:r>
              <a:rPr lang="en-US" dirty="0"/>
              <a:t>Second, what is the specific measurable impact of Tommy John surgery? Not just 'does it hurt velocity' but by how much, and does recovery follow a predictable trajectory?</a:t>
            </a:r>
          </a:p>
          <a:p>
            <a:r>
              <a:rPr lang="en-US" dirty="0"/>
              <a:t>Third, can we identify when individual pitchers deviate from their expected aging curve? If someone is declining faster than the population average, we want to flag that as early as possible.</a:t>
            </a:r>
          </a:p>
          <a:p>
            <a:r>
              <a:rPr lang="en-US" dirty="0"/>
              <a:t>These questions require different statistical approaches, which is why we developed a three-part methodology."</a:t>
            </a:r>
          </a:p>
          <a:p>
            <a:endParaRPr lang="en-US" dirty="0"/>
          </a:p>
          <a:p>
            <a:r>
              <a:rPr lang="en-US" dirty="0"/>
              <a:t>Notice we're asking for quantitative answers, not just 'does TJ hurt velocity' but '</a:t>
            </a:r>
            <a:r>
              <a:rPr lang="en-US" i="1" dirty="0"/>
              <a:t>how much</a:t>
            </a:r>
            <a:r>
              <a:rPr lang="en-US" dirty="0"/>
              <a:t> does it hurt velocity' with proper uncertainty quantification. More on this later!</a:t>
            </a:r>
          </a:p>
          <a:p>
            <a:endParaRPr lang="en-US" b="1" dirty="0"/>
          </a:p>
          <a:p>
            <a:endParaRPr lang="en-US" b="1" dirty="0"/>
          </a:p>
          <a:p>
            <a:r>
              <a:rPr lang="en-US" b="0" dirty="0"/>
              <a:t>Transition: </a:t>
            </a:r>
            <a:r>
              <a:rPr lang="en-US" dirty="0"/>
              <a:t>Here's how we approached this methodologically...</a:t>
            </a:r>
          </a:p>
          <a:p>
            <a:endParaRPr lang="en-US" dirty="0"/>
          </a:p>
          <a:p>
            <a:endParaRPr lang="en-US" dirty="0"/>
          </a:p>
          <a:p>
            <a:endParaRPr lang="en-US" dirty="0"/>
          </a:p>
          <a:p>
            <a:r>
              <a:rPr lang="en-US" dirty="0"/>
              <a:t>Possible Audience Question(s): (Personal Note)</a:t>
            </a:r>
          </a:p>
          <a:p>
            <a:endParaRPr lang="en-US" dirty="0"/>
          </a:p>
          <a:p>
            <a:r>
              <a:rPr lang="en-US" dirty="0"/>
              <a:t>Why focus on velocity specifically?</a:t>
            </a:r>
          </a:p>
          <a:p>
            <a:r>
              <a:rPr lang="en-US" dirty="0"/>
              <a:t>- Velocity is the most objectively measurable metric, least subject to ballpark effects or defensive variation, and shows the clearest aging patterns in our preliminary analysis. It is also often the most used analysis in injury analysis and modeling pitcher aging curves in research. We tested command and movement as well, which I'll discuss shortly.</a:t>
            </a:r>
          </a:p>
        </p:txBody>
      </p:sp>
      <p:sp>
        <p:nvSpPr>
          <p:cNvPr id="4" name="Slide Number Placeholder 3"/>
          <p:cNvSpPr>
            <a:spLocks noGrp="1"/>
          </p:cNvSpPr>
          <p:nvPr>
            <p:ph type="sldNum" sz="quarter" idx="5"/>
          </p:nvPr>
        </p:nvSpPr>
        <p:spPr/>
        <p:txBody>
          <a:bodyPr/>
          <a:lstStyle/>
          <a:p>
            <a:fld id="{9AB546D9-F734-4EEA-8BFB-7B6A38932749}" type="slidenum">
              <a:rPr lang="en-US" smtClean="0"/>
              <a:t>3</a:t>
            </a:fld>
            <a:endParaRPr lang="en-US"/>
          </a:p>
        </p:txBody>
      </p:sp>
    </p:spTree>
    <p:extLst>
      <p:ext uri="{BB962C8B-B14F-4D97-AF65-F5344CB8AC3E}">
        <p14:creationId xmlns:p14="http://schemas.microsoft.com/office/powerpoint/2010/main" val="314566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data comes from MLB Statcast via Baseball Savant, covering 2015 through 2025: exactly 11 seasons. I chose 2015 as my starting point because that's when Statcast measurement became consistent and reliable across all ballparks.</a:t>
            </a:r>
          </a:p>
          <a:p>
            <a:endParaRPr lang="en-US" dirty="0"/>
          </a:p>
          <a:p>
            <a:r>
              <a:rPr lang="en-US" dirty="0"/>
              <a:t>I focused on four metrics initially: average four-seam fastball velocity, walk rate as a proxy for command, horizontal break, and induced vertical break for pitch movement. This gave me over 1,900 unique pitchers and more than 6,500 pitcher-season observations. That's substantial statistical power for population-level estimates.</a:t>
            </a:r>
          </a:p>
          <a:p>
            <a:endParaRPr lang="en-US" dirty="0"/>
          </a:p>
          <a:p>
            <a:r>
              <a:rPr lang="en-US" dirty="0"/>
              <a:t>For Tommy John data, I used Jon </a:t>
            </a:r>
            <a:r>
              <a:rPr lang="en-US" dirty="0" err="1"/>
              <a:t>Roegele's</a:t>
            </a:r>
            <a:r>
              <a:rPr lang="en-US" dirty="0"/>
              <a:t> comprehensive surgical database, which tracks not just whether surgery occurred but the specific date (I recommend checking it out for yourself, there’s a ton of other amazing data and information in it!). This is crucial because it lets us calculate precise recovery timelines. In my sample, 381 pitchers, roughly 35% , had at least one Tommy John surgery, with 30 pitchers experiencing multiple TJ surgeries. That 35% rate might seem high, but remember this is MLB pitchers only, and TJ rates have been climbing throughout this period. This sample size is substantial for population-level estimates and aligns with the scale of published aging curve research (e.g., Bradbury 2009; Fair 2008).</a:t>
            </a:r>
          </a:p>
          <a:p>
            <a:endParaRPr lang="en-US" dirty="0"/>
          </a:p>
          <a:p>
            <a:endParaRPr lang="en-US" dirty="0"/>
          </a:p>
          <a:p>
            <a:r>
              <a:rPr lang="en-US" b="0" dirty="0"/>
              <a:t>Transition: </a:t>
            </a:r>
            <a:r>
              <a:rPr lang="en-US" dirty="0"/>
              <a:t>Now, we initially hypothesized that decline would manifest across multiple dimensions...</a:t>
            </a:r>
          </a:p>
          <a:p>
            <a:endParaRPr lang="en-US" dirty="0"/>
          </a:p>
        </p:txBody>
      </p:sp>
      <p:sp>
        <p:nvSpPr>
          <p:cNvPr id="4" name="Slide Number Placeholder 3"/>
          <p:cNvSpPr>
            <a:spLocks noGrp="1"/>
          </p:cNvSpPr>
          <p:nvPr>
            <p:ph type="sldNum" sz="quarter" idx="5"/>
          </p:nvPr>
        </p:nvSpPr>
        <p:spPr/>
        <p:txBody>
          <a:bodyPr/>
          <a:lstStyle/>
          <a:p>
            <a:fld id="{9AB546D9-F734-4EEA-8BFB-7B6A38932749}" type="slidenum">
              <a:rPr lang="en-US" smtClean="0"/>
              <a:t>4</a:t>
            </a:fld>
            <a:endParaRPr lang="en-US"/>
          </a:p>
        </p:txBody>
      </p:sp>
    </p:spTree>
    <p:extLst>
      <p:ext uri="{BB962C8B-B14F-4D97-AF65-F5344CB8AC3E}">
        <p14:creationId xmlns:p14="http://schemas.microsoft.com/office/powerpoint/2010/main" val="3991014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91B5A-3B97-0CDF-FC55-BF659B06F0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7853C-494B-2237-1BE9-674162A99EC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B609A3-3937-98A0-DC8C-D754A47B69DD}"/>
              </a:ext>
            </a:extLst>
          </p:cNvPr>
          <p:cNvSpPr>
            <a:spLocks noGrp="1"/>
          </p:cNvSpPr>
          <p:nvPr>
            <p:ph type="body" idx="1"/>
          </p:nvPr>
        </p:nvSpPr>
        <p:spPr/>
        <p:txBody>
          <a:bodyPr/>
          <a:lstStyle/>
          <a:p>
            <a:r>
              <a:rPr lang="en-US" dirty="0"/>
              <a:t>I used three complementary statistical methods, each designed for a specific aspect of the problem.</a:t>
            </a:r>
          </a:p>
          <a:p>
            <a:endParaRPr lang="en-US" dirty="0"/>
          </a:p>
          <a:p>
            <a:r>
              <a:rPr lang="en-US" dirty="0"/>
              <a:t>First, a Bayesian hierarchical model. This estimates population-level aging effects while respecting individual variation. The key advantage of the Bayesian approach is that it gives me full posterior distributions, meaning we can quantify uncertainty properly rather than just getting point estimates. I used MCMC sampling via stan_glmer in R, which handles the hierarchical structure and gives us 95% credible intervals for all our predictions.</a:t>
            </a:r>
          </a:p>
          <a:p>
            <a:endParaRPr lang="en-US" dirty="0"/>
          </a:p>
          <a:p>
            <a:r>
              <a:rPr lang="en-US" dirty="0"/>
              <a:t>Second, changepoint detection using the PELT algorithm; that's Pruned Exact Linear Time. This is an automated method that identifies when an individual pitcher's trajectory suddenly shifts. Rather than assuming decline happens gradually, we let the data tell us when structural breaks occur. The PELT algorithm is particularly good because it penalizes complexity, so we don't overfit by detecting false changepoints. In the future I’d like to move to </a:t>
            </a:r>
            <a:r>
              <a:rPr lang="en-US" dirty="0" err="1"/>
              <a:t>bcp</a:t>
            </a:r>
            <a:r>
              <a:rPr lang="en-US" dirty="0"/>
              <a:t>- however at the moment I needed to weigh the effects of computing power.</a:t>
            </a:r>
            <a:br>
              <a:rPr lang="en-US" dirty="0"/>
            </a:br>
            <a:br>
              <a:rPr lang="en-US" dirty="0"/>
            </a:br>
            <a:r>
              <a:rPr lang="en-US" dirty="0"/>
              <a:t>Third, a comprehensive risk assessment framework that integrates six independent factors: the player's current age, current velocity, velocity decline rate, whether they've hit a statistical changepoint, their injury history, and how long it's been since their most recent Tommy John surgery. We combine these into a continuous risk score from 0 to 1, as well as classify them contextually later on.</a:t>
            </a:r>
          </a:p>
          <a:p>
            <a:endParaRPr lang="en-US" dirty="0"/>
          </a:p>
          <a:p>
            <a:r>
              <a:rPr lang="en-US" dirty="0"/>
              <a:t>The output is player-specific projections with full uncertainty quantification, so instead of saying 'this pitcher will throw 93 mph next year,' we say 'we're 95% confident they'll be between 91 and 95 mph, with a median projection of 93.'</a:t>
            </a:r>
          </a:p>
          <a:p>
            <a:r>
              <a:rPr lang="en-US" dirty="0"/>
              <a:t>This three-part approach gives us both population insights and individual-level precision.“</a:t>
            </a:r>
          </a:p>
          <a:p>
            <a:endParaRPr lang="en-US" dirty="0"/>
          </a:p>
          <a:p>
            <a:r>
              <a:rPr lang="en-US" dirty="0"/>
              <a:t>Possible Audience Question(s): (Personal Note)</a:t>
            </a:r>
          </a:p>
          <a:p>
            <a:endParaRPr lang="en-US" dirty="0"/>
          </a:p>
          <a:p>
            <a:r>
              <a:rPr lang="en-US" dirty="0"/>
              <a:t>Why Bayesian instead of frequentist?</a:t>
            </a:r>
          </a:p>
          <a:p>
            <a:r>
              <a:rPr lang="en-US" dirty="0"/>
              <a:t>-Two main reasons: first, hierarchical modeling naturally handles partial pooling across pitchers, which improves estimates for players with limited data. Second, we wanted full posterior distributions for uncertainty quantification, not just point estimates with standard errors.</a:t>
            </a:r>
          </a:p>
          <a:p>
            <a:endParaRPr lang="en-US" dirty="0"/>
          </a:p>
          <a:p>
            <a:endParaRPr lang="en-US" dirty="0"/>
          </a:p>
          <a:p>
            <a:r>
              <a:rPr lang="en-US" b="0" dirty="0"/>
              <a:t>Transition: </a:t>
            </a:r>
            <a:r>
              <a:rPr lang="en-US" dirty="0"/>
              <a:t>Let me show you what data we used...</a:t>
            </a:r>
          </a:p>
        </p:txBody>
      </p:sp>
      <p:sp>
        <p:nvSpPr>
          <p:cNvPr id="4" name="Slide Number Placeholder 3">
            <a:extLst>
              <a:ext uri="{FF2B5EF4-FFF2-40B4-BE49-F238E27FC236}">
                <a16:creationId xmlns:a16="http://schemas.microsoft.com/office/drawing/2014/main" id="{7B2F7EED-C3E5-B158-DDAE-C403417CB0B0}"/>
              </a:ext>
            </a:extLst>
          </p:cNvPr>
          <p:cNvSpPr>
            <a:spLocks noGrp="1"/>
          </p:cNvSpPr>
          <p:nvPr>
            <p:ph type="sldNum" sz="quarter" idx="5"/>
          </p:nvPr>
        </p:nvSpPr>
        <p:spPr/>
        <p:txBody>
          <a:bodyPr/>
          <a:lstStyle/>
          <a:p>
            <a:fld id="{9AB546D9-F734-4EEA-8BFB-7B6A38932749}" type="slidenum">
              <a:rPr lang="en-US" smtClean="0"/>
              <a:t>5</a:t>
            </a:fld>
            <a:endParaRPr lang="en-US"/>
          </a:p>
        </p:txBody>
      </p:sp>
    </p:spTree>
    <p:extLst>
      <p:ext uri="{BB962C8B-B14F-4D97-AF65-F5344CB8AC3E}">
        <p14:creationId xmlns:p14="http://schemas.microsoft.com/office/powerpoint/2010/main" val="1504920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7AF52-CCD9-1502-6FF0-50DCDD674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3C2149-6E5F-DBFE-99B6-0ADE4A4CE3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11BDA42-9452-7AB6-8825-23C47B774BAE}"/>
              </a:ext>
            </a:extLst>
          </p:cNvPr>
          <p:cNvSpPr>
            <a:spLocks noGrp="1"/>
          </p:cNvSpPr>
          <p:nvPr>
            <p:ph type="body" sz="quarter" idx="3"/>
          </p:nvPr>
        </p:nvSpPr>
        <p:spPr/>
        <p:txBody>
          <a:bodyPr/>
          <a:lstStyle/>
          <a:p>
            <a:r>
              <a:t>Quick detour into the machinery, then straight back to baseball.</a:t>
            </a:r>
          </a:p>
          <a:p>
            <a:endParaRPr/>
          </a:p>
          <a:p>
            <a:r>
              <a:t>Read the equation left to right. Every pitcher gets his own baseline, because comparing a 97 mph arm to a 90 mph arm on the same scale tells you nothing. The hierarchical structure also means a pitcher with two seasons gets pulled toward the league average, while a pitcher with ten seasons is trusted on his own record. I do not have to hand-pick a minimum innings cutoff, the model handles the weighting.</a:t>
            </a:r>
          </a:p>
          <a:p>
            <a:endParaRPr/>
          </a:p>
          <a:p>
            <a:r>
              <a:t>The squared age term is what makes it a curve instead of a straight line. Velocity climbs into the mid-20s, sits flat through the prime years, and drops off faster later. One shape, estimated across every pitcher at once.</a:t>
            </a:r>
          </a:p>
          <a:p>
            <a:endParaRPr/>
          </a:p>
          <a:p>
            <a:r>
              <a:t>Tommy John enters twice on purpose. One term asks whether it ever happened, the other asks how long ago. Splitting it lets the model separate the immediate cost of surgery from how much velocity comes back over the following seasons.</a:t>
            </a:r>
          </a:p>
          <a:p>
            <a:endParaRPr/>
          </a:p>
          <a:p>
            <a:r>
              <a:t>The reason for going Bayesian rather than a standard mixed model: every one of these terms comes back as a full distribution, not a single number. That is what lets me put honest intervals on the projections later instead of pretending I know a pitcher will throw 93.4 mph in 2029.</a:t>
            </a:r>
          </a:p>
          <a:p>
            <a:endParaRPr/>
          </a:p>
          <a:p>
            <a:r>
              <a:t>Likely question: why not more predictors, like workload or pitch mix? Answer: they matter, and they are on my future work slide. I wanted the aging and injury terms interpretable first.</a:t>
            </a:r>
          </a:p>
        </p:txBody>
      </p:sp>
      <p:sp>
        <p:nvSpPr>
          <p:cNvPr id="4" name="Slide Number Placeholder 3">
            <a:extLst>
              <a:ext uri="{FF2B5EF4-FFF2-40B4-BE49-F238E27FC236}">
                <a16:creationId xmlns:a16="http://schemas.microsoft.com/office/drawing/2014/main" id="{162CE4D7-FA5D-7B87-5905-3ABC4930283C}"/>
              </a:ext>
            </a:extLst>
          </p:cNvPr>
          <p:cNvSpPr>
            <a:spLocks noGrp="1"/>
          </p:cNvSpPr>
          <p:nvPr>
            <p:ph type="sldNum" sz="quarter" idx="5"/>
          </p:nvPr>
        </p:nvSpPr>
        <p:spPr/>
      </p:sp>
    </p:spTree>
    <p:extLst>
      <p:ext uri="{BB962C8B-B14F-4D97-AF65-F5344CB8AC3E}">
        <p14:creationId xmlns:p14="http://schemas.microsoft.com/office/powerpoint/2010/main" val="1638289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population-level aging curve for MLB pitchers with 95% credible intervals at the 2.5 and 97.5 percentiles. This represents over 5,700 pitcher-season observations.</a:t>
            </a:r>
          </a:p>
          <a:p>
            <a:endParaRPr lang="en-US" dirty="0"/>
          </a:p>
          <a:p>
            <a:r>
              <a:rPr lang="en-US" dirty="0"/>
              <a:t>The pattern is striking and matches baseball intuition. Pitchers are still developing through their early 20s then decline gradually but consistently after that. By the mid-30s, the decline accelerates.</a:t>
            </a:r>
          </a:p>
          <a:p>
            <a:r>
              <a:rPr lang="en-US" dirty="0"/>
              <a:t>What's noteworthy here is the confidence bands, they're relatively tight through the prime years because we have lots of data but widen after age 35 because we have fewer pitchers pitching that long, and the ones who do are a selected sample of especially durable athletes.</a:t>
            </a:r>
          </a:p>
          <a:p>
            <a:endParaRPr lang="en-US" dirty="0"/>
          </a:p>
          <a:p>
            <a:r>
              <a:rPr lang="en-US" dirty="0"/>
              <a:t>This curve serves as our baseline. When we see an individual pitcher deviating from this expected trajectory, that's when we start asking whether something beyond normal aging is happening.</a:t>
            </a:r>
          </a:p>
          <a:p>
            <a:endParaRPr lang="en-US" b="1" dirty="0"/>
          </a:p>
          <a:p>
            <a:endParaRPr lang="en-US" b="1" dirty="0"/>
          </a:p>
          <a:p>
            <a:r>
              <a:rPr lang="en-US" b="0" dirty="0"/>
              <a:t>Transition: Lets take a look at some other pitcher velo aging curves industry wide first, then </a:t>
            </a:r>
            <a:r>
              <a:rPr lang="en-US" dirty="0"/>
              <a:t>look into when significant individual changes occur...</a:t>
            </a:r>
          </a:p>
          <a:p>
            <a:endParaRPr lang="en-US" dirty="0"/>
          </a:p>
        </p:txBody>
      </p:sp>
      <p:sp>
        <p:nvSpPr>
          <p:cNvPr id="4" name="Slide Number Placeholder 3"/>
          <p:cNvSpPr>
            <a:spLocks noGrp="1"/>
          </p:cNvSpPr>
          <p:nvPr>
            <p:ph type="sldNum" sz="quarter" idx="5"/>
          </p:nvPr>
        </p:nvSpPr>
        <p:spPr/>
        <p:txBody>
          <a:bodyPr/>
          <a:lstStyle/>
          <a:p>
            <a:fld id="{9AB546D9-F734-4EEA-8BFB-7B6A38932749}" type="slidenum">
              <a:rPr lang="en-US" smtClean="0"/>
              <a:t>7</a:t>
            </a:fld>
            <a:endParaRPr lang="en-US"/>
          </a:p>
        </p:txBody>
      </p:sp>
    </p:spTree>
    <p:extLst>
      <p:ext uri="{BB962C8B-B14F-4D97-AF65-F5344CB8AC3E}">
        <p14:creationId xmlns:p14="http://schemas.microsoft.com/office/powerpoint/2010/main" val="2504378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A08EA-CD22-F288-A14B-79D49F825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BE54D-763E-A75C-F55E-FEF5B7C02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6AFC92-AEF6-0F1F-BFEB-BC0686B053E8}"/>
              </a:ext>
            </a:extLst>
          </p:cNvPr>
          <p:cNvSpPr>
            <a:spLocks noGrp="1"/>
          </p:cNvSpPr>
          <p:nvPr>
            <p:ph type="body" idx="1"/>
          </p:nvPr>
        </p:nvSpPr>
        <p:spPr/>
        <p:txBody>
          <a:bodyPr/>
          <a:lstStyle/>
          <a:p>
            <a:r>
              <a:rPr lang="en-US" dirty="0"/>
              <a:t>Driveline info comparison/reference</a:t>
            </a:r>
          </a:p>
        </p:txBody>
      </p:sp>
      <p:sp>
        <p:nvSpPr>
          <p:cNvPr id="4" name="Slide Number Placeholder 3">
            <a:extLst>
              <a:ext uri="{FF2B5EF4-FFF2-40B4-BE49-F238E27FC236}">
                <a16:creationId xmlns:a16="http://schemas.microsoft.com/office/drawing/2014/main" id="{01CB3148-6529-7640-61A1-1AE48FEC0EE1}"/>
              </a:ext>
            </a:extLst>
          </p:cNvPr>
          <p:cNvSpPr>
            <a:spLocks noGrp="1"/>
          </p:cNvSpPr>
          <p:nvPr>
            <p:ph type="sldNum" sz="quarter" idx="5"/>
          </p:nvPr>
        </p:nvSpPr>
        <p:spPr/>
        <p:txBody>
          <a:bodyPr/>
          <a:lstStyle/>
          <a:p>
            <a:fld id="{9AB546D9-F734-4EEA-8BFB-7B6A38932749}" type="slidenum">
              <a:rPr lang="en-US" smtClean="0"/>
              <a:t>8</a:t>
            </a:fld>
            <a:endParaRPr lang="en-US"/>
          </a:p>
        </p:txBody>
      </p:sp>
    </p:spTree>
    <p:extLst>
      <p:ext uri="{BB962C8B-B14F-4D97-AF65-F5344CB8AC3E}">
        <p14:creationId xmlns:p14="http://schemas.microsoft.com/office/powerpoint/2010/main" val="3922727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PELT changepoint detection algorithm, I identified 140+ statistically significant velocity changepoints across our sample. These are moments when a pitcher's trajectory shifts abruptly, not gradual decline but a structural break in the time series.</a:t>
            </a:r>
          </a:p>
          <a:p>
            <a:endParaRPr lang="en-US" dirty="0"/>
          </a:p>
          <a:p>
            <a:r>
              <a:rPr lang="en-US" dirty="0"/>
              <a:t>Here's what I found: 36% of detected changepoints were validated as corresponding to known TJ injuries. That validation rate is actually quite encouraging, it means my algorithm is identifying real physiological events, not just statistical noise.</a:t>
            </a:r>
          </a:p>
          <a:p>
            <a:endParaRPr lang="en-US" dirty="0"/>
          </a:p>
          <a:p>
            <a:r>
              <a:rPr lang="en-US" dirty="0"/>
              <a:t>The remaining 64% fall into a potential hypothetical few categories: some are mechanical changes, biomechanics, or role transitions - for instance, a starter moving to relief and altering their effort level. Some correspond to undisclosed injuries, remember, not all arm problems result in surgery. And some may reflect training changes or deliberate strategy shifts.</a:t>
            </a:r>
          </a:p>
          <a:p>
            <a:r>
              <a:rPr lang="en-US" dirty="0"/>
              <a:t>The key insight is that changepoints are detectable before they become obvious. The algorithm flags a shift in trajectory after 2-3 data points, which in our case means we can identify concerning trends within a single season rather than waiting two years for the pattern to become clear to the naked eye.</a:t>
            </a:r>
          </a:p>
          <a:p>
            <a:endParaRPr lang="en-US" dirty="0"/>
          </a:p>
          <a:p>
            <a:r>
              <a:rPr lang="en-US" dirty="0"/>
              <a:t>*The validation rate against known injuries is strong evidence that we're detecting real physiological events, not overfitting to noise."</a:t>
            </a:r>
          </a:p>
          <a:p>
            <a:endParaRPr lang="en-US" b="1" dirty="0"/>
          </a:p>
          <a:p>
            <a:endParaRPr lang="en-US" b="1" dirty="0"/>
          </a:p>
          <a:p>
            <a:r>
              <a:rPr lang="en-US" b="0" dirty="0"/>
              <a:t>Translation: Now </a:t>
            </a:r>
            <a:r>
              <a:rPr lang="en-US" dirty="0"/>
              <a:t>let me break down what we learned about the aging curve specifically...</a:t>
            </a:r>
          </a:p>
          <a:p>
            <a:endParaRPr lang="en-US" dirty="0"/>
          </a:p>
        </p:txBody>
      </p:sp>
      <p:sp>
        <p:nvSpPr>
          <p:cNvPr id="4" name="Slide Number Placeholder 3"/>
          <p:cNvSpPr>
            <a:spLocks noGrp="1"/>
          </p:cNvSpPr>
          <p:nvPr>
            <p:ph type="sldNum" sz="quarter" idx="5"/>
          </p:nvPr>
        </p:nvSpPr>
        <p:spPr/>
        <p:txBody>
          <a:bodyPr/>
          <a:lstStyle/>
          <a:p>
            <a:fld id="{9AB546D9-F734-4EEA-8BFB-7B6A38932749}" type="slidenum">
              <a:rPr lang="en-US" smtClean="0"/>
              <a:t>9</a:t>
            </a:fld>
            <a:endParaRPr lang="en-US"/>
          </a:p>
        </p:txBody>
      </p:sp>
    </p:spTree>
    <p:extLst>
      <p:ext uri="{BB962C8B-B14F-4D97-AF65-F5344CB8AC3E}">
        <p14:creationId xmlns:p14="http://schemas.microsoft.com/office/powerpoint/2010/main" val="2341543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30EE0-EDF0-ED42-C65C-8C91A787A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E4539E-D504-55A9-F226-45898A30A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CBFFE-C7CE-5ADF-F803-11C885D7A67E}"/>
              </a:ext>
            </a:extLst>
          </p:cNvPr>
          <p:cNvSpPr>
            <a:spLocks noGrp="1"/>
          </p:cNvSpPr>
          <p:nvPr>
            <p:ph type="body" idx="1"/>
          </p:nvPr>
        </p:nvSpPr>
        <p:spPr/>
        <p:txBody>
          <a:bodyPr/>
          <a:lstStyle/>
          <a:p>
            <a:pPr rtl="0"/>
            <a:r>
              <a:rPr lang="en-US" dirty="0"/>
              <a:t>Sonny Gray is the control case. Eleven straight seasons, age 25 through 35, no Tommy John surgery, and no detected changepoint. Velocity goes 93.7 down to 91.7, about two miles per hour across a decade.</a:t>
            </a:r>
          </a:p>
          <a:p>
            <a:pPr rtl="0"/>
            <a:endParaRPr lang="en-US" dirty="0"/>
          </a:p>
          <a:p>
            <a:pPr rtl="0"/>
            <a:r>
              <a:rPr lang="en-US" dirty="0"/>
              <a:t>Two things to notice. First, the model's fitted line tracks him closely the whole way. This is what the population aging curve looks like when it applies cleanly to one pitcher.</a:t>
            </a:r>
          </a:p>
          <a:p>
            <a:pPr rtl="0"/>
            <a:endParaRPr lang="en-US" dirty="0"/>
          </a:p>
          <a:p>
            <a:pPr rtl="0"/>
            <a:r>
              <a:rPr lang="en-US" dirty="0"/>
              <a:t>Second, and more important, the changepoint algorithm found nothing here. It's not that Gray never wavered. Look at ages 31 and 32, he dips, then comes back up at 33 before continuing down. But PELT doesn't flag that, because it's noise around a trend rather than a structural break. That's the algorithm doing its job, and it's why the changepoints we do detect in the next few slides are worth paying attention to.</a:t>
            </a:r>
          </a:p>
          <a:p>
            <a:pPr rtl="0"/>
            <a:r>
              <a:rPr lang="en-US" dirty="0"/>
              <a:t>His risk score is 36%, moderate, driven almost entirely by age and current velocity rather than injury history.</a:t>
            </a:r>
          </a:p>
        </p:txBody>
      </p:sp>
      <p:sp>
        <p:nvSpPr>
          <p:cNvPr id="4" name="Slide Number Placeholder 3">
            <a:extLst>
              <a:ext uri="{FF2B5EF4-FFF2-40B4-BE49-F238E27FC236}">
                <a16:creationId xmlns:a16="http://schemas.microsoft.com/office/drawing/2014/main" id="{48B7D92E-7A13-3B0F-EDFD-D941A05129DC}"/>
              </a:ext>
            </a:extLst>
          </p:cNvPr>
          <p:cNvSpPr>
            <a:spLocks noGrp="1"/>
          </p:cNvSpPr>
          <p:nvPr>
            <p:ph type="sldNum" sz="quarter" idx="5"/>
          </p:nvPr>
        </p:nvSpPr>
        <p:spPr/>
        <p:txBody>
          <a:bodyPr/>
          <a:lstStyle/>
          <a:p>
            <a:fld id="{9AB546D9-F734-4EEA-8BFB-7B6A38932749}" type="slidenum">
              <a:rPr lang="en-US" smtClean="0"/>
              <a:t>10</a:t>
            </a:fld>
            <a:endParaRPr lang="en-US"/>
          </a:p>
        </p:txBody>
      </p:sp>
    </p:spTree>
    <p:extLst>
      <p:ext uri="{BB962C8B-B14F-4D97-AF65-F5344CB8AC3E}">
        <p14:creationId xmlns:p14="http://schemas.microsoft.com/office/powerpoint/2010/main" val="3335695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Wainwright provides another instructive case. He had Tommy John surgery back in 2011, well before our data window begins in 2015. That yellow X marker on the far left indicates that pre-existing surgery (also applied to all other aging curves when applicable).</a:t>
            </a:r>
          </a:p>
          <a:p>
            <a:r>
              <a:rPr lang="en-US" dirty="0"/>
              <a:t>What we see from age 33 onwards is essentially pure aging decline. His velocity drops from about 91 mph at age 33 to 85-86 mph by age 41. Our model detected a changepoint in 2021 at age 39, where the decline accelerated.</a:t>
            </a:r>
          </a:p>
          <a:p>
            <a:r>
              <a:rPr lang="en-US" dirty="0"/>
              <a:t>What's crucial here is distinguishing between the old Tommy John surgery from 2011 and the aging pattern we're seeing 10-15 years later. The surgery likely reset his baseline velocity, but by age 33, he was fully recovered and what we're observing is natural age-related decline. Our model accounts for this by including 'years since TJ' as a capped variable; “after 5 years, the recovery effect variable is capped at 5 years”.</a:t>
            </a:r>
          </a:p>
          <a:p>
            <a:endParaRPr lang="en-US" dirty="0"/>
          </a:p>
          <a:p>
            <a:r>
              <a:rPr lang="en-US" dirty="0"/>
              <a:t>Wainwright's current 71% risk score reflects his advanced age and declining velocity as well injury concerns (although extremely minor in this case). This is a pitcher at the end of a career, declining in the expected way.</a:t>
            </a:r>
            <a:br>
              <a:rPr lang="en-US" dirty="0"/>
            </a:br>
            <a:endParaRPr lang="en-US" dirty="0"/>
          </a:p>
          <a:p>
            <a:endParaRPr lang="en-US" dirty="0"/>
          </a:p>
          <a:p>
            <a:pPr defTabSz="966612">
              <a:defRPr/>
            </a:pPr>
            <a:r>
              <a:rPr lang="en-US" dirty="0"/>
              <a:t>Possible Audience Question(s): (Personal Note)</a:t>
            </a:r>
          </a:p>
          <a:p>
            <a:endParaRPr lang="en-US" dirty="0"/>
          </a:p>
          <a:p>
            <a:r>
              <a:rPr lang="en-US" dirty="0"/>
              <a:t>How do you know the 2011 TJ surgery isn't still affecting him?</a:t>
            </a:r>
          </a:p>
          <a:p>
            <a:r>
              <a:rPr lang="en-US" dirty="0"/>
              <a:t>-Medical research indicates full recovery typically occurs within 18-24 months, with stabilization by year 3-5. After 15 years, we're confident the surgery is no longer the primary driver of decline. More on this later on.</a:t>
            </a:r>
          </a:p>
          <a:p>
            <a:endParaRPr lang="en-US" b="0" dirty="0"/>
          </a:p>
          <a:p>
            <a:r>
              <a:rPr lang="en-US" b="0" dirty="0"/>
              <a:t>Transition: Now let's look at cases where injury does play a major role...</a:t>
            </a:r>
          </a:p>
          <a:p>
            <a:endParaRPr lang="en-US" dirty="0"/>
          </a:p>
        </p:txBody>
      </p:sp>
      <p:sp>
        <p:nvSpPr>
          <p:cNvPr id="4" name="Slide Number Placeholder 3"/>
          <p:cNvSpPr>
            <a:spLocks noGrp="1"/>
          </p:cNvSpPr>
          <p:nvPr>
            <p:ph type="sldNum" sz="quarter" idx="5"/>
          </p:nvPr>
        </p:nvSpPr>
        <p:spPr/>
        <p:txBody>
          <a:bodyPr/>
          <a:lstStyle/>
          <a:p>
            <a:fld id="{9AB546D9-F734-4EEA-8BFB-7B6A38932749}" type="slidenum">
              <a:rPr lang="en-US" smtClean="0"/>
              <a:t>11</a:t>
            </a:fld>
            <a:endParaRPr lang="en-US"/>
          </a:p>
        </p:txBody>
      </p:sp>
    </p:spTree>
    <p:extLst>
      <p:ext uri="{BB962C8B-B14F-4D97-AF65-F5344CB8AC3E}">
        <p14:creationId xmlns:p14="http://schemas.microsoft.com/office/powerpoint/2010/main" val="1313940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Jameson Taillon shows a more complex pattern: aging plus multiple Tommy John surgeries. The yellow X at age 24 indicates a pre-2015 Tommy John surgery. The red X at age 29 in 2019 shows a second surgery during our data window.</a:t>
            </a:r>
          </a:p>
          <a:p>
            <a:endParaRPr lang="en-US" dirty="0"/>
          </a:p>
          <a:p>
            <a:r>
              <a:rPr lang="en-US" dirty="0"/>
              <a:t>Look at the trajectory: he was maintaining 95+ mph through age 27, then notice the sharp drop after the 2019 surgery, down to about 94 mph at age 29. The model detected this as a changepoint. My hypothesis here is potential UCL deterioration in the arm that can be observed in year(s) prior to a TJ surgery recover</a:t>
            </a:r>
          </a:p>
          <a:p>
            <a:r>
              <a:rPr lang="en-US" dirty="0"/>
              <a:t>What's interesting is that he stabilized at this new lower baseline around 92.3 mph and has maintained that through age 32. This illustrates an important pattern we see: Tommy John surgery often results in a bounce back in velo either to the place he was currently at, or potentially more. His 44% moderate risk score reflects both the injury history and approaching age-related decline and other factors I use in my linear weighting of my factors. He's in a window where normal aging is beginning to compound with the after-effects of multiple surgeries.</a:t>
            </a:r>
          </a:p>
          <a:p>
            <a:endParaRPr lang="en-US" b="1" dirty="0"/>
          </a:p>
          <a:p>
            <a:endParaRPr lang="en-US" b="1" dirty="0"/>
          </a:p>
          <a:p>
            <a:r>
              <a:rPr lang="en-US" dirty="0"/>
              <a:t>Multiple TJ surgeries create a step-down pattern in velocity rather than a smooth curve, each surgery resets the baseline lower, then aging continues from there.</a:t>
            </a:r>
          </a:p>
          <a:p>
            <a:endParaRPr lang="en-US" b="1" dirty="0"/>
          </a:p>
        </p:txBody>
      </p:sp>
      <p:sp>
        <p:nvSpPr>
          <p:cNvPr id="4" name="Slide Number Placeholder 3"/>
          <p:cNvSpPr>
            <a:spLocks noGrp="1"/>
          </p:cNvSpPr>
          <p:nvPr>
            <p:ph type="sldNum" sz="quarter" idx="5"/>
          </p:nvPr>
        </p:nvSpPr>
        <p:spPr/>
        <p:txBody>
          <a:bodyPr/>
          <a:lstStyle/>
          <a:p>
            <a:fld id="{9AB546D9-F734-4EEA-8BFB-7B6A38932749}" type="slidenum">
              <a:rPr lang="en-US" smtClean="0"/>
              <a:t>12</a:t>
            </a:fld>
            <a:endParaRPr lang="en-US"/>
          </a:p>
        </p:txBody>
      </p:sp>
    </p:spTree>
    <p:extLst>
      <p:ext uri="{BB962C8B-B14F-4D97-AF65-F5344CB8AC3E}">
        <p14:creationId xmlns:p14="http://schemas.microsoft.com/office/powerpoint/2010/main" val="1613513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B7A1C-1C85-382E-11CA-7D8A5CD33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F493C-DB60-9E70-A20D-A3E6ABE137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9E0449-5D9D-ECB2-064E-4CCCFF6C9066}"/>
              </a:ext>
            </a:extLst>
          </p:cNvPr>
          <p:cNvSpPr>
            <a:spLocks noGrp="1"/>
          </p:cNvSpPr>
          <p:nvPr>
            <p:ph type="body" idx="1"/>
          </p:nvPr>
        </p:nvSpPr>
        <p:spPr/>
        <p:txBody>
          <a:bodyPr/>
          <a:lstStyle/>
          <a:p>
            <a:pPr rtl="0"/>
            <a:r>
              <a:rPr lang="en-US" dirty="0"/>
              <a:t>Chris Bassitt is the cleanest example of the framework doing what the title of this talk promises. Eleven seasons, ages 26 through 36, Tommy John in 2016, and a moderate risk score of 43%.</a:t>
            </a:r>
          </a:p>
          <a:p>
            <a:pPr rtl="0"/>
            <a:r>
              <a:rPr lang="en-US" dirty="0"/>
              <a:t>He lost 2.5 mph across the decade. The decomposition splits it: 1.45 from the population aging curve, 0.25 from the Tommy John terms, and 1.30 individual. Aging and individual deviation are each carrying real weight, which is what you want a decomposition to look like.</a:t>
            </a:r>
          </a:p>
          <a:p>
            <a:pPr rtl="0"/>
            <a:r>
              <a:rPr lang="en-US" dirty="0"/>
              <a:t>Two things worth pointing out. First, there is no changepoint on this chart, and that is not the algorithm failing. Look at the trajectory. He drops 1.2 mph in 2018, then gains 1.6 back in 2019, wobbles for four seasons, and drifts down at the end. PELT will not flag noise around a trend. Same behavior you saw on the Gray slide.</a:t>
            </a:r>
          </a:p>
          <a:p>
            <a:pPr rtl="0"/>
            <a:r>
              <a:rPr lang="en-US" dirty="0"/>
              <a:t>Second, and this surprised me: he threw harder two years after surgery than the year before it. That is not what most people expect from a 27-year-old having Tommy John</a:t>
            </a:r>
          </a:p>
          <a:p>
            <a:endParaRPr lang="en-US" b="1" dirty="0"/>
          </a:p>
        </p:txBody>
      </p:sp>
      <p:sp>
        <p:nvSpPr>
          <p:cNvPr id="4" name="Slide Number Placeholder 3">
            <a:extLst>
              <a:ext uri="{FF2B5EF4-FFF2-40B4-BE49-F238E27FC236}">
                <a16:creationId xmlns:a16="http://schemas.microsoft.com/office/drawing/2014/main" id="{62851E0F-D8A1-5AC1-46AE-7D12C1F97061}"/>
              </a:ext>
            </a:extLst>
          </p:cNvPr>
          <p:cNvSpPr>
            <a:spLocks noGrp="1"/>
          </p:cNvSpPr>
          <p:nvPr>
            <p:ph type="sldNum" sz="quarter" idx="5"/>
          </p:nvPr>
        </p:nvSpPr>
        <p:spPr/>
        <p:txBody>
          <a:bodyPr/>
          <a:lstStyle/>
          <a:p>
            <a:fld id="{9AB546D9-F734-4EEA-8BFB-7B6A38932749}" type="slidenum">
              <a:rPr lang="en-US" smtClean="0"/>
              <a:t>13</a:t>
            </a:fld>
            <a:endParaRPr lang="en-US"/>
          </a:p>
        </p:txBody>
      </p:sp>
    </p:spTree>
    <p:extLst>
      <p:ext uri="{BB962C8B-B14F-4D97-AF65-F5344CB8AC3E}">
        <p14:creationId xmlns:p14="http://schemas.microsoft.com/office/powerpoint/2010/main" val="29151957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Hunter Brown represents the kind of projection our model can make for developing pitchers. He's 25 years old, currently throwing 96 mph, with no Tommy John history. The green shaded region shows our projection through age 29.</a:t>
            </a:r>
          </a:p>
          <a:p>
            <a:endParaRPr lang="en-US" dirty="0"/>
          </a:p>
          <a:p>
            <a:r>
              <a:rPr lang="en-US" dirty="0"/>
              <a:t>Notice a few things: First, we project slight short-term decline, from 96 mph down to about 95.5 mph over the next four years. This might seem pessimistic for a young pitcher, but it reflects regression toward the mean, extremely high-velocity pitchers tend to lose a bit more velocity than average during aging, and our model is being conservative. Plus, he’s coming out of what we’ve identified as the “peak-range” so to say.</a:t>
            </a:r>
          </a:p>
          <a:p>
            <a:r>
              <a:rPr lang="en-US" dirty="0"/>
              <a:t>Second, look at the width of that confidence band - it's quite wide, especially in the outer years. That's appropriate uncertainty quantification. We're less certain about 2028 projections than 2025 projections.</a:t>
            </a:r>
          </a:p>
          <a:p>
            <a:r>
              <a:rPr lang="en-US" dirty="0"/>
              <a:t>Third, notice the footer note: 'Projections regress toward population mean (conservative for elite performers).' This is a feature, not a bug - our model doesn't assume every 96 mph thrower will maintain elite velocity. Some will, some won't, so the population-average projection is intentionally conservative.</a:t>
            </a:r>
          </a:p>
          <a:p>
            <a:endParaRPr lang="en-US" dirty="0"/>
          </a:p>
          <a:p>
            <a:r>
              <a:rPr lang="en-US" dirty="0"/>
              <a:t>For front office use, this kind of projection helps with arbitration valuations and extension negotiations (plus other things, these are just some examples). You can project future performance probabilistically rather than just extrapolating current stats linearly.</a:t>
            </a:r>
          </a:p>
          <a:p>
            <a:endParaRPr lang="en-US" dirty="0"/>
          </a:p>
          <a:p>
            <a:r>
              <a:rPr lang="en-US" dirty="0"/>
              <a:t>*Conservative projections are better than optimistic projections for risk management - you'd rather be pleasantly surprised than unpleasantly surprised.</a:t>
            </a:r>
          </a:p>
          <a:p>
            <a:endParaRPr lang="en-US" dirty="0"/>
          </a:p>
          <a:p>
            <a:endParaRPr lang="en-US" dirty="0"/>
          </a:p>
          <a:p>
            <a:r>
              <a:rPr lang="en-US" dirty="0"/>
              <a:t>Transition: Here's another young pitcher projection..</a:t>
            </a:r>
          </a:p>
          <a:p>
            <a:endParaRPr lang="en-US" dirty="0"/>
          </a:p>
        </p:txBody>
      </p:sp>
      <p:sp>
        <p:nvSpPr>
          <p:cNvPr id="4" name="Slide Number Placeholder 3"/>
          <p:cNvSpPr>
            <a:spLocks noGrp="1"/>
          </p:cNvSpPr>
          <p:nvPr>
            <p:ph type="sldNum" sz="quarter" idx="5"/>
          </p:nvPr>
        </p:nvSpPr>
        <p:spPr/>
        <p:txBody>
          <a:bodyPr/>
          <a:lstStyle/>
          <a:p>
            <a:fld id="{9AB546D9-F734-4EEA-8BFB-7B6A38932749}" type="slidenum">
              <a:rPr lang="en-US" smtClean="0"/>
              <a:t>14</a:t>
            </a:fld>
            <a:endParaRPr lang="en-US"/>
          </a:p>
        </p:txBody>
      </p:sp>
    </p:spTree>
    <p:extLst>
      <p:ext uri="{BB962C8B-B14F-4D97-AF65-F5344CB8AC3E}">
        <p14:creationId xmlns:p14="http://schemas.microsoft.com/office/powerpoint/2010/main" val="30652885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Edward Cabrera at age 26 is basically at peak velocity: 96.3 mph currently. Our projection shows him declining gradually to about 95.5 mph by age 30, with similar conservative assumptions to the Brown projection.</a:t>
            </a:r>
          </a:p>
          <a:p>
            <a:endParaRPr lang="en-US" dirty="0"/>
          </a:p>
          <a:p>
            <a:r>
              <a:rPr lang="en-US" dirty="0"/>
              <a:t>What I want to highlight here is the value of this for team planning. If you're considering a 4-year extension for Cabrera, this projection lets you model probable performance over the contract life. You can estimate WAR based on velocity projections, which feeds into dollars-per-WAR calculations.</a:t>
            </a:r>
          </a:p>
          <a:p>
            <a:endParaRPr lang="en-US" dirty="0"/>
          </a:p>
          <a:p>
            <a:r>
              <a:rPr lang="en-US" dirty="0"/>
              <a:t>The model suggests he'll lose roughly 0.8 mph over four years if healthy, that's slower decline than average because he's still in prime years. That's valuable information for contract structuring.</a:t>
            </a:r>
          </a:p>
          <a:p>
            <a:endParaRPr lang="en-US" dirty="0"/>
          </a:p>
          <a:p>
            <a:r>
              <a:rPr lang="en-US" b="0" dirty="0"/>
              <a:t>Transition: I have </a:t>
            </a:r>
            <a:r>
              <a:rPr lang="en-US" dirty="0"/>
              <a:t>a couple other cases worth mentioning briefly...</a:t>
            </a:r>
          </a:p>
          <a:p>
            <a:endParaRPr lang="en-US" dirty="0"/>
          </a:p>
        </p:txBody>
      </p:sp>
      <p:sp>
        <p:nvSpPr>
          <p:cNvPr id="4" name="Slide Number Placeholder 3"/>
          <p:cNvSpPr>
            <a:spLocks noGrp="1"/>
          </p:cNvSpPr>
          <p:nvPr>
            <p:ph type="sldNum" sz="quarter" idx="5"/>
          </p:nvPr>
        </p:nvSpPr>
        <p:spPr/>
        <p:txBody>
          <a:bodyPr/>
          <a:lstStyle/>
          <a:p>
            <a:fld id="{9AB546D9-F734-4EEA-8BFB-7B6A38932749}" type="slidenum">
              <a:rPr lang="en-US" smtClean="0"/>
              <a:t>15</a:t>
            </a:fld>
            <a:endParaRPr lang="en-US"/>
          </a:p>
        </p:txBody>
      </p:sp>
    </p:spTree>
    <p:extLst>
      <p:ext uri="{BB962C8B-B14F-4D97-AF65-F5344CB8AC3E}">
        <p14:creationId xmlns:p14="http://schemas.microsoft.com/office/powerpoint/2010/main" val="218180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main takeaways from this work:</a:t>
            </a:r>
          </a:p>
          <a:p>
            <a:endParaRPr lang="en-US" dirty="0"/>
          </a:p>
          <a:p>
            <a:r>
              <a:rPr lang="en-US" dirty="0"/>
              <a:t>First, yes - we can quantitatively separate aging from injury. The combination of Bayesian hierarchical modeling and changepoint detection gives us the tools to distinguish predictable age-related decline from injury-driven structural breaks. </a:t>
            </a:r>
          </a:p>
          <a:p>
            <a:endParaRPr lang="en-US" dirty="0"/>
          </a:p>
          <a:p>
            <a:r>
              <a:rPr lang="en-US" dirty="0"/>
              <a:t>Second, velocity shows clear, predictable patterns. </a:t>
            </a:r>
          </a:p>
          <a:p>
            <a:endParaRPr lang="en-US" dirty="0"/>
          </a:p>
          <a:p>
            <a:r>
              <a:rPr lang="en-US" dirty="0"/>
              <a:t>Third, individual trajectories are detectable early. Our changepoint detection can flag concerning decline within a few seasons rather than requiring large multi-year patterns to become obvious. That early detection has substantial value for roster management.</a:t>
            </a:r>
          </a:p>
          <a:p>
            <a:endParaRPr lang="en-US" dirty="0"/>
          </a:p>
          <a:p>
            <a:r>
              <a:rPr lang="en-US" dirty="0"/>
              <a:t>The bottom line is that we're moving from subjective judgment - 'does this guy look done?' to quantitative assessment with proper uncertainty bounds.</a:t>
            </a:r>
          </a:p>
          <a:p>
            <a:endParaRPr lang="en-US" dirty="0"/>
          </a:p>
          <a:p>
            <a:endParaRPr lang="en-US" dirty="0"/>
          </a:p>
          <a:p>
            <a:r>
              <a:rPr lang="en-US" b="0" dirty="0"/>
              <a:t>Transition: Now</a:t>
            </a:r>
            <a:r>
              <a:rPr lang="en-US" dirty="0"/>
              <a:t>, there's one specific aspect of Tommy John recovery I want to dive deeper into.</a:t>
            </a:r>
          </a:p>
          <a:p>
            <a:endParaRPr lang="en-US" dirty="0"/>
          </a:p>
        </p:txBody>
      </p:sp>
      <p:sp>
        <p:nvSpPr>
          <p:cNvPr id="4" name="Slide Number Placeholder 3"/>
          <p:cNvSpPr>
            <a:spLocks noGrp="1"/>
          </p:cNvSpPr>
          <p:nvPr>
            <p:ph type="sldNum" sz="quarter" idx="5"/>
          </p:nvPr>
        </p:nvSpPr>
        <p:spPr/>
        <p:txBody>
          <a:bodyPr/>
          <a:lstStyle/>
          <a:p>
            <a:fld id="{9AB546D9-F734-4EEA-8BFB-7B6A38932749}" type="slidenum">
              <a:rPr lang="en-US" smtClean="0"/>
              <a:t>16</a:t>
            </a:fld>
            <a:endParaRPr lang="en-US"/>
          </a:p>
        </p:txBody>
      </p:sp>
    </p:spTree>
    <p:extLst>
      <p:ext uri="{BB962C8B-B14F-4D97-AF65-F5344CB8AC3E}">
        <p14:creationId xmlns:p14="http://schemas.microsoft.com/office/powerpoint/2010/main" val="370622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E717C-F4D1-88D6-D066-09EE982CB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CE81B-54E7-9C80-C919-E7D539475C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D55709-0814-1F5D-425F-DF1FCF90C0E6}"/>
              </a:ext>
            </a:extLst>
          </p:cNvPr>
          <p:cNvSpPr>
            <a:spLocks noGrp="1"/>
          </p:cNvSpPr>
          <p:nvPr>
            <p:ph type="body" idx="1"/>
          </p:nvPr>
        </p:nvSpPr>
        <p:spPr/>
        <p:txBody>
          <a:bodyPr/>
          <a:lstStyle/>
          <a:p>
            <a:r>
              <a:rPr lang="en-US" dirty="0"/>
              <a:t>The error bars represent 95% confidence intervals based on actual observed velocities. Notice how wide they are in Year 1 - that reflects the high individual variation in recovery. Some pitchers bounce back quickly, others struggle.</a:t>
            </a:r>
          </a:p>
          <a:p>
            <a:r>
              <a:rPr lang="en-US" dirty="0"/>
              <a:t>The pattern I mentioned is clearly visible: dip to about 93.7 mph in Year 1, recovery to 94.8 mph by Year 2-3, then relative stability around 95 mph in Years 4-5.</a:t>
            </a:r>
          </a:p>
          <a:p>
            <a:endParaRPr lang="en-US" dirty="0"/>
          </a:p>
          <a:p>
            <a:br>
              <a:rPr lang="en-US" dirty="0"/>
            </a:br>
            <a:r>
              <a:rPr lang="en-US" dirty="0"/>
              <a:t>This graph shows the injury recovery trajectory, aggregated across all pitcher in our sample who had documented TJ surgeries with at least 3 years of pre and post TJ data.</a:t>
            </a:r>
            <a:br>
              <a:rPr lang="en-US" dirty="0"/>
            </a:br>
            <a:br>
              <a:rPr lang="en-US" dirty="0"/>
            </a:br>
            <a:r>
              <a:rPr lang="en-US" dirty="0"/>
              <a:t>We can see a trend that supports industry beliefs regarding TJ. We can see gradual decline in the years leading up to TJ, suggesting possible deterioration in the UCL. And then post-TJ, we see a rise back in velo. This can be associated due to a strong rehab program, disciplined mechanics coming back, leg strength, or a finally healthy non-deteriorating UCL!</a:t>
            </a:r>
          </a:p>
          <a:p>
            <a:br>
              <a:rPr lang="en-US" dirty="0"/>
            </a:br>
            <a:r>
              <a:rPr lang="en-US" dirty="0"/>
              <a:t>*Now, here's what this doesn't show: survivorship bias. Pitchers who don't make it back to the majors aren't in this dataset. So, these numbers represent </a:t>
            </a:r>
            <a:r>
              <a:rPr lang="en-US" i="1" dirty="0"/>
              <a:t>successful or at least return</a:t>
            </a:r>
            <a:r>
              <a:rPr lang="en-US" dirty="0"/>
              <a:t> post-Tommy John recoveries. The true average impact is likely larger when you account for players who never return. That said, this is what front offices are evaluating - pitchers who did return. So, for contract valuation of post-TJ pitchers, this is the relevant distribution.</a:t>
            </a:r>
          </a:p>
          <a:p>
            <a:endParaRPr lang="en-US" dirty="0"/>
          </a:p>
          <a:p>
            <a:endParaRPr lang="en-US" dirty="0"/>
          </a:p>
          <a:p>
            <a:r>
              <a:rPr lang="en-US" b="0" dirty="0"/>
              <a:t>Transition: Now </a:t>
            </a:r>
            <a:r>
              <a:rPr lang="en-US" dirty="0"/>
              <a:t>let me address model performance and validation...</a:t>
            </a:r>
          </a:p>
          <a:p>
            <a:endParaRPr lang="en-US" dirty="0"/>
          </a:p>
        </p:txBody>
      </p:sp>
      <p:sp>
        <p:nvSpPr>
          <p:cNvPr id="4" name="Slide Number Placeholder 3">
            <a:extLst>
              <a:ext uri="{FF2B5EF4-FFF2-40B4-BE49-F238E27FC236}">
                <a16:creationId xmlns:a16="http://schemas.microsoft.com/office/drawing/2014/main" id="{5156AC52-EF9B-5A34-6466-385ABC91FBFA}"/>
              </a:ext>
            </a:extLst>
          </p:cNvPr>
          <p:cNvSpPr>
            <a:spLocks noGrp="1"/>
          </p:cNvSpPr>
          <p:nvPr>
            <p:ph type="sldNum" sz="quarter" idx="5"/>
          </p:nvPr>
        </p:nvSpPr>
        <p:spPr/>
        <p:txBody>
          <a:bodyPr/>
          <a:lstStyle/>
          <a:p>
            <a:fld id="{9AB546D9-F734-4EEA-8BFB-7B6A38932749}" type="slidenum">
              <a:rPr lang="en-US" smtClean="0"/>
              <a:t>17</a:t>
            </a:fld>
            <a:endParaRPr lang="en-US"/>
          </a:p>
        </p:txBody>
      </p:sp>
    </p:spTree>
    <p:extLst>
      <p:ext uri="{BB962C8B-B14F-4D97-AF65-F5344CB8AC3E}">
        <p14:creationId xmlns:p14="http://schemas.microsoft.com/office/powerpoint/2010/main" val="40035024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26D64-C7BA-4BF5-1F8F-F0601E5B6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523410-9F44-3EFE-35DB-ED5138051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CFFEC-C2B2-0CAE-25D8-7C496196BE01}"/>
              </a:ext>
            </a:extLst>
          </p:cNvPr>
          <p:cNvSpPr>
            <a:spLocks noGrp="1"/>
          </p:cNvSpPr>
          <p:nvPr>
            <p:ph type="body" idx="1"/>
          </p:nvPr>
        </p:nvSpPr>
        <p:spPr/>
        <p:txBody>
          <a:bodyPr/>
          <a:lstStyle/>
          <a:p>
            <a:r>
              <a:rPr lang="en-US" dirty="0"/>
              <a:t>Evaluating model performance…</a:t>
            </a:r>
          </a:p>
          <a:p>
            <a:endParaRPr lang="en-US" dirty="0"/>
          </a:p>
          <a:p>
            <a:r>
              <a:rPr lang="en-US" dirty="0"/>
              <a:t>I used a held-out test set consisting of the 2024-2025 seasons. The model was trained only on 2015-2023 data, then evaluated on its ability to predict 2024-2025 velocities.</a:t>
            </a:r>
          </a:p>
          <a:p>
            <a:endParaRPr lang="en-US" dirty="0"/>
          </a:p>
          <a:p>
            <a:r>
              <a:rPr lang="en-US" dirty="0"/>
              <a:t>Our velocity prediction accuracy was: RMSE of 1.28 mph. On a baseline of roughly 90 mph, that's about 1.7% error. And R² of 0.716, meaning we explain ~72% of velocity variance.</a:t>
            </a:r>
          </a:p>
          <a:p>
            <a:r>
              <a:rPr lang="en-US" dirty="0"/>
              <a:t>Now, I know what some of you might be thinking - 'only 72%?' Let me provide context. Biological systems are inherently noisy. Day-to-day pitcher velocity naturally varies by 1-2 mph based on fatigue, mechanics, even weather. Published aging curve research typically achieves R² in the 0.55-0.70 range, so 0.716 is competitive with the literature. The unexplained 28% of variance represents factors we can't measure: individual biomechanics, training intensity, pitch sequencing strategy, measurement error in </a:t>
            </a:r>
            <a:r>
              <a:rPr lang="en-US" dirty="0" err="1"/>
              <a:t>Statcast</a:t>
            </a:r>
            <a:r>
              <a:rPr lang="en-US" dirty="0"/>
              <a:t>, minor injuries that don't require surgery. That variance is real, and we shouldn't claim to explain it.</a:t>
            </a:r>
          </a:p>
          <a:p>
            <a:endParaRPr lang="en-US" dirty="0"/>
          </a:p>
          <a:p>
            <a:r>
              <a:rPr lang="en-US" dirty="0"/>
              <a:t>For risk assessment correlation, our overall risk scores achieved R² of 0.716 against actual future decline. That's strong evidence the risk framework captures meaningful predictive information.</a:t>
            </a:r>
            <a:br>
              <a:rPr lang="en-US" dirty="0"/>
            </a:br>
            <a:endParaRPr lang="en-US" dirty="0"/>
          </a:p>
          <a:p>
            <a:r>
              <a:rPr lang="en-US" dirty="0"/>
              <a:t>*The key point is: these metrics are appropriate for the complexity of human athletic performance. We're not trying to predict physics, we're trying to predict biology, which is fundamentally noisier.</a:t>
            </a:r>
          </a:p>
          <a:p>
            <a:pPr defTabSz="966612">
              <a:defRPr/>
            </a:pPr>
            <a:endParaRPr lang="en-US" dirty="0"/>
          </a:p>
          <a:p>
            <a:pPr defTabSz="966612">
              <a:defRPr/>
            </a:pPr>
            <a:r>
              <a:rPr lang="en-US" dirty="0"/>
              <a:t>Possible Audience Question(s): (Personal Note)</a:t>
            </a:r>
          </a:p>
          <a:p>
            <a:r>
              <a:rPr lang="en-US" dirty="0"/>
              <a:t>Could you get higher R² with more features?</a:t>
            </a:r>
          </a:p>
          <a:p>
            <a:r>
              <a:rPr lang="en-US" dirty="0"/>
              <a:t>-Possibly, but you risk overfitting. We prioritized generalizability over training set fit. Adding features like workload or pitch mix might help but increases data requirements and model complexity.</a:t>
            </a:r>
          </a:p>
          <a:p>
            <a:endParaRPr lang="en-US" dirty="0"/>
          </a:p>
          <a:p>
            <a:r>
              <a:rPr lang="en-US" dirty="0"/>
              <a:t>Transition: There are some interesting additional patterns worth noting...</a:t>
            </a:r>
          </a:p>
          <a:p>
            <a:endParaRPr lang="en-US" dirty="0"/>
          </a:p>
        </p:txBody>
      </p:sp>
      <p:sp>
        <p:nvSpPr>
          <p:cNvPr id="4" name="Slide Number Placeholder 3">
            <a:extLst>
              <a:ext uri="{FF2B5EF4-FFF2-40B4-BE49-F238E27FC236}">
                <a16:creationId xmlns:a16="http://schemas.microsoft.com/office/drawing/2014/main" id="{3947638D-4CCE-224D-060F-448ADF7D37A4}"/>
              </a:ext>
            </a:extLst>
          </p:cNvPr>
          <p:cNvSpPr>
            <a:spLocks noGrp="1"/>
          </p:cNvSpPr>
          <p:nvPr>
            <p:ph type="sldNum" sz="quarter" idx="5"/>
          </p:nvPr>
        </p:nvSpPr>
        <p:spPr/>
        <p:txBody>
          <a:bodyPr/>
          <a:lstStyle/>
          <a:p>
            <a:fld id="{9AB546D9-F734-4EEA-8BFB-7B6A38932749}" type="slidenum">
              <a:rPr lang="en-US" smtClean="0"/>
              <a:t>18</a:t>
            </a:fld>
            <a:endParaRPr lang="en-US"/>
          </a:p>
        </p:txBody>
      </p:sp>
    </p:spTree>
    <p:extLst>
      <p:ext uri="{BB962C8B-B14F-4D97-AF65-F5344CB8AC3E}">
        <p14:creationId xmlns:p14="http://schemas.microsoft.com/office/powerpoint/2010/main" val="26690034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this research translate to actual front office decisions?</a:t>
            </a:r>
          </a:p>
          <a:p>
            <a:endParaRPr lang="en-US" dirty="0"/>
          </a:p>
          <a:p>
            <a:r>
              <a:rPr lang="en-US" b="1" dirty="0"/>
              <a:t>Contract Negotiations:</a:t>
            </a:r>
            <a:r>
              <a:rPr lang="en-US" dirty="0"/>
              <a:t> When evaluating a multi-year deal for a 31-year-old pitcher, you can model expected velocity decline over the contract term. If the pitcher is projected to decline from 94 to 92 mph over four years, you can estimate impact and structure guarantees accordingly. Our framework provides the probability distribution for those projections.</a:t>
            </a:r>
          </a:p>
          <a:p>
            <a:endParaRPr lang="en-US" dirty="0"/>
          </a:p>
          <a:p>
            <a:r>
              <a:rPr lang="en-US" b="1" dirty="0"/>
              <a:t>Trade Deadline Decisions:</a:t>
            </a:r>
            <a:r>
              <a:rPr lang="en-US" dirty="0"/>
              <a:t> If you're considering trading for a rental starter, understanding their current trajectory matters. Is their recent velocity dip normal aging or a red flag? Changepoint detection can flag concerning drops early.</a:t>
            </a:r>
          </a:p>
          <a:p>
            <a:r>
              <a:rPr lang="en-US" b="1" dirty="0"/>
              <a:t>Extension Timing:</a:t>
            </a:r>
            <a:r>
              <a:rPr lang="en-US" dirty="0"/>
              <a:t> Our risk scores help identify optimal extension windows. A 26-year-old with clean injury history and low risk is a better extension candidate than a 28-year-old with moderate risk, even if current performance is similar.</a:t>
            </a:r>
          </a:p>
          <a:p>
            <a:endParaRPr lang="en-US" b="1" dirty="0"/>
          </a:p>
          <a:p>
            <a:r>
              <a:rPr lang="en-US" b="1" dirty="0"/>
              <a:t>Prospect Evaluation:</a:t>
            </a:r>
            <a:r>
              <a:rPr lang="en-US" dirty="0"/>
              <a:t> Young pitchers showing unusual velocity gains might be reaching physical maturity ahead of schedule, which affects their projection curve. This could be because they’re also just a dawg.</a:t>
            </a:r>
          </a:p>
          <a:p>
            <a:endParaRPr lang="en-US" dirty="0"/>
          </a:p>
          <a:p>
            <a:r>
              <a:rPr lang="en-US" b="1" dirty="0"/>
              <a:t>Medical Decision Support:</a:t>
            </a:r>
            <a:r>
              <a:rPr lang="en-US" dirty="0"/>
              <a:t> Velocity tracking post-injury can inform return-to-play decisions and help calibrate expectations for recovery timelines.</a:t>
            </a:r>
          </a:p>
          <a:p>
            <a:endParaRPr lang="en-US" dirty="0"/>
          </a:p>
          <a:p>
            <a:endParaRPr lang="en-US" dirty="0"/>
          </a:p>
          <a:p>
            <a:r>
              <a:rPr lang="en-US" dirty="0"/>
              <a:t>The key is that this provides </a:t>
            </a:r>
            <a:r>
              <a:rPr lang="en-US" i="1" dirty="0"/>
              <a:t>quantitative</a:t>
            </a:r>
            <a:r>
              <a:rPr lang="en-US" dirty="0"/>
              <a:t> input to decisions that used to rely primarily on traditional aging beliefs and past performance.</a:t>
            </a:r>
          </a:p>
          <a:p>
            <a:endParaRPr lang="en-US" dirty="0"/>
          </a:p>
          <a:p>
            <a:r>
              <a:rPr lang="en-US" dirty="0"/>
              <a:t>Transition: Now, I want to address some current limitations..</a:t>
            </a:r>
          </a:p>
          <a:p>
            <a:endParaRPr lang="en-US" dirty="0"/>
          </a:p>
        </p:txBody>
      </p:sp>
      <p:sp>
        <p:nvSpPr>
          <p:cNvPr id="4" name="Slide Number Placeholder 3"/>
          <p:cNvSpPr>
            <a:spLocks noGrp="1"/>
          </p:cNvSpPr>
          <p:nvPr>
            <p:ph type="sldNum" sz="quarter" idx="5"/>
          </p:nvPr>
        </p:nvSpPr>
        <p:spPr/>
        <p:txBody>
          <a:bodyPr/>
          <a:lstStyle/>
          <a:p>
            <a:fld id="{9AB546D9-F734-4EEA-8BFB-7B6A38932749}" type="slidenum">
              <a:rPr lang="en-US" smtClean="0"/>
              <a:t>19</a:t>
            </a:fld>
            <a:endParaRPr lang="en-US"/>
          </a:p>
        </p:txBody>
      </p:sp>
    </p:spTree>
    <p:extLst>
      <p:ext uri="{BB962C8B-B14F-4D97-AF65-F5344CB8AC3E}">
        <p14:creationId xmlns:p14="http://schemas.microsoft.com/office/powerpoint/2010/main" val="29562559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F1E69-A94F-75D8-9870-718E0F7977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2D461-67C9-0A2B-FE79-52C09BA977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A5212-59EF-2521-DE74-42C39FA291B1}"/>
              </a:ext>
            </a:extLst>
          </p:cNvPr>
          <p:cNvSpPr>
            <a:spLocks noGrp="1"/>
          </p:cNvSpPr>
          <p:nvPr>
            <p:ph type="body" idx="1"/>
          </p:nvPr>
        </p:nvSpPr>
        <p:spPr/>
        <p:txBody>
          <a:bodyPr/>
          <a:lstStyle/>
          <a:p>
            <a:r>
              <a:rPr lang="en-US" dirty="0"/>
              <a:t>So how does this research translate to actual front office decisions?</a:t>
            </a:r>
          </a:p>
          <a:p>
            <a:endParaRPr lang="en-US" dirty="0"/>
          </a:p>
          <a:p>
            <a:r>
              <a:rPr lang="en-US" b="1" dirty="0"/>
              <a:t>Contract Negotiations:</a:t>
            </a:r>
            <a:r>
              <a:rPr lang="en-US" dirty="0"/>
              <a:t> When evaluating a multi-year deal for a 31-year-old pitcher, you can model expected velocity decline over the contract term. If the pitcher is projected to decline from 94 to 92 mph over four years, you can estimate impact and structure guarantees accordingly. Our framework provides the probability distribution for those projections.</a:t>
            </a:r>
          </a:p>
          <a:p>
            <a:endParaRPr lang="en-US" dirty="0"/>
          </a:p>
          <a:p>
            <a:r>
              <a:rPr lang="en-US" b="1" dirty="0"/>
              <a:t>Trade Deadline Decisions:</a:t>
            </a:r>
            <a:r>
              <a:rPr lang="en-US" dirty="0"/>
              <a:t> If you're considering trading for a rental starter, understanding their current trajectory matters. Is their recent velocity dip normal aging or a red flag? Changepoint detection can flag concerning drops early.</a:t>
            </a:r>
          </a:p>
          <a:p>
            <a:r>
              <a:rPr lang="en-US" b="1" dirty="0"/>
              <a:t>Extension Timing:</a:t>
            </a:r>
            <a:r>
              <a:rPr lang="en-US" dirty="0"/>
              <a:t> Our risk scores help identify optimal extension windows. A 26-year-old with clean injury history and low risk is a better extension candidate than a 28-year-old with moderate risk, even if current performance is similar.</a:t>
            </a:r>
          </a:p>
          <a:p>
            <a:endParaRPr lang="en-US" b="1" dirty="0"/>
          </a:p>
          <a:p>
            <a:r>
              <a:rPr lang="en-US" b="1" dirty="0"/>
              <a:t>Prospect Evaluation:</a:t>
            </a:r>
            <a:r>
              <a:rPr lang="en-US" dirty="0"/>
              <a:t> Young pitchers showing unusual velocity gains might be reaching physical maturity ahead of schedule, which affects their projection curve. This could be because they’re also just a dawg.</a:t>
            </a:r>
          </a:p>
          <a:p>
            <a:endParaRPr lang="en-US" dirty="0"/>
          </a:p>
          <a:p>
            <a:r>
              <a:rPr lang="en-US" b="1" dirty="0"/>
              <a:t>Medical Decision Support:</a:t>
            </a:r>
            <a:r>
              <a:rPr lang="en-US" dirty="0"/>
              <a:t> Velocity tracking post-injury can inform return-to-play decisions and help calibrate expectations for recovery timelines.</a:t>
            </a:r>
          </a:p>
          <a:p>
            <a:endParaRPr lang="en-US" dirty="0"/>
          </a:p>
          <a:p>
            <a:endParaRPr lang="en-US" dirty="0"/>
          </a:p>
          <a:p>
            <a:r>
              <a:rPr lang="en-US" dirty="0"/>
              <a:t>The key is that this provides </a:t>
            </a:r>
            <a:r>
              <a:rPr lang="en-US" i="1" dirty="0"/>
              <a:t>quantitative</a:t>
            </a:r>
            <a:r>
              <a:rPr lang="en-US" dirty="0"/>
              <a:t> input to decisions that used to rely primarily on traditional aging beliefs and past performance.</a:t>
            </a:r>
          </a:p>
          <a:p>
            <a:endParaRPr lang="en-US" dirty="0"/>
          </a:p>
          <a:p>
            <a:r>
              <a:rPr lang="en-US" dirty="0"/>
              <a:t>Transition: Now, I want to address some current limitations..</a:t>
            </a:r>
          </a:p>
          <a:p>
            <a:endParaRPr lang="en-US" dirty="0"/>
          </a:p>
        </p:txBody>
      </p:sp>
      <p:sp>
        <p:nvSpPr>
          <p:cNvPr id="4" name="Slide Number Placeholder 3">
            <a:extLst>
              <a:ext uri="{FF2B5EF4-FFF2-40B4-BE49-F238E27FC236}">
                <a16:creationId xmlns:a16="http://schemas.microsoft.com/office/drawing/2014/main" id="{E68A1F1F-D3C3-9887-4C6D-58CFD6D408A9}"/>
              </a:ext>
            </a:extLst>
          </p:cNvPr>
          <p:cNvSpPr>
            <a:spLocks noGrp="1"/>
          </p:cNvSpPr>
          <p:nvPr>
            <p:ph type="sldNum" sz="quarter" idx="5"/>
          </p:nvPr>
        </p:nvSpPr>
        <p:spPr/>
        <p:txBody>
          <a:bodyPr/>
          <a:lstStyle/>
          <a:p>
            <a:fld id="{9AB546D9-F734-4EEA-8BFB-7B6A38932749}" type="slidenum">
              <a:rPr lang="en-US" smtClean="0"/>
              <a:t>20</a:t>
            </a:fld>
            <a:endParaRPr lang="en-US"/>
          </a:p>
        </p:txBody>
      </p:sp>
    </p:spTree>
    <p:extLst>
      <p:ext uri="{BB962C8B-B14F-4D97-AF65-F5344CB8AC3E}">
        <p14:creationId xmlns:p14="http://schemas.microsoft.com/office/powerpoint/2010/main" val="37635248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86961-55A1-016F-8E3F-36671190B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8F891-784E-A3ED-4C46-6BF4875A5EE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F0F6A91-A7A4-CEE9-E07D-191BE491309B}"/>
              </a:ext>
            </a:extLst>
          </p:cNvPr>
          <p:cNvSpPr>
            <a:spLocks noGrp="1"/>
          </p:cNvSpPr>
          <p:nvPr>
            <p:ph type="body" idx="1"/>
          </p:nvPr>
        </p:nvSpPr>
        <p:spPr/>
        <p:txBody>
          <a:bodyPr/>
          <a:lstStyle/>
          <a:p>
            <a:r>
              <a:rPr lang="en-US" dirty="0"/>
              <a:t>There are several exciting directions for extending this work. (and even more that aren’t listed here!)</a:t>
            </a:r>
          </a:p>
          <a:p>
            <a:endParaRPr lang="en-US" dirty="0"/>
          </a:p>
          <a:p>
            <a:r>
              <a:rPr lang="en-US" b="1" dirty="0"/>
              <a:t>Multi-metric integration:</a:t>
            </a:r>
            <a:r>
              <a:rPr lang="en-US" dirty="0"/>
              <a:t> Combine velocity with command and movement models for comprehensive performance projections. The statistical framework is already built - we just need to refine measurement for the other metrics.</a:t>
            </a:r>
          </a:p>
          <a:p>
            <a:endParaRPr lang="en-US" dirty="0"/>
          </a:p>
          <a:p>
            <a:r>
              <a:rPr lang="en-US" b="1" dirty="0"/>
              <a:t>Workload incorporation:</a:t>
            </a:r>
            <a:r>
              <a:rPr lang="en-US" dirty="0"/>
              <a:t> Integrate pitch counts, innings, and multi-inning appearances. Workload almost certainly affects aging, and incorporating it would improve projections substantially. </a:t>
            </a:r>
          </a:p>
          <a:p>
            <a:endParaRPr lang="en-US" dirty="0"/>
          </a:p>
          <a:p>
            <a:r>
              <a:rPr lang="en-US" b="1" dirty="0"/>
              <a:t>Injury prediction:</a:t>
            </a:r>
            <a:r>
              <a:rPr lang="en-US" dirty="0"/>
              <a:t> Rather than just modeling post-injury effects, can we predict pre-injury risk? Velocity decline patterns might serve as early warning signals for UCL stress. This would require prospective validation but has enormous practical value.</a:t>
            </a:r>
          </a:p>
          <a:p>
            <a:endParaRPr lang="en-US" dirty="0"/>
          </a:p>
          <a:p>
            <a:r>
              <a:rPr lang="en-US" b="1" dirty="0"/>
              <a:t>Pitch type expansion:</a:t>
            </a:r>
            <a:r>
              <a:rPr lang="en-US" dirty="0"/>
              <a:t> Model aging curves for sliders, curveballs, changeups. Different pitch types age differently and this matters for pitcher valuation.</a:t>
            </a:r>
          </a:p>
          <a:p>
            <a:endParaRPr lang="en-US" dirty="0"/>
          </a:p>
          <a:p>
            <a:r>
              <a:rPr lang="en-US" b="1" dirty="0"/>
              <a:t>Survival modeling:</a:t>
            </a:r>
            <a:r>
              <a:rPr lang="en-US" dirty="0"/>
              <a:t> Incorporate career longevity explicitly. Right now we model velocity conditional on still pitching; we could extend to model probability of remaining in MLB.</a:t>
            </a:r>
          </a:p>
          <a:p>
            <a:endParaRPr lang="en-US" dirty="0"/>
          </a:p>
          <a:p>
            <a:r>
              <a:rPr lang="en-US" b="1" dirty="0"/>
              <a:t>Biomechanical integration:</a:t>
            </a:r>
            <a:r>
              <a:rPr lang="en-US" dirty="0"/>
              <a:t> If we could get motion capture data on delivery mechanics, we could potentially explain some of the currently unexplained variance in aging rates.</a:t>
            </a:r>
          </a:p>
          <a:p>
            <a:r>
              <a:rPr lang="en-US" dirty="0"/>
              <a:t>These extensions would require partnerships with teams who have proprietary data, but the statistical framework we've built is designed to accommodate them.</a:t>
            </a:r>
          </a:p>
          <a:p>
            <a:endParaRPr lang="en-US" b="1" dirty="0"/>
          </a:p>
          <a:p>
            <a:endParaRPr lang="en-US" b="1" dirty="0"/>
          </a:p>
          <a:p>
            <a:r>
              <a:rPr lang="en-US" b="0" dirty="0"/>
              <a:t>Transition: Let me talk about the methodological contribution..</a:t>
            </a:r>
          </a:p>
          <a:p>
            <a:endParaRPr lang="en-US" dirty="0"/>
          </a:p>
        </p:txBody>
      </p:sp>
      <p:sp>
        <p:nvSpPr>
          <p:cNvPr id="4" name="Slide Number Placeholder 3">
            <a:extLst>
              <a:ext uri="{FF2B5EF4-FFF2-40B4-BE49-F238E27FC236}">
                <a16:creationId xmlns:a16="http://schemas.microsoft.com/office/drawing/2014/main" id="{652A4D18-309E-582D-04AE-1C5BE0766C28}"/>
              </a:ext>
            </a:extLst>
          </p:cNvPr>
          <p:cNvSpPr>
            <a:spLocks noGrp="1"/>
          </p:cNvSpPr>
          <p:nvPr>
            <p:ph type="sldNum" sz="quarter" idx="5"/>
          </p:nvPr>
        </p:nvSpPr>
        <p:spPr/>
        <p:txBody>
          <a:bodyPr/>
          <a:lstStyle/>
          <a:p>
            <a:fld id="{9AB546D9-F734-4EEA-8BFB-7B6A38932749}" type="slidenum">
              <a:rPr lang="en-US" smtClean="0"/>
              <a:t>21</a:t>
            </a:fld>
            <a:endParaRPr lang="en-US"/>
          </a:p>
        </p:txBody>
      </p:sp>
    </p:spTree>
    <p:extLst>
      <p:ext uri="{BB962C8B-B14F-4D97-AF65-F5344CB8AC3E}">
        <p14:creationId xmlns:p14="http://schemas.microsoft.com/office/powerpoint/2010/main" val="3793880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 stands on the shoulders of excellent prior research. A few key citations:</a:t>
            </a:r>
          </a:p>
          <a:p>
            <a:endParaRPr lang="en-US" dirty="0"/>
          </a:p>
          <a:p>
            <a:r>
              <a:rPr lang="en-US" dirty="0"/>
              <a:t>Chris Ahmad's 2023 analysis of Tommy John velocity effects was foundational for my recovery timeline expectations.</a:t>
            </a:r>
          </a:p>
          <a:p>
            <a:endParaRPr lang="en-US" dirty="0"/>
          </a:p>
          <a:p>
            <a:r>
              <a:rPr lang="en-US" dirty="0"/>
              <a:t>Mitchel Lichtman's aging curve work established many of the baseline patterns I built on.</a:t>
            </a:r>
          </a:p>
          <a:p>
            <a:endParaRPr lang="en-US" dirty="0"/>
          </a:p>
          <a:p>
            <a:r>
              <a:rPr lang="en-US" dirty="0"/>
              <a:t>Jon </a:t>
            </a:r>
            <a:r>
              <a:rPr lang="en-US" dirty="0" err="1"/>
              <a:t>Roegele's</a:t>
            </a:r>
            <a:r>
              <a:rPr lang="en-US" dirty="0"/>
              <a:t> comprehensive Tommy John surgery database was essential - his meticulous tracking of surgical dates enabled our recovery timeline analysis. Absolute godsend.</a:t>
            </a:r>
          </a:p>
          <a:p>
            <a:endParaRPr lang="en-US" dirty="0"/>
          </a:p>
          <a:p>
            <a:r>
              <a:rPr lang="en-US" dirty="0"/>
              <a:t>Stan Conte's workload research informed our thinking about injury risk factors, even though I couldn't fully incorporate workload in this iteration.</a:t>
            </a:r>
          </a:p>
          <a:p>
            <a:endParaRPr lang="en-US" dirty="0"/>
          </a:p>
          <a:p>
            <a:r>
              <a:rPr lang="en-US" dirty="0"/>
              <a:t>And numerous academic papers on Bayesian hierarchical modeling and changepoint detection provided the statistical foundation.</a:t>
            </a:r>
          </a:p>
          <a:p>
            <a:r>
              <a:rPr lang="en-US" dirty="0"/>
              <a:t>I want to emphasize that this research is incremental - it advances the conversation but doesn't reinvent it. I’m integrating existing methods in a novel way and applying them rigorously to a specific problem.</a:t>
            </a:r>
          </a:p>
          <a:p>
            <a:endParaRPr lang="en-US" dirty="0"/>
          </a:p>
          <a:p>
            <a:endParaRPr lang="en-US" dirty="0"/>
          </a:p>
          <a:p>
            <a:r>
              <a:rPr lang="en-US" dirty="0"/>
              <a:t>Transition: With that, I'll open it up for questions...</a:t>
            </a:r>
          </a:p>
          <a:p>
            <a:endParaRPr lang="en-US" dirty="0"/>
          </a:p>
        </p:txBody>
      </p:sp>
      <p:sp>
        <p:nvSpPr>
          <p:cNvPr id="4" name="Slide Number Placeholder 3"/>
          <p:cNvSpPr>
            <a:spLocks noGrp="1"/>
          </p:cNvSpPr>
          <p:nvPr>
            <p:ph type="sldNum" sz="quarter" idx="5"/>
          </p:nvPr>
        </p:nvSpPr>
        <p:spPr/>
        <p:txBody>
          <a:bodyPr/>
          <a:lstStyle/>
          <a:p>
            <a:fld id="{9AB546D9-F734-4EEA-8BFB-7B6A38932749}" type="slidenum">
              <a:rPr lang="en-US" smtClean="0"/>
              <a:t>22</a:t>
            </a:fld>
            <a:endParaRPr lang="en-US"/>
          </a:p>
        </p:txBody>
      </p:sp>
    </p:spTree>
    <p:extLst>
      <p:ext uri="{BB962C8B-B14F-4D97-AF65-F5344CB8AC3E}">
        <p14:creationId xmlns:p14="http://schemas.microsoft.com/office/powerpoint/2010/main" val="886542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Thank you for your attention. I'm happy to take questions now, and I'll be around all day if anyone wants to discuss the methodology or applications in more detail.</a:t>
            </a:r>
          </a:p>
          <a:p>
            <a:r>
              <a:rPr lang="en-US" dirty="0"/>
              <a:t>For those interested in code replication or collaboration, please feel free to reach out, it is also available on my GitHub and website mentioned at the bottom of the slide. I’m excited about the potential for this framework and eager to see how it might be refined and extended by the community.</a:t>
            </a:r>
          </a:p>
          <a:p>
            <a:endParaRPr lang="en-US" dirty="0"/>
          </a:p>
          <a:p>
            <a:pPr defTabSz="966612">
              <a:defRPr/>
            </a:pPr>
            <a:r>
              <a:rPr lang="en-US" dirty="0"/>
              <a:t>Possible Audience Question(s): (Personal Note)</a:t>
            </a:r>
          </a:p>
          <a:p>
            <a:pPr defTabSz="966612">
              <a:defRPr/>
            </a:pPr>
            <a:endParaRPr lang="en-US" dirty="0"/>
          </a:p>
          <a:p>
            <a:r>
              <a:rPr lang="en-US" b="1" dirty="0"/>
              <a:t>If a team could only use one output from your model, what should it be?</a:t>
            </a:r>
          </a:p>
          <a:p>
            <a:r>
              <a:rPr lang="en-US" b="1" dirty="0"/>
              <a:t>-</a:t>
            </a:r>
            <a:r>
              <a:rPr lang="en-US" dirty="0"/>
              <a:t>The risk scores. They're simple, interpretable, and integrate all the information into one number. You can sort your roster by risk and immediately see who warrants close monitoring, amongst so much other things.</a:t>
            </a:r>
          </a:p>
          <a:p>
            <a:r>
              <a:rPr lang="en-US" b="1" dirty="0"/>
              <a:t>What would you need to make this truly production-ready for front offices?</a:t>
            </a:r>
            <a:r>
              <a:rPr lang="en-US" dirty="0"/>
              <a:t> </a:t>
            </a:r>
          </a:p>
          <a:p>
            <a:r>
              <a:rPr lang="en-US" dirty="0"/>
              <a:t>-Real-time integration with pitch tracking systems, incorporation of workload data, and extension to other pitch types, plus cutting edge biomechanics data surely wouldn’t hurt. Technically it’s ready, but those integrations would make it seamlessly fit into existing workflows."</a:t>
            </a:r>
          </a:p>
          <a:p>
            <a:r>
              <a:rPr lang="en-US" b="1" dirty="0"/>
              <a:t>Do you think velocity focus over-emphasizes power pitchers?</a:t>
            </a:r>
          </a:p>
          <a:p>
            <a:r>
              <a:rPr lang="en-US" b="1" dirty="0"/>
              <a:t>-</a:t>
            </a:r>
            <a:r>
              <a:rPr lang="en-US" dirty="0"/>
              <a:t>That's fair criticism. Command-and-control pitchers might age differently, and our framework wouldn't capture that. But I'd argue velocity is the most fundamental athletic capacity - even finesse pitchers need minimum velocity to be effective. So it's a useful starting point even if incomplete.</a:t>
            </a:r>
          </a:p>
          <a:p>
            <a:r>
              <a:rPr lang="en-US" b="1" dirty="0"/>
              <a:t>How would you handle relievers vs. starters differently?</a:t>
            </a:r>
          </a:p>
          <a:p>
            <a:r>
              <a:rPr lang="en-US" b="1" dirty="0"/>
              <a:t>-</a:t>
            </a:r>
            <a:r>
              <a:rPr lang="en-US" dirty="0"/>
              <a:t>Great question. Relievers might age differently because they work at higher effort levels but accumulate less volume. Future work should stratify by role. Our current model pools them together</a:t>
            </a:r>
          </a:p>
          <a:p>
            <a:br>
              <a:rPr lang="en-US" dirty="0"/>
            </a:br>
            <a:endParaRPr lang="en-US" dirty="0"/>
          </a:p>
          <a:p>
            <a:r>
              <a:rPr lang="en-US" dirty="0"/>
              <a:t>Closing Statement: The bottom line is simple: when a veteran pitcher's velocity drops, we can now answer the question 'is this aging or injury?' with quantitative precision rather than subjective judgment. That distinction has enormous practical value for roster management, contract negotiation, and player development. Thank you.</a:t>
            </a:r>
          </a:p>
          <a:p>
            <a:endParaRPr lang="en-US" dirty="0"/>
          </a:p>
          <a:p>
            <a:endParaRPr lang="en-US" dirty="0"/>
          </a:p>
        </p:txBody>
      </p:sp>
      <p:sp>
        <p:nvSpPr>
          <p:cNvPr id="4" name="Slide Number Placeholder 3"/>
          <p:cNvSpPr>
            <a:spLocks noGrp="1"/>
          </p:cNvSpPr>
          <p:nvPr>
            <p:ph type="sldNum" sz="quarter" idx="5"/>
          </p:nvPr>
        </p:nvSpPr>
        <p:spPr/>
        <p:txBody>
          <a:bodyPr/>
          <a:lstStyle/>
          <a:p>
            <a:fld id="{9AB546D9-F734-4EEA-8BFB-7B6A38932749}" type="slidenum">
              <a:rPr lang="en-US" smtClean="0"/>
              <a:t>23</a:t>
            </a:fld>
            <a:endParaRPr lang="en-US"/>
          </a:p>
        </p:txBody>
      </p:sp>
    </p:spTree>
    <p:extLst>
      <p:ext uri="{BB962C8B-B14F-4D97-AF65-F5344CB8AC3E}">
        <p14:creationId xmlns:p14="http://schemas.microsoft.com/office/powerpoint/2010/main" val="821804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4046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2025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397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5419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7294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123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043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77451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1738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0211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62343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9527244"/>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2.xm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7.jpeg"/><Relationship Id="rId7" Type="http://schemas.openxmlformats.org/officeDocument/2006/relationships/diagramColors" Target="../diagrams/colors3.xm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Rectangle 6">
            <a:extLst>
              <a:ext uri="{FF2B5EF4-FFF2-40B4-BE49-F238E27FC236}">
                <a16:creationId xmlns:a16="http://schemas.microsoft.com/office/drawing/2014/main" id="{1A03258A-52C6-4288-AA56-C3262A0D2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8" name="Straight Connector 7">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 y="0"/>
            <a:ext cx="5660909"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extBox 1"/>
          <p:cNvSpPr txBox="1"/>
          <p:nvPr/>
        </p:nvSpPr>
        <p:spPr>
          <a:xfrm>
            <a:off x="438912" y="2236304"/>
            <a:ext cx="4867501" cy="3652667"/>
          </a:xfrm>
          <a:prstGeom prst="rect">
            <a:avLst/>
          </a:prstGeom>
        </p:spPr>
        <p:txBody>
          <a:bodyPr vert="horz" lIns="0" tIns="45720" rIns="0" bIns="45720" rtlCol="0">
            <a:normAutofit/>
          </a:bodyPr>
          <a:lstStyle/>
          <a:p>
            <a:pPr defTabSz="914400">
              <a:lnSpc>
                <a:spcPct val="90000"/>
              </a:lnSpc>
              <a:spcAft>
                <a:spcPts val="600"/>
              </a:spcAft>
              <a:buClr>
                <a:schemeClr val="accent1"/>
              </a:buClr>
              <a:buFont typeface="Calibri" panose="020F0502020204030204" pitchFamily="34" charset="0"/>
              <a:defRPr sz="3200" b="1">
                <a:solidFill>
                  <a:srgbClr val="FFFFFF"/>
                </a:solidFill>
              </a:defRPr>
            </a:pPr>
            <a:r>
              <a:rPr lang="en-US" sz="4400" dirty="0">
                <a:solidFill>
                  <a:srgbClr val="FFFFFF"/>
                </a:solidFill>
              </a:rPr>
              <a:t>Beyond the Aging Curve:</a:t>
            </a:r>
          </a:p>
          <a:p>
            <a:pPr defTabSz="914400">
              <a:lnSpc>
                <a:spcPct val="90000"/>
              </a:lnSpc>
              <a:spcAft>
                <a:spcPts val="600"/>
              </a:spcAft>
              <a:buClr>
                <a:schemeClr val="accent1"/>
              </a:buClr>
              <a:buFont typeface="Calibri" panose="020F0502020204030204" pitchFamily="34" charset="0"/>
            </a:pPr>
            <a:endParaRPr lang="en-US" dirty="0">
              <a:solidFill>
                <a:srgbClr val="FFFFFF"/>
              </a:solidFill>
            </a:endParaRPr>
          </a:p>
          <a:p>
            <a:pPr defTabSz="914400">
              <a:lnSpc>
                <a:spcPct val="90000"/>
              </a:lnSpc>
              <a:spcAft>
                <a:spcPts val="600"/>
              </a:spcAft>
              <a:buClr>
                <a:schemeClr val="accent1"/>
              </a:buClr>
              <a:buFont typeface="Calibri" panose="020F0502020204030204" pitchFamily="34" charset="0"/>
            </a:pPr>
            <a:r>
              <a:rPr lang="en-US" dirty="0">
                <a:solidFill>
                  <a:srgbClr val="FFFFFF"/>
                </a:solidFill>
              </a:rPr>
              <a:t>A Bayesian Framework for Distinguishing and </a:t>
            </a:r>
            <a:r>
              <a:rPr lang="en-US" dirty="0"/>
              <a:t>Quantifying Injury vs. Natural Decline in MLB Pitchers</a:t>
            </a:r>
            <a:endParaRPr lang="en-US" dirty="0">
              <a:solidFill>
                <a:srgbClr val="FFFFFF"/>
              </a:solidFill>
            </a:endParaRPr>
          </a:p>
        </p:txBody>
      </p:sp>
      <p:sp>
        <p:nvSpPr>
          <p:cNvPr id="12" name="Rectangle 11">
            <a:extLst>
              <a:ext uri="{FF2B5EF4-FFF2-40B4-BE49-F238E27FC236}">
                <a16:creationId xmlns:a16="http://schemas.microsoft.com/office/drawing/2014/main" id="{5840D933-6A23-4815-B24F-F628EB389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0920" y="0"/>
            <a:ext cx="48006" cy="6858000"/>
          </a:xfrm>
          <a:prstGeom prst="rect">
            <a:avLst/>
          </a:prstGeom>
          <a:solidFill>
            <a:srgbClr val="E0918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4" name="Picture 13" descr="Close up of a baseball ball">
            <a:extLst>
              <a:ext uri="{FF2B5EF4-FFF2-40B4-BE49-F238E27FC236}">
                <a16:creationId xmlns:a16="http://schemas.microsoft.com/office/drawing/2014/main" id="{6490CDB6-A31F-A3C3-4795-22B6B8A884B0}"/>
              </a:ext>
            </a:extLst>
          </p:cNvPr>
          <p:cNvPicPr>
            <a:picLocks noChangeAspect="1"/>
          </p:cNvPicPr>
          <p:nvPr/>
        </p:nvPicPr>
        <p:blipFill>
          <a:blip r:embed="rId3"/>
          <a:srcRect l="32245" r="30189"/>
          <a:stretch>
            <a:fillRect/>
          </a:stretch>
        </p:blipFill>
        <p:spPr>
          <a:xfrm>
            <a:off x="5708926" y="10"/>
            <a:ext cx="3435073" cy="6857990"/>
          </a:xfrm>
          <a:prstGeom prst="rect">
            <a:avLst/>
          </a:prstGeom>
        </p:spPr>
      </p:pic>
      <p:sp>
        <p:nvSpPr>
          <p:cNvPr id="3" name="TextBox 2"/>
          <p:cNvSpPr txBox="1"/>
          <p:nvPr/>
        </p:nvSpPr>
        <p:spPr>
          <a:xfrm>
            <a:off x="1463024" y="6387429"/>
            <a:ext cx="2560316" cy="446276"/>
          </a:xfrm>
          <a:prstGeom prst="rect">
            <a:avLst/>
          </a:prstGeom>
          <a:noFill/>
        </p:spPr>
        <p:txBody>
          <a:bodyPr wrap="none">
            <a:spAutoFit/>
          </a:bodyPr>
          <a:lstStyle/>
          <a:p>
            <a:pPr algn="ctr">
              <a:spcAft>
                <a:spcPts val="600"/>
              </a:spcAft>
              <a:defRPr sz="1800">
                <a:solidFill>
                  <a:srgbClr val="FFFFFF"/>
                </a:solidFill>
              </a:defRPr>
            </a:pPr>
            <a:r>
              <a:rPr lang="en-US" sz="900" dirty="0"/>
              <a:t>Nickolas Bartle | Saberseminar 2026</a:t>
            </a:r>
          </a:p>
          <a:p>
            <a:pPr algn="ctr">
              <a:spcAft>
                <a:spcPts val="600"/>
              </a:spcAft>
              <a:defRPr sz="1800">
                <a:solidFill>
                  <a:srgbClr val="FFFFFF"/>
                </a:solidFill>
              </a:defRPr>
            </a:pPr>
            <a:r>
              <a:rPr lang="en-US" sz="900" dirty="0"/>
              <a:t>Baltimore Ravens | Wake Forest Baseball Analytics</a:t>
            </a:r>
          </a:p>
        </p:txBody>
      </p:sp>
      <p:sp>
        <p:nvSpPr>
          <p:cNvPr id="4" name="Rectangle 3">
            <a:extLst>
              <a:ext uri="{FF2B5EF4-FFF2-40B4-BE49-F238E27FC236}">
                <a16:creationId xmlns:a16="http://schemas.microsoft.com/office/drawing/2014/main" id="{0076D623-05FF-181E-984F-EDDE30C8461B}"/>
              </a:ext>
            </a:extLst>
          </p:cNvPr>
          <p:cNvSpPr/>
          <p:nvPr/>
        </p:nvSpPr>
        <p:spPr>
          <a:xfrm>
            <a:off x="5660920" y="0"/>
            <a:ext cx="48006" cy="6858000"/>
          </a:xfrm>
          <a:prstGeom prst="rect">
            <a:avLst/>
          </a:prstGeom>
          <a:solidFill>
            <a:srgbClr val="007DDA"/>
          </a:solidFill>
          <a:ln>
            <a:solidFill>
              <a:srgbClr val="007D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pic>
        <p:nvPicPr>
          <p:cNvPr id="9501" name="Picture 4" descr="Close-up of a baseball&#10;&#10;AI-generated content may be incorrect.">
            <a:extLst>
              <a:ext uri="{FF2B5EF4-FFF2-40B4-BE49-F238E27FC236}">
                <a16:creationId xmlns:a16="http://schemas.microsoft.com/office/drawing/2014/main" id="{BEC51A65-3D64-CFA8-AE9C-9D5679B8540C}"/>
              </a:ext>
            </a:extLst>
          </p:cNvPr>
          <p:cNvPicPr>
            <a:picLocks noChangeAspect="1"/>
          </p:cNvPicPr>
          <p:nvPr/>
        </p:nvPicPr>
        <p:blipFill>
          <a:blip r:embed="rId3">
            <a:duotone>
              <a:prstClr val="black"/>
              <a:schemeClr val="tx2">
                <a:tint val="45000"/>
                <a:satMod val="400000"/>
              </a:schemeClr>
            </a:duotone>
            <a:alphaModFix amt="20000"/>
          </a:blip>
          <a:srcRect l="49984" r="-1"/>
          <a:stretch>
            <a:fillRect/>
          </a:stretch>
        </p:blipFill>
        <p:spPr>
          <a:xfrm>
            <a:off x="3076575" y="11"/>
            <a:ext cx="6067425" cy="6333997"/>
          </a:xfrm>
          <a:prstGeom prst="rect">
            <a:avLst/>
          </a:prstGeom>
        </p:spPr>
      </p:pic>
      <p:sp>
        <p:nvSpPr>
          <p:cNvPr id="3" name="Content Placeholder 2">
            <a:extLst>
              <a:ext uri="{FF2B5EF4-FFF2-40B4-BE49-F238E27FC236}">
                <a16:creationId xmlns:a16="http://schemas.microsoft.com/office/drawing/2014/main" id="{A6FE7A9C-BFEF-9999-AD8D-51561E077C20}"/>
              </a:ext>
            </a:extLst>
          </p:cNvPr>
          <p:cNvSpPr>
            <a:spLocks noGrp="1"/>
          </p:cNvSpPr>
          <p:nvPr>
            <p:ph idx="1"/>
          </p:nvPr>
        </p:nvSpPr>
        <p:spPr>
          <a:xfrm>
            <a:off x="3512315" y="1047404"/>
            <a:ext cx="4869180" cy="5257800"/>
          </a:xfrm>
        </p:spPr>
        <p:txBody>
          <a:bodyPr>
            <a:normAutofit/>
          </a:bodyPr>
          <a:lstStyle/>
          <a:p>
            <a:pPr marL="0" indent="0">
              <a:lnSpc>
                <a:spcPct val="85000"/>
              </a:lnSpc>
              <a:spcBef>
                <a:spcPct val="0"/>
              </a:spcBef>
              <a:spcAft>
                <a:spcPts val="600"/>
              </a:spcAft>
              <a:buNone/>
              <a:defRPr sz="2800" b="1">
                <a:solidFill>
                  <a:srgbClr val="FFFFFF"/>
                </a:solidFill>
              </a:defRPr>
            </a:pPr>
            <a:r>
              <a:rPr lang="en-US" sz="4800" b="1" spc="-50" dirty="0">
                <a:solidFill>
                  <a:srgbClr val="FFFFFF"/>
                </a:solidFill>
                <a:latin typeface="+mj-lt"/>
                <a:ea typeface="+mj-ea"/>
                <a:cs typeface="+mj-cs"/>
              </a:rPr>
              <a:t>About Me</a:t>
            </a:r>
          </a:p>
        </p:txBody>
      </p:sp>
      <p:sp>
        <p:nvSpPr>
          <p:cNvPr id="4" name="Text Placeholder 3">
            <a:extLst>
              <a:ext uri="{FF2B5EF4-FFF2-40B4-BE49-F238E27FC236}">
                <a16:creationId xmlns:a16="http://schemas.microsoft.com/office/drawing/2014/main" id="{8E08F0C8-8104-A0D8-6B7D-6E0B551065AE}"/>
              </a:ext>
            </a:extLst>
          </p:cNvPr>
          <p:cNvSpPr>
            <a:spLocks noGrp="1"/>
          </p:cNvSpPr>
          <p:nvPr>
            <p:ph type="body" sz="half" idx="2"/>
          </p:nvPr>
        </p:nvSpPr>
        <p:spPr>
          <a:xfrm>
            <a:off x="221025" y="2661934"/>
            <a:ext cx="2644050" cy="2362017"/>
          </a:xfrm>
        </p:spPr>
        <p:txBody>
          <a:bodyPr>
            <a:normAutofit/>
          </a:bodyPr>
          <a:lstStyle/>
          <a:p>
            <a:pPr algn="ctr"/>
            <a:r>
              <a:rPr lang="en-US" sz="2000" dirty="0"/>
              <a:t>Nickolas Bartle</a:t>
            </a:r>
            <a:endParaRPr lang="en-US" dirty="0"/>
          </a:p>
          <a:p>
            <a:pPr algn="just">
              <a:lnSpc>
                <a:spcPct val="20000"/>
              </a:lnSpc>
            </a:pPr>
            <a:endParaRPr lang="en-US" dirty="0"/>
          </a:p>
          <a:p>
            <a:pPr algn="just">
              <a:lnSpc>
                <a:spcPct val="20000"/>
              </a:lnSpc>
            </a:pPr>
            <a:r>
              <a:rPr lang="en-US" dirty="0"/>
              <a:t>Business Strategy </a:t>
            </a:r>
          </a:p>
          <a:p>
            <a:pPr algn="just">
              <a:lnSpc>
                <a:spcPct val="20000"/>
              </a:lnSpc>
            </a:pPr>
            <a:r>
              <a:rPr lang="en-US" dirty="0"/>
              <a:t>&amp; Analytics Associate</a:t>
            </a:r>
          </a:p>
          <a:p>
            <a:pPr algn="just">
              <a:lnSpc>
                <a:spcPct val="20000"/>
              </a:lnSpc>
            </a:pPr>
            <a:r>
              <a:rPr lang="en-US" dirty="0"/>
              <a:t>Baltimore Ravens</a:t>
            </a:r>
          </a:p>
          <a:p>
            <a:pPr algn="just">
              <a:lnSpc>
                <a:spcPct val="20000"/>
              </a:lnSpc>
            </a:pPr>
            <a:r>
              <a:rPr lang="en-US" dirty="0"/>
              <a:t>nickbartle2@gmail.com</a:t>
            </a:r>
          </a:p>
          <a:p>
            <a:pPr algn="just">
              <a:lnSpc>
                <a:spcPct val="20000"/>
              </a:lnSpc>
            </a:pPr>
            <a:r>
              <a:rPr lang="en-US" dirty="0"/>
              <a:t>M: (919) 656-2434</a:t>
            </a:r>
          </a:p>
          <a:p>
            <a:pPr algn="just">
              <a:lnSpc>
                <a:spcPct val="20000"/>
              </a:lnSpc>
            </a:pPr>
            <a:endParaRPr lang="en-US" dirty="0"/>
          </a:p>
          <a:p>
            <a:pPr algn="just">
              <a:lnSpc>
                <a:spcPct val="20000"/>
              </a:lnSpc>
            </a:pPr>
            <a:endParaRPr lang="en-US" dirty="0"/>
          </a:p>
          <a:p>
            <a:pPr algn="just">
              <a:lnSpc>
                <a:spcPct val="20000"/>
              </a:lnSpc>
            </a:pPr>
            <a:endParaRPr lang="en-US" dirty="0"/>
          </a:p>
          <a:p>
            <a:pPr algn="just">
              <a:lnSpc>
                <a:spcPct val="20000"/>
              </a:lnSpc>
            </a:pPr>
            <a:endParaRPr lang="en-US" dirty="0"/>
          </a:p>
        </p:txBody>
      </p:sp>
      <p:grpSp>
        <p:nvGrpSpPr>
          <p:cNvPr id="9" name="Group 8">
            <a:extLst>
              <a:ext uri="{FF2B5EF4-FFF2-40B4-BE49-F238E27FC236}">
                <a16:creationId xmlns:a16="http://schemas.microsoft.com/office/drawing/2014/main" id="{01AE1AEE-5904-DF33-4A78-9B8947343073}"/>
              </a:ext>
            </a:extLst>
          </p:cNvPr>
          <p:cNvGrpSpPr/>
          <p:nvPr/>
        </p:nvGrpSpPr>
        <p:grpSpPr>
          <a:xfrm>
            <a:off x="3405860" y="3336906"/>
            <a:ext cx="4680521" cy="1323439"/>
            <a:chOff x="3405860" y="2077173"/>
            <a:chExt cx="4680521" cy="1323439"/>
          </a:xfrm>
        </p:grpSpPr>
        <p:pic>
          <p:nvPicPr>
            <p:cNvPr id="7" name="Picture 6">
              <a:extLst>
                <a:ext uri="{FF2B5EF4-FFF2-40B4-BE49-F238E27FC236}">
                  <a16:creationId xmlns:a16="http://schemas.microsoft.com/office/drawing/2014/main" id="{FE039A7D-8712-0EFC-01D1-2EEF69EAB08A}"/>
                </a:ext>
              </a:extLst>
            </p:cNvPr>
            <p:cNvPicPr>
              <a:picLocks noChangeAspect="1"/>
            </p:cNvPicPr>
            <p:nvPr/>
          </p:nvPicPr>
          <p:blipFill>
            <a:blip r:embed="rId4"/>
            <a:stretch>
              <a:fillRect/>
            </a:stretch>
          </p:blipFill>
          <p:spPr>
            <a:xfrm>
              <a:off x="3405860" y="2442421"/>
              <a:ext cx="794018" cy="562165"/>
            </a:xfrm>
            <a:prstGeom prst="rect">
              <a:avLst/>
            </a:prstGeom>
          </p:spPr>
        </p:pic>
        <p:sp>
          <p:nvSpPr>
            <p:cNvPr id="8" name="TextBox 7">
              <a:extLst>
                <a:ext uri="{FF2B5EF4-FFF2-40B4-BE49-F238E27FC236}">
                  <a16:creationId xmlns:a16="http://schemas.microsoft.com/office/drawing/2014/main" id="{9B89F5BD-D8A1-4D20-352D-E19841CEAC79}"/>
                </a:ext>
              </a:extLst>
            </p:cNvPr>
            <p:cNvSpPr txBox="1"/>
            <p:nvPr/>
          </p:nvSpPr>
          <p:spPr>
            <a:xfrm>
              <a:off x="4340646" y="2077173"/>
              <a:ext cx="3745735" cy="1323439"/>
            </a:xfrm>
            <a:prstGeom prst="rect">
              <a:avLst/>
            </a:prstGeom>
            <a:noFill/>
          </p:spPr>
          <p:txBody>
            <a:bodyPr wrap="square" rtlCol="0">
              <a:spAutoFit/>
            </a:bodyPr>
            <a:lstStyle/>
            <a:p>
              <a:r>
                <a:rPr lang="en-US" sz="1600" b="1" dirty="0"/>
                <a:t>I served as graduate analyst for Wake Forest Baseball, while completing my MSBA in May 2026. I primarily worked in pitching analytics and predictive modeling.</a:t>
              </a:r>
            </a:p>
          </p:txBody>
        </p:sp>
      </p:grpSp>
      <p:grpSp>
        <p:nvGrpSpPr>
          <p:cNvPr id="14" name="Group 13">
            <a:extLst>
              <a:ext uri="{FF2B5EF4-FFF2-40B4-BE49-F238E27FC236}">
                <a16:creationId xmlns:a16="http://schemas.microsoft.com/office/drawing/2014/main" id="{7F6A0930-69A7-4300-F5CD-DD789705CB5B}"/>
              </a:ext>
            </a:extLst>
          </p:cNvPr>
          <p:cNvGrpSpPr/>
          <p:nvPr/>
        </p:nvGrpSpPr>
        <p:grpSpPr>
          <a:xfrm>
            <a:off x="3003169" y="4863516"/>
            <a:ext cx="5399900" cy="1077218"/>
            <a:chOff x="3003169" y="3106942"/>
            <a:chExt cx="5399900" cy="1077218"/>
          </a:xfrm>
        </p:grpSpPr>
        <p:pic>
          <p:nvPicPr>
            <p:cNvPr id="1034" name="Picture 10" descr="Alabama Crimson Tide Logo and symbol, meaning, history, PNG, brand">
              <a:extLst>
                <a:ext uri="{FF2B5EF4-FFF2-40B4-BE49-F238E27FC236}">
                  <a16:creationId xmlns:a16="http://schemas.microsoft.com/office/drawing/2014/main" id="{543EA55A-C781-7377-C3D1-8C067540B0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3169" y="3195581"/>
              <a:ext cx="1599400" cy="89994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9FDDC87-E83F-82CB-C3CA-A1B9E0128D75}"/>
                </a:ext>
              </a:extLst>
            </p:cNvPr>
            <p:cNvSpPr txBox="1"/>
            <p:nvPr/>
          </p:nvSpPr>
          <p:spPr>
            <a:xfrm>
              <a:off x="4362220" y="3106942"/>
              <a:ext cx="4040849" cy="1077218"/>
            </a:xfrm>
            <a:prstGeom prst="rect">
              <a:avLst/>
            </a:prstGeom>
            <a:noFill/>
          </p:spPr>
          <p:txBody>
            <a:bodyPr wrap="square" rtlCol="0">
              <a:spAutoFit/>
            </a:bodyPr>
            <a:lstStyle/>
            <a:p>
              <a:r>
                <a:rPr lang="en-US" sz="1600" b="1" dirty="0"/>
                <a:t>I served as a baseball analyst for Alabama Baseball, while also completing my undergraduate Bachelor’s of Science in Management Information Systems.</a:t>
              </a:r>
            </a:p>
          </p:txBody>
        </p:sp>
      </p:grpSp>
      <p:pic>
        <p:nvPicPr>
          <p:cNvPr id="15" name="Picture 14">
            <a:extLst>
              <a:ext uri="{FF2B5EF4-FFF2-40B4-BE49-F238E27FC236}">
                <a16:creationId xmlns:a16="http://schemas.microsoft.com/office/drawing/2014/main" id="{28A59C8F-6B99-4482-F8D6-302155DDAFEC}"/>
              </a:ext>
            </a:extLst>
          </p:cNvPr>
          <p:cNvPicPr>
            <a:picLocks noChangeAspect="1"/>
          </p:cNvPicPr>
          <p:nvPr/>
        </p:nvPicPr>
        <p:blipFill>
          <a:blip r:embed="rId6"/>
          <a:stretch>
            <a:fillRect/>
          </a:stretch>
        </p:blipFill>
        <p:spPr>
          <a:xfrm>
            <a:off x="632702" y="425561"/>
            <a:ext cx="1820696" cy="2146326"/>
          </a:xfrm>
          <a:prstGeom prst="rect">
            <a:avLst/>
          </a:prstGeom>
        </p:spPr>
      </p:pic>
      <p:grpSp>
        <p:nvGrpSpPr>
          <p:cNvPr id="24" name="Group 23">
            <a:extLst>
              <a:ext uri="{FF2B5EF4-FFF2-40B4-BE49-F238E27FC236}">
                <a16:creationId xmlns:a16="http://schemas.microsoft.com/office/drawing/2014/main" id="{6FF84C52-9233-67A0-A77B-A26ADCCF4A35}"/>
              </a:ext>
            </a:extLst>
          </p:cNvPr>
          <p:cNvGrpSpPr/>
          <p:nvPr/>
        </p:nvGrpSpPr>
        <p:grpSpPr>
          <a:xfrm>
            <a:off x="148501" y="6365910"/>
            <a:ext cx="4880699" cy="430037"/>
            <a:chOff x="148501" y="6365910"/>
            <a:chExt cx="4880699" cy="430037"/>
          </a:xfrm>
        </p:grpSpPr>
        <p:sp>
          <p:nvSpPr>
            <p:cNvPr id="21" name="TextBox 20">
              <a:extLst>
                <a:ext uri="{FF2B5EF4-FFF2-40B4-BE49-F238E27FC236}">
                  <a16:creationId xmlns:a16="http://schemas.microsoft.com/office/drawing/2014/main" id="{25A75757-CCFE-A5C8-36A9-AA05996A6503}"/>
                </a:ext>
              </a:extLst>
            </p:cNvPr>
            <p:cNvSpPr txBox="1"/>
            <p:nvPr/>
          </p:nvSpPr>
          <p:spPr>
            <a:xfrm>
              <a:off x="457200" y="6365910"/>
              <a:ext cx="4572000" cy="246221"/>
            </a:xfrm>
            <a:prstGeom prst="rect">
              <a:avLst/>
            </a:prstGeom>
            <a:noFill/>
          </p:spPr>
          <p:txBody>
            <a:bodyPr wrap="square">
              <a:spAutoFit/>
            </a:bodyPr>
            <a:lstStyle/>
            <a:p>
              <a:r>
                <a:rPr lang="en-US" sz="1000" i="1" dirty="0"/>
                <a:t>linkedin.com/in/nickolasbartle/</a:t>
              </a:r>
            </a:p>
          </p:txBody>
        </p:sp>
        <p:sp>
          <p:nvSpPr>
            <p:cNvPr id="23" name="TextBox 22">
              <a:extLst>
                <a:ext uri="{FF2B5EF4-FFF2-40B4-BE49-F238E27FC236}">
                  <a16:creationId xmlns:a16="http://schemas.microsoft.com/office/drawing/2014/main" id="{3B2ADB6C-8672-0667-9E7C-63ABAD8D20BA}"/>
                </a:ext>
              </a:extLst>
            </p:cNvPr>
            <p:cNvSpPr txBox="1"/>
            <p:nvPr/>
          </p:nvSpPr>
          <p:spPr>
            <a:xfrm>
              <a:off x="148501" y="6549726"/>
              <a:ext cx="4572000" cy="246221"/>
            </a:xfrm>
            <a:prstGeom prst="rect">
              <a:avLst/>
            </a:prstGeom>
            <a:noFill/>
          </p:spPr>
          <p:txBody>
            <a:bodyPr wrap="square">
              <a:spAutoFit/>
            </a:bodyPr>
            <a:lstStyle/>
            <a:p>
              <a:r>
                <a:rPr lang="en-US" sz="1000" b="0" i="1" dirty="0">
                  <a:effectLst/>
                </a:rPr>
                <a:t>https://nbartle26.github.io/DigitalPortfolio/</a:t>
              </a:r>
              <a:endParaRPr lang="en-US" sz="1000" i="1" dirty="0"/>
            </a:p>
          </p:txBody>
        </p:sp>
      </p:grpSp>
      <p:sp>
        <p:nvSpPr>
          <p:cNvPr id="6" name="TextBox 5">
            <a:extLst>
              <a:ext uri="{FF2B5EF4-FFF2-40B4-BE49-F238E27FC236}">
                <a16:creationId xmlns:a16="http://schemas.microsoft.com/office/drawing/2014/main" id="{05F93FDE-2A4B-6808-A9E1-3E27139620FC}"/>
              </a:ext>
            </a:extLst>
          </p:cNvPr>
          <p:cNvSpPr txBox="1"/>
          <p:nvPr/>
        </p:nvSpPr>
        <p:spPr>
          <a:xfrm>
            <a:off x="4340646" y="1924828"/>
            <a:ext cx="3927054" cy="1323439"/>
          </a:xfrm>
          <a:prstGeom prst="rect">
            <a:avLst/>
          </a:prstGeom>
          <a:noFill/>
        </p:spPr>
        <p:txBody>
          <a:bodyPr wrap="square" rtlCol="0">
            <a:spAutoFit/>
          </a:bodyPr>
          <a:lstStyle/>
          <a:p>
            <a:r>
              <a:rPr lang="en-US" sz="1600" b="1" dirty="0"/>
              <a:t>I’m a current Business Strategy &amp; Analytics Associate for the Baltimore Ravens. I primarily focus on building dashboards, constructing predictive models, and database structure.</a:t>
            </a:r>
          </a:p>
        </p:txBody>
      </p:sp>
      <p:pic>
        <p:nvPicPr>
          <p:cNvPr id="10" name="Picture 9">
            <a:extLst>
              <a:ext uri="{FF2B5EF4-FFF2-40B4-BE49-F238E27FC236}">
                <a16:creationId xmlns:a16="http://schemas.microsoft.com/office/drawing/2014/main" id="{CF619274-2E74-9CA3-72CC-25420F93258D}"/>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4500" b="90000" l="6250" r="96000">
                        <a14:foregroundMark x1="63000" y1="52000" x2="89000" y2="48500"/>
                        <a14:foregroundMark x1="92250" y1="55500" x2="92250" y2="55500"/>
                        <a14:foregroundMark x1="83000" y1="63500" x2="83000" y2="63500"/>
                        <a14:foregroundMark x1="85750" y1="62500" x2="85750" y2="60500"/>
                        <a14:foregroundMark x1="85000" y1="59500" x2="75250" y2="59500"/>
                        <a14:foregroundMark x1="70250" y1="58500" x2="66750" y2="36500"/>
                        <a14:foregroundMark x1="61750" y1="26000" x2="59000" y2="56500"/>
                        <a14:foregroundMark x1="59250" y1="29500" x2="31750" y2="11500"/>
                        <a14:foregroundMark x1="53750" y1="12500" x2="43750" y2="4500"/>
                        <a14:foregroundMark x1="46000" y1="26000" x2="31000" y2="41500"/>
                        <a14:foregroundMark x1="32250" y1="24500" x2="43750" y2="34500"/>
                        <a14:foregroundMark x1="54000" y1="31500" x2="37000" y2="42500"/>
                        <a14:foregroundMark x1="37000" y1="42500" x2="88250" y2="63000"/>
                        <a14:foregroundMark x1="88250" y1="63000" x2="90000" y2="61500"/>
                        <a14:foregroundMark x1="54250" y1="24500" x2="38500" y2="13500"/>
                        <a14:foregroundMark x1="38500" y1="13500" x2="26250" y2="24500"/>
                        <a14:foregroundMark x1="26250" y1="24500" x2="39750" y2="17000"/>
                        <a14:foregroundMark x1="39750" y1="17000" x2="30750" y2="40500"/>
                        <a14:foregroundMark x1="30750" y1="40500" x2="45750" y2="48500"/>
                        <a14:foregroundMark x1="45750" y1="48500" x2="47000" y2="48500"/>
                        <a14:foregroundMark x1="46250" y1="12500" x2="46750" y2="18000"/>
                        <a14:foregroundMark x1="54250" y1="18000" x2="52000" y2="18000"/>
                        <a14:foregroundMark x1="35750" y1="47500" x2="37250" y2="50500"/>
                        <a14:foregroundMark x1="94250" y1="52000" x2="96000" y2="56000"/>
                        <a14:backgroundMark x1="13000" y1="48000" x2="7750" y2="49500"/>
                        <a14:backgroundMark x1="11750" y1="44500" x2="11750" y2="44500"/>
                        <a14:backgroundMark x1="13000" y1="44000" x2="10750" y2="46000"/>
                        <a14:backgroundMark x1="8000" y1="48000" x2="2750" y2="54500"/>
                      </a14:backgroundRemoval>
                    </a14:imgEffect>
                  </a14:imgLayer>
                </a14:imgProps>
              </a:ext>
            </a:extLst>
          </a:blip>
          <a:stretch>
            <a:fillRect/>
          </a:stretch>
        </p:blipFill>
        <p:spPr>
          <a:xfrm>
            <a:off x="3216316" y="2260926"/>
            <a:ext cx="1124330" cy="562165"/>
          </a:xfrm>
          <a:prstGeom prst="rect">
            <a:avLst/>
          </a:prstGeom>
        </p:spPr>
      </p:pic>
    </p:spTree>
    <p:extLst>
      <p:ext uri="{BB962C8B-B14F-4D97-AF65-F5344CB8AC3E}">
        <p14:creationId xmlns:p14="http://schemas.microsoft.com/office/powerpoint/2010/main" val="96290337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DE3B1B8-DC38-48E8-8C31-EF790659B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 name="Rectangle 26">
            <a:extLst>
              <a:ext uri="{FF2B5EF4-FFF2-40B4-BE49-F238E27FC236}">
                <a16:creationId xmlns:a16="http://schemas.microsoft.com/office/drawing/2014/main" id="{9E63FFFE-1DB2-4A0F-B495-35782F1622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9502" name="Picture 4" descr="Close-up of a baseball&#10;&#10;AI-generated content may be incorrect.">
            <a:extLst>
              <a:ext uri="{FF2B5EF4-FFF2-40B4-BE49-F238E27FC236}">
                <a16:creationId xmlns:a16="http://schemas.microsoft.com/office/drawing/2014/main" id="{BEC51A65-3D64-CFA8-AE9C-9D5679B8540C}"/>
              </a:ext>
            </a:extLst>
          </p:cNvPr>
          <p:cNvPicPr>
            <a:picLocks noChangeAspect="1"/>
          </p:cNvPicPr>
          <p:nvPr/>
        </p:nvPicPr>
        <p:blipFill>
          <a:blip r:embed="rId3">
            <a:duotone>
              <a:prstClr val="black"/>
              <a:schemeClr val="tx2">
                <a:tint val="45000"/>
                <a:satMod val="400000"/>
              </a:schemeClr>
            </a:duotone>
            <a:alphaModFix amt="35000"/>
          </a:blip>
          <a:srcRect l="25000"/>
          <a:stretch>
            <a:fillRect/>
          </a:stretch>
        </p:blipFill>
        <p:spPr>
          <a:xfrm>
            <a:off x="20" y="10"/>
            <a:ext cx="9143980" cy="6857991"/>
          </a:xfrm>
          <a:prstGeom prst="rect">
            <a:avLst/>
          </a:prstGeom>
        </p:spPr>
      </p:pic>
      <p:cxnSp>
        <p:nvCxnSpPr>
          <p:cNvPr id="29" name="Straight Connector 28">
            <a:extLst>
              <a:ext uri="{FF2B5EF4-FFF2-40B4-BE49-F238E27FC236}">
                <a16:creationId xmlns:a16="http://schemas.microsoft.com/office/drawing/2014/main" id="{32BB9A07-8AB8-4D82-B3BC-B500DDEC79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1" name="Rectangle 30">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822960" y="286603"/>
            <a:ext cx="7543800" cy="1450757"/>
          </a:xfrm>
          <a:prstGeom prst="rect">
            <a:avLst/>
          </a:prstGeom>
        </p:spPr>
        <p:txBody>
          <a:bodyPr vert="horz" lIns="91440" tIns="45720" rIns="91440" bIns="45720" rtlCol="0" anchor="b">
            <a:normAutofit/>
          </a:bodyPr>
          <a:lstStyle/>
          <a:p>
            <a:pPr defTabSz="914400">
              <a:lnSpc>
                <a:spcPct val="85000"/>
              </a:lnSpc>
              <a:spcBef>
                <a:spcPct val="0"/>
              </a:spcBef>
              <a:spcAft>
                <a:spcPts val="600"/>
              </a:spcAft>
              <a:defRPr sz="2800" b="1">
                <a:solidFill>
                  <a:srgbClr val="FFFFFF"/>
                </a:solidFill>
              </a:defRPr>
            </a:pPr>
            <a:r>
              <a:rPr lang="en-US" sz="4000" b="1" spc="-50">
                <a:solidFill>
                  <a:srgbClr val="FFFFFF"/>
                </a:solidFill>
                <a:latin typeface="+mj-lt"/>
                <a:ea typeface="+mj-ea"/>
                <a:cs typeface="+mj-cs"/>
              </a:rPr>
              <a:t>Research Question</a:t>
            </a:r>
            <a:endParaRPr lang="en-US" sz="4000" b="1" spc="-50" dirty="0">
              <a:solidFill>
                <a:srgbClr val="FFFFFF"/>
              </a:solidFill>
              <a:latin typeface="+mj-lt"/>
              <a:ea typeface="+mj-ea"/>
              <a:cs typeface="+mj-cs"/>
            </a:endParaRPr>
          </a:p>
        </p:txBody>
      </p:sp>
      <p:pic>
        <p:nvPicPr>
          <p:cNvPr id="5" name="Picture 4" descr="Close-up of baseball on infield">
            <a:extLst>
              <a:ext uri="{FF2B5EF4-FFF2-40B4-BE49-F238E27FC236}">
                <a16:creationId xmlns:a16="http://schemas.microsoft.com/office/drawing/2014/main" id="{8CCF8E07-AC2B-624C-4C11-657BBCFB042B}"/>
              </a:ext>
            </a:extLst>
          </p:cNvPr>
          <p:cNvPicPr>
            <a:picLocks noChangeAspect="1"/>
          </p:cNvPicPr>
          <p:nvPr/>
        </p:nvPicPr>
        <p:blipFill>
          <a:blip r:embed="rId4">
            <a:duotone>
              <a:prstClr val="black"/>
              <a:schemeClr val="tx2">
                <a:tint val="45000"/>
                <a:satMod val="400000"/>
              </a:schemeClr>
            </a:duotone>
            <a:alphaModFix amt="20000"/>
          </a:blip>
          <a:srcRect l="10569" r="430" b="-1"/>
          <a:stretch>
            <a:fillRect/>
          </a:stretch>
        </p:blipFill>
        <p:spPr>
          <a:xfrm>
            <a:off x="20" y="10"/>
            <a:ext cx="9143980" cy="6334306"/>
          </a:xfrm>
          <a:prstGeom prst="rect">
            <a:avLst/>
          </a:prstGeom>
        </p:spPr>
      </p:pic>
      <p:cxnSp>
        <p:nvCxnSpPr>
          <p:cNvPr id="33" name="Straight Connector 32">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22959" y="1845734"/>
            <a:ext cx="4841240" cy="4023360"/>
          </a:xfrm>
          <a:prstGeom prst="rect">
            <a:avLst/>
          </a:prstGeom>
        </p:spPr>
        <p:txBody>
          <a:bodyPr vert="horz" lIns="0" tIns="45720" rIns="0" bIns="45720" rtlCol="0">
            <a:normAutofit/>
          </a:bodyPr>
          <a:lstStyle/>
          <a:p>
            <a:pPr defTabSz="914400">
              <a:lnSpc>
                <a:spcPct val="90000"/>
              </a:lnSpc>
              <a:buClr>
                <a:schemeClr val="accent1"/>
              </a:buClr>
              <a:buFont typeface="Calibri" panose="020F0502020204030204" pitchFamily="34" charset="0"/>
            </a:pPr>
            <a:endParaRPr lang="en-US" b="1" dirty="0">
              <a:solidFill>
                <a:schemeClr val="tx1">
                  <a:lumMod val="75000"/>
                  <a:lumOff val="25000"/>
                </a:schemeClr>
              </a:solidFill>
            </a:endParaRPr>
          </a:p>
          <a:p>
            <a:pPr defTabSz="914400">
              <a:lnSpc>
                <a:spcPct val="90000"/>
              </a:lnSpc>
              <a:spcBef>
                <a:spcPts val="800"/>
              </a:spcBef>
              <a:buClr>
                <a:schemeClr val="accent1"/>
              </a:buClr>
              <a:buFont typeface="Calibri" panose="020F0502020204030204" pitchFamily="34" charset="0"/>
              <a:defRPr sz="1600"/>
            </a:pPr>
            <a:r>
              <a:rPr lang="en-US" b="1" dirty="0">
                <a:solidFill>
                  <a:srgbClr val="FFFFFF"/>
                </a:solidFill>
              </a:rPr>
              <a:t>PRIMARY QUESTION:</a:t>
            </a:r>
          </a:p>
          <a:p>
            <a:pPr defTabSz="914400">
              <a:lnSpc>
                <a:spcPct val="90000"/>
              </a:lnSpc>
              <a:spcBef>
                <a:spcPts val="800"/>
              </a:spcBef>
              <a:buClr>
                <a:schemeClr val="accent1"/>
              </a:buClr>
              <a:buFont typeface="Calibri" panose="020F0502020204030204" pitchFamily="34" charset="0"/>
              <a:defRPr sz="1600"/>
            </a:pPr>
            <a:r>
              <a:rPr lang="en-US" dirty="0">
                <a:solidFill>
                  <a:schemeClr val="tx1">
                    <a:lumMod val="75000"/>
                    <a:lumOff val="25000"/>
                  </a:schemeClr>
                </a:solidFill>
              </a:rPr>
              <a:t>Can we quantitatively separate natural aging effects</a:t>
            </a:r>
          </a:p>
          <a:p>
            <a:pPr defTabSz="914400">
              <a:lnSpc>
                <a:spcPct val="90000"/>
              </a:lnSpc>
              <a:spcBef>
                <a:spcPts val="800"/>
              </a:spcBef>
              <a:buClr>
                <a:schemeClr val="accent1"/>
              </a:buClr>
              <a:buFont typeface="Calibri" panose="020F0502020204030204" pitchFamily="34" charset="0"/>
              <a:defRPr sz="1600"/>
            </a:pPr>
            <a:r>
              <a:rPr lang="en-US" dirty="0">
                <a:solidFill>
                  <a:schemeClr val="tx1">
                    <a:lumMod val="75000"/>
                    <a:lumOff val="25000"/>
                  </a:schemeClr>
                </a:solidFill>
              </a:rPr>
              <a:t>from injury-related decline in pitcher velocity?</a:t>
            </a:r>
          </a:p>
          <a:p>
            <a:pPr defTabSz="914400">
              <a:lnSpc>
                <a:spcPct val="90000"/>
              </a:lnSpc>
              <a:spcBef>
                <a:spcPts val="800"/>
              </a:spcBef>
              <a:buClr>
                <a:schemeClr val="accent1"/>
              </a:buClr>
              <a:buFont typeface="Calibri" panose="020F0502020204030204" pitchFamily="34" charset="0"/>
              <a:defRPr sz="1600"/>
            </a:pPr>
            <a:endParaRPr lang="en-US" b="1" dirty="0">
              <a:solidFill>
                <a:schemeClr val="tx1">
                  <a:lumMod val="75000"/>
                  <a:lumOff val="25000"/>
                </a:schemeClr>
              </a:solidFill>
            </a:endParaRPr>
          </a:p>
          <a:p>
            <a:pPr defTabSz="914400">
              <a:lnSpc>
                <a:spcPct val="90000"/>
              </a:lnSpc>
              <a:spcBef>
                <a:spcPts val="800"/>
              </a:spcBef>
              <a:buClr>
                <a:schemeClr val="accent1"/>
              </a:buClr>
              <a:buFont typeface="Calibri" panose="020F0502020204030204" pitchFamily="34" charset="0"/>
              <a:defRPr sz="1600"/>
            </a:pPr>
            <a:r>
              <a:rPr lang="en-US" b="1" dirty="0">
                <a:solidFill>
                  <a:srgbClr val="FFFFFF"/>
                </a:solidFill>
              </a:rPr>
              <a:t>SUPPORTING QUESTIONS:</a:t>
            </a:r>
          </a:p>
          <a:p>
            <a:pPr defTabSz="914400">
              <a:lnSpc>
                <a:spcPct val="90000"/>
              </a:lnSpc>
              <a:spcBef>
                <a:spcPts val="800"/>
              </a:spcBef>
              <a:buClr>
                <a:schemeClr val="accent1"/>
              </a:buClr>
              <a:buFont typeface="Calibri" panose="020F0502020204030204" pitchFamily="34" charset="0"/>
              <a:defRPr sz="1600"/>
            </a:pPr>
            <a:r>
              <a:rPr lang="en-US" dirty="0">
                <a:solidFill>
                  <a:schemeClr val="tx1">
                    <a:lumMod val="75000"/>
                    <a:lumOff val="25000"/>
                  </a:schemeClr>
                </a:solidFill>
              </a:rPr>
              <a:t>1. What is the population-level aging pattern for</a:t>
            </a:r>
            <a:br>
              <a:rPr lang="en-US" dirty="0">
                <a:solidFill>
                  <a:schemeClr val="tx1">
                    <a:lumMod val="75000"/>
                    <a:lumOff val="25000"/>
                  </a:schemeClr>
                </a:solidFill>
              </a:rPr>
            </a:br>
            <a:r>
              <a:rPr lang="en-US" dirty="0">
                <a:solidFill>
                  <a:schemeClr val="tx1">
                    <a:lumMod val="75000"/>
                    <a:lumOff val="25000"/>
                  </a:schemeClr>
                </a:solidFill>
              </a:rPr>
              <a:t>      pitcher velocity?  </a:t>
            </a:r>
          </a:p>
          <a:p>
            <a:pPr defTabSz="914400">
              <a:lnSpc>
                <a:spcPct val="90000"/>
              </a:lnSpc>
              <a:spcBef>
                <a:spcPts val="800"/>
              </a:spcBef>
              <a:buClr>
                <a:schemeClr val="accent1"/>
              </a:buClr>
              <a:buFont typeface="Calibri" panose="020F0502020204030204" pitchFamily="34" charset="0"/>
              <a:defRPr sz="1600"/>
            </a:pPr>
            <a:r>
              <a:rPr lang="en-US" dirty="0">
                <a:solidFill>
                  <a:schemeClr val="tx1">
                    <a:lumMod val="75000"/>
                    <a:lumOff val="25000"/>
                  </a:schemeClr>
                </a:solidFill>
              </a:rPr>
              <a:t>2. When do velocity declines typically occur?</a:t>
            </a:r>
          </a:p>
          <a:p>
            <a:pPr defTabSz="914400">
              <a:lnSpc>
                <a:spcPct val="90000"/>
              </a:lnSpc>
              <a:spcBef>
                <a:spcPts val="800"/>
              </a:spcBef>
              <a:buClr>
                <a:schemeClr val="accent1"/>
              </a:buClr>
              <a:buFont typeface="Calibri" panose="020F0502020204030204" pitchFamily="34" charset="0"/>
              <a:defRPr sz="1600"/>
            </a:pPr>
            <a:r>
              <a:rPr lang="en-US" dirty="0">
                <a:solidFill>
                  <a:schemeClr val="tx1">
                    <a:lumMod val="75000"/>
                    <a:lumOff val="25000"/>
                  </a:schemeClr>
                </a:solidFill>
              </a:rPr>
              <a:t>3. What are the immediate and lingering impacts of</a:t>
            </a:r>
            <a:br>
              <a:rPr lang="en-US" dirty="0">
                <a:solidFill>
                  <a:schemeClr val="tx1">
                    <a:lumMod val="75000"/>
                    <a:lumOff val="25000"/>
                  </a:schemeClr>
                </a:solidFill>
              </a:rPr>
            </a:br>
            <a:r>
              <a:rPr lang="en-US" dirty="0">
                <a:solidFill>
                  <a:schemeClr val="tx1">
                    <a:lumMod val="75000"/>
                    <a:lumOff val="25000"/>
                  </a:schemeClr>
                </a:solidFill>
              </a:rPr>
              <a:t>      Tommy John surgery?</a:t>
            </a:r>
          </a:p>
          <a:p>
            <a:pPr defTabSz="914400">
              <a:lnSpc>
                <a:spcPct val="90000"/>
              </a:lnSpc>
              <a:spcBef>
                <a:spcPts val="800"/>
              </a:spcBef>
              <a:buClr>
                <a:schemeClr val="accent1"/>
              </a:buClr>
              <a:buFont typeface="Calibri" panose="020F0502020204030204" pitchFamily="34" charset="0"/>
              <a:defRPr sz="1600"/>
            </a:pPr>
            <a:r>
              <a:rPr lang="en-US" dirty="0">
                <a:solidFill>
                  <a:schemeClr val="tx1">
                    <a:lumMod val="75000"/>
                    <a:lumOff val="25000"/>
                  </a:schemeClr>
                </a:solidFill>
              </a:rPr>
              <a:t>4. Can we predict future decline risk?</a:t>
            </a:r>
          </a:p>
          <a:p>
            <a:pPr defTabSz="914400">
              <a:lnSpc>
                <a:spcPct val="90000"/>
              </a:lnSpc>
              <a:spcBef>
                <a:spcPts val="800"/>
              </a:spcBef>
              <a:buClr>
                <a:schemeClr val="accent1"/>
              </a:buClr>
              <a:buFont typeface="Calibri" panose="020F0502020204030204" pitchFamily="34" charset="0"/>
              <a:defRPr sz="1600"/>
            </a:pPr>
            <a:endParaRPr lang="en-US" b="1" dirty="0">
              <a:solidFill>
                <a:schemeClr val="tx1">
                  <a:lumMod val="75000"/>
                  <a:lumOff val="25000"/>
                </a:schemeClr>
              </a:solidFill>
            </a:endParaRPr>
          </a:p>
        </p:txBody>
      </p:sp>
      <p:pic>
        <p:nvPicPr>
          <p:cNvPr id="7" name="Graphic 6" descr="Puzzle">
            <a:extLst>
              <a:ext uri="{FF2B5EF4-FFF2-40B4-BE49-F238E27FC236}">
                <a16:creationId xmlns:a16="http://schemas.microsoft.com/office/drawing/2014/main" id="{EAB8802B-B04B-37FC-1A1A-FD6695F6648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15427" y="2476158"/>
            <a:ext cx="2351332" cy="2351332"/>
          </a:xfrm>
          <a:prstGeom prst="rect">
            <a:avLst/>
          </a:prstGeom>
        </p:spPr>
      </p:pic>
      <p:sp>
        <p:nvSpPr>
          <p:cNvPr id="35" name="Rectangle 34">
            <a:extLst>
              <a:ext uri="{FF2B5EF4-FFF2-40B4-BE49-F238E27FC236}">
                <a16:creationId xmlns:a16="http://schemas.microsoft.com/office/drawing/2014/main" id="{BD7A74B5-8367-4A83-ABEC-0FCDDE97B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2CC184B0-C2C6-4BF0-B078-816C7AF95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1A03258A-52C6-4288-AA56-C3262A0D2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8" name="Straight Connector 37">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Close-up of a baseball&#10;&#10;AI-generated content may be incorrect.">
            <a:extLst>
              <a:ext uri="{FF2B5EF4-FFF2-40B4-BE49-F238E27FC236}">
                <a16:creationId xmlns:a16="http://schemas.microsoft.com/office/drawing/2014/main" id="{BEC51A65-3D64-CFA8-AE9C-9D5679B8540C}"/>
              </a:ext>
            </a:extLst>
          </p:cNvPr>
          <p:cNvPicPr>
            <a:picLocks noChangeAspect="1"/>
          </p:cNvPicPr>
          <p:nvPr/>
        </p:nvPicPr>
        <p:blipFill>
          <a:blip r:embed="rId3">
            <a:duotone>
              <a:prstClr val="black"/>
              <a:schemeClr val="tx2">
                <a:tint val="45000"/>
                <a:satMod val="400000"/>
              </a:schemeClr>
            </a:duotone>
            <a:alphaModFix amt="35000"/>
          </a:blip>
          <a:srcRect l="25000"/>
          <a:stretch>
            <a:fillRect/>
          </a:stretch>
        </p:blipFill>
        <p:spPr>
          <a:xfrm>
            <a:off x="20" y="10"/>
            <a:ext cx="9143980" cy="6857991"/>
          </a:xfrm>
          <a:prstGeom prst="rect">
            <a:avLst/>
          </a:prstGeom>
        </p:spPr>
      </p:pic>
      <p:cxnSp>
        <p:nvCxnSpPr>
          <p:cNvPr id="39" name="Straight Connector 38">
            <a:extLst>
              <a:ext uri="{FF2B5EF4-FFF2-40B4-BE49-F238E27FC236}">
                <a16:creationId xmlns:a16="http://schemas.microsoft.com/office/drawing/2014/main" id="{B5AF3374-98C4-4020-BC8A-1E9636306F2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2">
                <a:alpha val="80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822960" y="286603"/>
            <a:ext cx="7543800" cy="1450757"/>
          </a:xfrm>
          <a:prstGeom prst="rect">
            <a:avLst/>
          </a:prstGeom>
        </p:spPr>
        <p:txBody>
          <a:bodyPr vert="horz" lIns="91440" tIns="45720" rIns="91440" bIns="45720" rtlCol="0" anchor="b">
            <a:normAutofit/>
          </a:bodyPr>
          <a:lstStyle/>
          <a:p>
            <a:pPr defTabSz="914400">
              <a:lnSpc>
                <a:spcPct val="85000"/>
              </a:lnSpc>
              <a:spcBef>
                <a:spcPct val="0"/>
              </a:spcBef>
              <a:spcAft>
                <a:spcPts val="600"/>
              </a:spcAft>
              <a:defRPr sz="2800" b="1">
                <a:solidFill>
                  <a:srgbClr val="1A5276"/>
                </a:solidFill>
              </a:defRPr>
            </a:pPr>
            <a:r>
              <a:rPr lang="en-US" sz="4800" spc="-50">
                <a:solidFill>
                  <a:schemeClr val="tx1">
                    <a:lumMod val="75000"/>
                    <a:lumOff val="25000"/>
                  </a:schemeClr>
                </a:solidFill>
                <a:latin typeface="+mj-lt"/>
                <a:ea typeface="+mj-ea"/>
                <a:cs typeface="+mj-cs"/>
              </a:rPr>
              <a:t>Data &amp; Sample</a:t>
            </a:r>
          </a:p>
        </p:txBody>
      </p:sp>
      <p:sp>
        <p:nvSpPr>
          <p:cNvPr id="40" name="Rectangle 39">
            <a:extLst>
              <a:ext uri="{FF2B5EF4-FFF2-40B4-BE49-F238E27FC236}">
                <a16:creationId xmlns:a16="http://schemas.microsoft.com/office/drawing/2014/main" id="{0ABACFF0-2A9C-40B2-AD8B-4BF8B36A5D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rgbClr val="9B5149"/>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Rectangle 40">
            <a:extLst>
              <a:ext uri="{FF2B5EF4-FFF2-40B4-BE49-F238E27FC236}">
                <a16:creationId xmlns:a16="http://schemas.microsoft.com/office/drawing/2014/main" id="{0F093FA5-C51D-489E-81CB-B9B62654C6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6" name="Diagram 5">
            <a:extLst>
              <a:ext uri="{FF2B5EF4-FFF2-40B4-BE49-F238E27FC236}">
                <a16:creationId xmlns:a16="http://schemas.microsoft.com/office/drawing/2014/main" id="{0A2450E3-3F7F-3D3A-14E5-E20C133AD631}"/>
              </a:ext>
            </a:extLst>
          </p:cNvPr>
          <p:cNvGraphicFramePr/>
          <p:nvPr>
            <p:extLst>
              <p:ext uri="{D42A27DB-BD31-4B8C-83A1-F6EECF244321}">
                <p14:modId xmlns:p14="http://schemas.microsoft.com/office/powerpoint/2010/main" val="3199574972"/>
              </p:ext>
            </p:extLst>
          </p:nvPr>
        </p:nvGraphicFramePr>
        <p:xfrm>
          <a:off x="822960" y="1845734"/>
          <a:ext cx="7543800" cy="402336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Rectangle 3">
            <a:extLst>
              <a:ext uri="{FF2B5EF4-FFF2-40B4-BE49-F238E27FC236}">
                <a16:creationId xmlns:a16="http://schemas.microsoft.com/office/drawing/2014/main" id="{B4157890-0406-707F-F1FA-CA366C47FAD2}"/>
              </a:ext>
            </a:extLst>
          </p:cNvPr>
          <p:cNvSpPr/>
          <p:nvPr/>
        </p:nvSpPr>
        <p:spPr>
          <a:xfrm rot="5400000">
            <a:off x="4543269" y="1799962"/>
            <a:ext cx="57474" cy="9139249"/>
          </a:xfrm>
          <a:prstGeom prst="rect">
            <a:avLst/>
          </a:prstGeom>
          <a:solidFill>
            <a:srgbClr val="007DDA"/>
          </a:solidFill>
          <a:ln>
            <a:solidFill>
              <a:srgbClr val="007D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A978B07-FFEA-4CE8-457F-306A3A72B61F}"/>
              </a:ext>
            </a:extLst>
          </p:cNvPr>
          <p:cNvSpPr/>
          <p:nvPr/>
        </p:nvSpPr>
        <p:spPr>
          <a:xfrm rot="16200000">
            <a:off x="4535478" y="1793240"/>
            <a:ext cx="70684" cy="9146359"/>
          </a:xfrm>
          <a:prstGeom prst="rect">
            <a:avLst/>
          </a:prstGeom>
          <a:solidFill>
            <a:srgbClr val="1CADE4"/>
          </a:solidFill>
          <a:ln>
            <a:solidFill>
              <a:srgbClr val="1CAD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7F40E-FDCB-E945-5C44-479091CEB327}"/>
              </a:ext>
            </a:extLst>
          </p:cNvPr>
          <p:cNvSpPr/>
          <p:nvPr/>
        </p:nvSpPr>
        <p:spPr>
          <a:xfrm rot="16200000">
            <a:off x="4335978" y="2063321"/>
            <a:ext cx="464922" cy="9146359"/>
          </a:xfrm>
          <a:prstGeom prst="rect">
            <a:avLst/>
          </a:prstGeom>
          <a:solidFill>
            <a:srgbClr val="2683C6"/>
          </a:solidFill>
          <a:ln>
            <a:solidFill>
              <a:srgbClr val="2683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EF9C31B2-C9A5-6955-363A-D0983BF6522F}"/>
            </a:ext>
          </a:extLst>
        </p:cNvPr>
        <p:cNvGrpSpPr/>
        <p:nvPr/>
      </p:nvGrpSpPr>
      <p:grpSpPr>
        <a:xfrm>
          <a:off x="0" y="0"/>
          <a:ext cx="0" cy="0"/>
          <a:chOff x="0" y="0"/>
          <a:chExt cx="0" cy="0"/>
        </a:xfrm>
      </p:grpSpPr>
      <p:sp>
        <p:nvSpPr>
          <p:cNvPr id="84" name="Rectangle 83">
            <a:extLst>
              <a:ext uri="{FF2B5EF4-FFF2-40B4-BE49-F238E27FC236}">
                <a16:creationId xmlns:a16="http://schemas.microsoft.com/office/drawing/2014/main" id="{A82F2482-6DEB-48D3-EEF2-D4C69406C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6" name="Rectangle 85">
            <a:extLst>
              <a:ext uri="{FF2B5EF4-FFF2-40B4-BE49-F238E27FC236}">
                <a16:creationId xmlns:a16="http://schemas.microsoft.com/office/drawing/2014/main" id="{AA52E857-6990-FA74-8437-BF45AD47C2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88" name="Straight Connector 87">
            <a:extLst>
              <a:ext uri="{FF2B5EF4-FFF2-40B4-BE49-F238E27FC236}">
                <a16:creationId xmlns:a16="http://schemas.microsoft.com/office/drawing/2014/main" id="{395259D4-9C3D-233F-7096-EFCDED606D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7C151E5A-02BE-9E9A-635C-E4E58DF3DF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15" name="Picture 14" descr="Close-up of baseball on infield">
            <a:extLst>
              <a:ext uri="{FF2B5EF4-FFF2-40B4-BE49-F238E27FC236}">
                <a16:creationId xmlns:a16="http://schemas.microsoft.com/office/drawing/2014/main" id="{01187658-16E3-D761-EEED-010B39E53D52}"/>
              </a:ext>
            </a:extLst>
          </p:cNvPr>
          <p:cNvPicPr>
            <a:picLocks noChangeAspect="1"/>
          </p:cNvPicPr>
          <p:nvPr/>
        </p:nvPicPr>
        <p:blipFill>
          <a:blip r:embed="rId3">
            <a:duotone>
              <a:prstClr val="black"/>
              <a:schemeClr val="tx2">
                <a:tint val="45000"/>
                <a:satMod val="400000"/>
              </a:schemeClr>
            </a:duotone>
            <a:alphaModFix amt="20000"/>
          </a:blip>
          <a:srcRect l="10569" r="430" b="-1"/>
          <a:stretch>
            <a:fillRect/>
          </a:stretch>
        </p:blipFill>
        <p:spPr>
          <a:xfrm>
            <a:off x="20" y="10"/>
            <a:ext cx="9143980" cy="6334306"/>
          </a:xfrm>
          <a:prstGeom prst="rect">
            <a:avLst/>
          </a:prstGeom>
        </p:spPr>
      </p:pic>
      <p:sp>
        <p:nvSpPr>
          <p:cNvPr id="2" name="TextBox 1">
            <a:extLst>
              <a:ext uri="{FF2B5EF4-FFF2-40B4-BE49-F238E27FC236}">
                <a16:creationId xmlns:a16="http://schemas.microsoft.com/office/drawing/2014/main" id="{28B6064A-FC53-5E33-8000-3E89A5487AA7}"/>
              </a:ext>
            </a:extLst>
          </p:cNvPr>
          <p:cNvSpPr txBox="1"/>
          <p:nvPr/>
        </p:nvSpPr>
        <p:spPr>
          <a:xfrm>
            <a:off x="822960" y="286603"/>
            <a:ext cx="7543800" cy="1450757"/>
          </a:xfrm>
          <a:prstGeom prst="rect">
            <a:avLst/>
          </a:prstGeom>
        </p:spPr>
        <p:txBody>
          <a:bodyPr vert="horz" lIns="91440" tIns="45720" rIns="91440" bIns="45720" rtlCol="0" anchor="b">
            <a:normAutofit/>
          </a:bodyPr>
          <a:lstStyle/>
          <a:p>
            <a:pPr defTabSz="914400">
              <a:lnSpc>
                <a:spcPct val="85000"/>
              </a:lnSpc>
              <a:spcBef>
                <a:spcPct val="0"/>
              </a:spcBef>
              <a:spcAft>
                <a:spcPts val="600"/>
              </a:spcAft>
              <a:defRPr sz="2800" b="1">
                <a:solidFill>
                  <a:srgbClr val="FFFFFF"/>
                </a:solidFill>
              </a:defRPr>
            </a:pPr>
            <a:r>
              <a:rPr lang="en-US" sz="4700" b="1" spc="-50" dirty="0">
                <a:solidFill>
                  <a:srgbClr val="FFFFFF"/>
                </a:solidFill>
                <a:latin typeface="+mj-lt"/>
                <a:ea typeface="+mj-ea"/>
                <a:cs typeface="+mj-cs"/>
              </a:rPr>
              <a:t>Three-Part Methodology</a:t>
            </a:r>
          </a:p>
        </p:txBody>
      </p:sp>
      <p:sp>
        <p:nvSpPr>
          <p:cNvPr id="92" name="Rectangle 91">
            <a:extLst>
              <a:ext uri="{FF2B5EF4-FFF2-40B4-BE49-F238E27FC236}">
                <a16:creationId xmlns:a16="http://schemas.microsoft.com/office/drawing/2014/main" id="{489130DB-F0D2-9624-8801-D883B004F0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rgbClr val="6791B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4" name="Rectangle 93">
            <a:extLst>
              <a:ext uri="{FF2B5EF4-FFF2-40B4-BE49-F238E27FC236}">
                <a16:creationId xmlns:a16="http://schemas.microsoft.com/office/drawing/2014/main" id="{6F745B10-D06D-9002-F2A5-61B7EBE8C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rgbClr val="596A7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Rectangle: Rounded Corners 3">
            <a:extLst>
              <a:ext uri="{FF2B5EF4-FFF2-40B4-BE49-F238E27FC236}">
                <a16:creationId xmlns:a16="http://schemas.microsoft.com/office/drawing/2014/main" id="{34AD8D20-FAC1-4F49-219D-D7489D1B7860}"/>
              </a:ext>
            </a:extLst>
          </p:cNvPr>
          <p:cNvSpPr/>
          <p:nvPr/>
        </p:nvSpPr>
        <p:spPr>
          <a:xfrm>
            <a:off x="480060" y="2115733"/>
            <a:ext cx="8092440" cy="1436400"/>
          </a:xfrm>
          <a:prstGeom prst="roundRect">
            <a:avLst/>
          </a:prstGeom>
          <a:solidFill>
            <a:srgbClr val="7E9CC3">
              <a:alpha val="50000"/>
            </a:srgb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628063" tIns="333248" rIns="628063" bIns="113792" numCol="1" spcCol="1270" anchor="t" anchorCtr="0">
            <a:noAutofit/>
          </a:bodyPr>
          <a:lstStyle/>
          <a:p>
            <a:pPr marL="171450" lvl="1" indent="-171450" defTabSz="711200">
              <a:lnSpc>
                <a:spcPct val="90000"/>
              </a:lnSpc>
              <a:spcBef>
                <a:spcPct val="0"/>
              </a:spcBef>
              <a:spcAft>
                <a:spcPct val="15000"/>
              </a:spcAft>
              <a:buFontTx/>
              <a:buChar char="•"/>
            </a:pPr>
            <a:r>
              <a:rPr lang="en-US" sz="1500" dirty="0">
                <a:solidFill>
                  <a:srgbClr val="FFFFFF"/>
                </a:solidFill>
              </a:rPr>
              <a:t>Estimates population-level aging effects while accounting for individual variation</a:t>
            </a:r>
            <a:endParaRPr lang="en-US" sz="1500" kern="1200" dirty="0">
              <a:solidFill>
                <a:srgbClr val="FFFFFF"/>
              </a:solidFill>
              <a:latin typeface="+mn-lt"/>
            </a:endParaRPr>
          </a:p>
          <a:p>
            <a:pPr marL="171450" lvl="1" indent="-171450" defTabSz="711200">
              <a:lnSpc>
                <a:spcPct val="90000"/>
              </a:lnSpc>
              <a:spcBef>
                <a:spcPct val="0"/>
              </a:spcBef>
              <a:spcAft>
                <a:spcPct val="15000"/>
              </a:spcAft>
              <a:buChar char="•"/>
            </a:pPr>
            <a:r>
              <a:rPr lang="en-US" sz="1500" dirty="0">
                <a:solidFill>
                  <a:srgbClr val="FFFFFF"/>
                </a:solidFill>
              </a:rPr>
              <a:t>Posterior distributions quantify parametric uncertainty via Stan MCMC sampling</a:t>
            </a:r>
            <a:endParaRPr lang="en-US" sz="1500" kern="1200" dirty="0">
              <a:solidFill>
                <a:srgbClr val="FFFFFF"/>
              </a:solidFill>
              <a:latin typeface="+mn-lt"/>
            </a:endParaRPr>
          </a:p>
          <a:p>
            <a:pPr marL="171450" lvl="1" indent="-171450" algn="l" defTabSz="711200">
              <a:lnSpc>
                <a:spcPct val="90000"/>
              </a:lnSpc>
              <a:spcBef>
                <a:spcPct val="0"/>
              </a:spcBef>
              <a:spcAft>
                <a:spcPct val="15000"/>
              </a:spcAft>
              <a:buChar char="•"/>
            </a:pPr>
            <a:r>
              <a:rPr lang="en-US" sz="1500" kern="1200" dirty="0">
                <a:solidFill>
                  <a:srgbClr val="FFFFFF"/>
                </a:solidFill>
                <a:latin typeface="+mn-lt"/>
              </a:rPr>
              <a:t>Provides future predictions using partial pooling, population mean, and posterior probability</a:t>
            </a:r>
          </a:p>
        </p:txBody>
      </p:sp>
      <p:sp>
        <p:nvSpPr>
          <p:cNvPr id="5" name="Freeform: Shape 4">
            <a:extLst>
              <a:ext uri="{FF2B5EF4-FFF2-40B4-BE49-F238E27FC236}">
                <a16:creationId xmlns:a16="http://schemas.microsoft.com/office/drawing/2014/main" id="{0E44A451-9CF5-5084-2F8D-872398051B09}"/>
              </a:ext>
            </a:extLst>
          </p:cNvPr>
          <p:cNvSpPr/>
          <p:nvPr/>
        </p:nvSpPr>
        <p:spPr>
          <a:xfrm>
            <a:off x="884682" y="1879573"/>
            <a:ext cx="5664708" cy="472320"/>
          </a:xfrm>
          <a:custGeom>
            <a:avLst/>
            <a:gdLst>
              <a:gd name="csX0" fmla="*/ 0 w 5664708"/>
              <a:gd name="csY0" fmla="*/ 78722 h 472320"/>
              <a:gd name="csX1" fmla="*/ 78722 w 5664708"/>
              <a:gd name="csY1" fmla="*/ 0 h 472320"/>
              <a:gd name="csX2" fmla="*/ 5585986 w 5664708"/>
              <a:gd name="csY2" fmla="*/ 0 h 472320"/>
              <a:gd name="csX3" fmla="*/ 5664708 w 5664708"/>
              <a:gd name="csY3" fmla="*/ 78722 h 472320"/>
              <a:gd name="csX4" fmla="*/ 5664708 w 5664708"/>
              <a:gd name="csY4" fmla="*/ 393598 h 472320"/>
              <a:gd name="csX5" fmla="*/ 5585986 w 5664708"/>
              <a:gd name="csY5" fmla="*/ 472320 h 472320"/>
              <a:gd name="csX6" fmla="*/ 78722 w 5664708"/>
              <a:gd name="csY6" fmla="*/ 472320 h 472320"/>
              <a:gd name="csX7" fmla="*/ 0 w 5664708"/>
              <a:gd name="csY7" fmla="*/ 393598 h 472320"/>
              <a:gd name="csX8" fmla="*/ 0 w 5664708"/>
              <a:gd name="csY8" fmla="*/ 78722 h 472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64708" h="472320">
                <a:moveTo>
                  <a:pt x="0" y="78722"/>
                </a:moveTo>
                <a:cubicBezTo>
                  <a:pt x="0" y="35245"/>
                  <a:pt x="35245" y="0"/>
                  <a:pt x="78722" y="0"/>
                </a:cubicBezTo>
                <a:lnTo>
                  <a:pt x="5585986" y="0"/>
                </a:lnTo>
                <a:cubicBezTo>
                  <a:pt x="5629463" y="0"/>
                  <a:pt x="5664708" y="35245"/>
                  <a:pt x="5664708" y="78722"/>
                </a:cubicBezTo>
                <a:lnTo>
                  <a:pt x="5664708" y="393598"/>
                </a:lnTo>
                <a:cubicBezTo>
                  <a:pt x="5664708" y="437075"/>
                  <a:pt x="5629463" y="472320"/>
                  <a:pt x="5585986" y="472320"/>
                </a:cubicBezTo>
                <a:lnTo>
                  <a:pt x="78722" y="472320"/>
                </a:lnTo>
                <a:cubicBezTo>
                  <a:pt x="35245" y="472320"/>
                  <a:pt x="0" y="437075"/>
                  <a:pt x="0" y="393598"/>
                </a:cubicBezTo>
                <a:lnTo>
                  <a:pt x="0" y="78722"/>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37169" tIns="23057" rIns="237169" bIns="23057" numCol="1" spcCol="1270" anchor="ctr" anchorCtr="0">
            <a:noAutofit/>
          </a:bodyPr>
          <a:lstStyle/>
          <a:p>
            <a:pPr marL="0" lvl="0" indent="0" algn="l" defTabSz="889000">
              <a:lnSpc>
                <a:spcPct val="90000"/>
              </a:lnSpc>
              <a:spcBef>
                <a:spcPct val="0"/>
              </a:spcBef>
              <a:spcAft>
                <a:spcPct val="35000"/>
              </a:spcAft>
              <a:buClr>
                <a:schemeClr val="accent1"/>
              </a:buClr>
              <a:buFont typeface="Calibri" panose="020F0502020204030204" pitchFamily="34" charset="0"/>
              <a:buNone/>
            </a:pPr>
            <a:r>
              <a:rPr lang="en-US" sz="2000" b="1" kern="1200" dirty="0"/>
              <a:t>1️⃣ BAYESIAN HIERARCHICAL MODEL</a:t>
            </a:r>
          </a:p>
        </p:txBody>
      </p:sp>
      <p:sp>
        <p:nvSpPr>
          <p:cNvPr id="6" name="Rectangle: Rounded Corners 5">
            <a:extLst>
              <a:ext uri="{FF2B5EF4-FFF2-40B4-BE49-F238E27FC236}">
                <a16:creationId xmlns:a16="http://schemas.microsoft.com/office/drawing/2014/main" id="{8B6AD385-F88B-F9ED-8340-C6A3976E93F2}"/>
              </a:ext>
            </a:extLst>
          </p:cNvPr>
          <p:cNvSpPr/>
          <p:nvPr/>
        </p:nvSpPr>
        <p:spPr>
          <a:xfrm>
            <a:off x="480060" y="3874694"/>
            <a:ext cx="8092440" cy="680400"/>
          </a:xfrm>
          <a:prstGeom prst="roundRect">
            <a:avLst/>
          </a:prstGeom>
          <a:solidFill>
            <a:srgbClr val="7E9CC3">
              <a:alpha val="50000"/>
            </a:srgb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628063" tIns="333248" rIns="628063" bIns="113792" numCol="1" spcCol="1270" anchor="t" anchorCtr="0">
            <a:noAutofit/>
          </a:bodyPr>
          <a:lstStyle/>
          <a:p>
            <a:pPr marL="171450" lvl="1" indent="-171450" defTabSz="711200">
              <a:lnSpc>
                <a:spcPct val="90000"/>
              </a:lnSpc>
              <a:spcBef>
                <a:spcPct val="0"/>
              </a:spcBef>
              <a:spcAft>
                <a:spcPct val="15000"/>
              </a:spcAft>
              <a:buClr>
                <a:schemeClr val="tx1"/>
              </a:buClr>
              <a:buFont typeface="Calibri" panose="020F0502020204030204" pitchFamily="34" charset="0"/>
              <a:buChar char="•"/>
            </a:pPr>
            <a:r>
              <a:rPr lang="en-US" sz="1500" dirty="0">
                <a:solidFill>
                  <a:schemeClr val="tx1"/>
                </a:solidFill>
              </a:rPr>
              <a:t>Identifies when significant declines occur in individual velocity trajectories</a:t>
            </a:r>
          </a:p>
          <a:p>
            <a:pPr marL="171450" lvl="1" indent="-171450" defTabSz="711200">
              <a:lnSpc>
                <a:spcPct val="90000"/>
              </a:lnSpc>
              <a:spcBef>
                <a:spcPct val="0"/>
              </a:spcBef>
              <a:spcAft>
                <a:spcPct val="15000"/>
              </a:spcAft>
              <a:buClr>
                <a:schemeClr val="accent1"/>
              </a:buClr>
              <a:buFont typeface="Calibri" panose="020F0502020204030204" pitchFamily="34" charset="0"/>
              <a:buChar char="•"/>
            </a:pPr>
            <a:endParaRPr lang="en-US" sz="1500" dirty="0">
              <a:solidFill>
                <a:schemeClr val="tx1"/>
              </a:solidFill>
            </a:endParaRPr>
          </a:p>
        </p:txBody>
      </p:sp>
      <p:sp>
        <p:nvSpPr>
          <p:cNvPr id="7" name="Freeform: Shape 6">
            <a:extLst>
              <a:ext uri="{FF2B5EF4-FFF2-40B4-BE49-F238E27FC236}">
                <a16:creationId xmlns:a16="http://schemas.microsoft.com/office/drawing/2014/main" id="{CDD1A6A5-19E0-0AE7-9906-E621A96858C9}"/>
              </a:ext>
            </a:extLst>
          </p:cNvPr>
          <p:cNvSpPr/>
          <p:nvPr/>
        </p:nvSpPr>
        <p:spPr>
          <a:xfrm>
            <a:off x="884682" y="3638534"/>
            <a:ext cx="5664708" cy="472320"/>
          </a:xfrm>
          <a:custGeom>
            <a:avLst/>
            <a:gdLst>
              <a:gd name="csX0" fmla="*/ 0 w 5664708"/>
              <a:gd name="csY0" fmla="*/ 78722 h 472320"/>
              <a:gd name="csX1" fmla="*/ 78722 w 5664708"/>
              <a:gd name="csY1" fmla="*/ 0 h 472320"/>
              <a:gd name="csX2" fmla="*/ 5585986 w 5664708"/>
              <a:gd name="csY2" fmla="*/ 0 h 472320"/>
              <a:gd name="csX3" fmla="*/ 5664708 w 5664708"/>
              <a:gd name="csY3" fmla="*/ 78722 h 472320"/>
              <a:gd name="csX4" fmla="*/ 5664708 w 5664708"/>
              <a:gd name="csY4" fmla="*/ 393598 h 472320"/>
              <a:gd name="csX5" fmla="*/ 5585986 w 5664708"/>
              <a:gd name="csY5" fmla="*/ 472320 h 472320"/>
              <a:gd name="csX6" fmla="*/ 78722 w 5664708"/>
              <a:gd name="csY6" fmla="*/ 472320 h 472320"/>
              <a:gd name="csX7" fmla="*/ 0 w 5664708"/>
              <a:gd name="csY7" fmla="*/ 393598 h 472320"/>
              <a:gd name="csX8" fmla="*/ 0 w 5664708"/>
              <a:gd name="csY8" fmla="*/ 78722 h 472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64708" h="472320">
                <a:moveTo>
                  <a:pt x="0" y="78722"/>
                </a:moveTo>
                <a:cubicBezTo>
                  <a:pt x="0" y="35245"/>
                  <a:pt x="35245" y="0"/>
                  <a:pt x="78722" y="0"/>
                </a:cubicBezTo>
                <a:lnTo>
                  <a:pt x="5585986" y="0"/>
                </a:lnTo>
                <a:cubicBezTo>
                  <a:pt x="5629463" y="0"/>
                  <a:pt x="5664708" y="35245"/>
                  <a:pt x="5664708" y="78722"/>
                </a:cubicBezTo>
                <a:lnTo>
                  <a:pt x="5664708" y="393598"/>
                </a:lnTo>
                <a:cubicBezTo>
                  <a:pt x="5664708" y="437075"/>
                  <a:pt x="5629463" y="472320"/>
                  <a:pt x="5585986" y="472320"/>
                </a:cubicBezTo>
                <a:lnTo>
                  <a:pt x="78722" y="472320"/>
                </a:lnTo>
                <a:cubicBezTo>
                  <a:pt x="35245" y="472320"/>
                  <a:pt x="0" y="437075"/>
                  <a:pt x="0" y="393598"/>
                </a:cubicBezTo>
                <a:lnTo>
                  <a:pt x="0" y="78722"/>
                </a:lnTo>
                <a:close/>
              </a:path>
            </a:pathLst>
          </a:custGeom>
        </p:spPr>
        <p:style>
          <a:lnRef idx="2">
            <a:schemeClr val="lt1">
              <a:hueOff val="0"/>
              <a:satOff val="0"/>
              <a:lumOff val="0"/>
              <a:alphaOff val="0"/>
            </a:schemeClr>
          </a:lnRef>
          <a:fillRef idx="1">
            <a:schemeClr val="accent2">
              <a:hueOff val="-665912"/>
              <a:satOff val="-293"/>
              <a:lumOff val="784"/>
              <a:alphaOff val="0"/>
            </a:schemeClr>
          </a:fillRef>
          <a:effectRef idx="0">
            <a:schemeClr val="accent2">
              <a:hueOff val="-665912"/>
              <a:satOff val="-293"/>
              <a:lumOff val="784"/>
              <a:alphaOff val="0"/>
            </a:schemeClr>
          </a:effectRef>
          <a:fontRef idx="minor">
            <a:schemeClr val="lt1"/>
          </a:fontRef>
        </p:style>
        <p:txBody>
          <a:bodyPr spcFirstLastPara="0" vert="horz" wrap="square" lIns="237169" tIns="23057" rIns="237169" bIns="23057" numCol="1" spcCol="1270" anchor="ctr" anchorCtr="0">
            <a:noAutofit/>
          </a:bodyPr>
          <a:lstStyle/>
          <a:p>
            <a:pPr marL="0" lvl="0" indent="0" algn="l" defTabSz="889000">
              <a:lnSpc>
                <a:spcPct val="90000"/>
              </a:lnSpc>
              <a:spcBef>
                <a:spcPct val="0"/>
              </a:spcBef>
              <a:spcAft>
                <a:spcPct val="35000"/>
              </a:spcAft>
              <a:buClr>
                <a:schemeClr val="accent1"/>
              </a:buClr>
              <a:buFont typeface="Calibri" panose="020F0502020204030204" pitchFamily="34" charset="0"/>
              <a:buNone/>
            </a:pPr>
            <a:r>
              <a:rPr lang="en-US" sz="2000" b="1" kern="1200" dirty="0">
                <a:latin typeface="Calibri" panose="020F0502020204030204"/>
                <a:ea typeface="+mn-ea"/>
                <a:cs typeface="+mn-cs"/>
              </a:rPr>
              <a:t>2️⃣ CHANGEPOINT DETECTION</a:t>
            </a:r>
          </a:p>
        </p:txBody>
      </p:sp>
      <p:sp>
        <p:nvSpPr>
          <p:cNvPr id="9" name="Rectangle: Rounded Corners 8">
            <a:extLst>
              <a:ext uri="{FF2B5EF4-FFF2-40B4-BE49-F238E27FC236}">
                <a16:creationId xmlns:a16="http://schemas.microsoft.com/office/drawing/2014/main" id="{DC286BDC-6E77-C1A4-B7E6-6A9CE9F947CB}"/>
              </a:ext>
            </a:extLst>
          </p:cNvPr>
          <p:cNvSpPr/>
          <p:nvPr/>
        </p:nvSpPr>
        <p:spPr>
          <a:xfrm>
            <a:off x="480060" y="4877654"/>
            <a:ext cx="8092440" cy="957600"/>
          </a:xfrm>
          <a:prstGeom prst="roundRect">
            <a:avLst/>
          </a:prstGeom>
          <a:solidFill>
            <a:srgbClr val="7E9CC3">
              <a:alpha val="50000"/>
            </a:srgb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628063" tIns="333248" rIns="628063" bIns="113792" numCol="1" spcCol="1270" anchor="t" anchorCtr="0">
            <a:noAutofit/>
          </a:bodyPr>
          <a:lstStyle/>
          <a:p>
            <a:pPr marL="171450" lvl="1" indent="-171450" algn="l" defTabSz="800100">
              <a:lnSpc>
                <a:spcPct val="90000"/>
              </a:lnSpc>
              <a:spcBef>
                <a:spcPct val="0"/>
              </a:spcBef>
              <a:spcAft>
                <a:spcPct val="20000"/>
              </a:spcAft>
              <a:buClr>
                <a:schemeClr val="tx1"/>
              </a:buClr>
              <a:buFont typeface="Calibri" panose="020F0502020204030204" pitchFamily="34" charset="0"/>
              <a:buChar char="•"/>
            </a:pPr>
            <a:r>
              <a:rPr lang="en-US" sz="1500" kern="1200" dirty="0">
                <a:solidFill>
                  <a:srgbClr val="FFFFFF"/>
                </a:solidFill>
                <a:latin typeface="+mn-lt"/>
                <a:ea typeface="+mn-ea"/>
                <a:cs typeface="+mn-cs"/>
              </a:rPr>
              <a:t>Clearly distinguishes qualitatively injury and aging effects from velocity curve</a:t>
            </a:r>
          </a:p>
          <a:p>
            <a:pPr marL="171450" lvl="1" indent="-171450" algn="l" defTabSz="800100">
              <a:lnSpc>
                <a:spcPct val="90000"/>
              </a:lnSpc>
              <a:spcBef>
                <a:spcPct val="0"/>
              </a:spcBef>
              <a:spcAft>
                <a:spcPct val="20000"/>
              </a:spcAft>
              <a:buClr>
                <a:schemeClr val="tx1"/>
              </a:buClr>
              <a:buFont typeface="Calibri" panose="020F0502020204030204" pitchFamily="34" charset="0"/>
              <a:buChar char="•"/>
            </a:pPr>
            <a:r>
              <a:rPr lang="en-US" sz="1500" kern="1200" dirty="0">
                <a:solidFill>
                  <a:srgbClr val="FFFFFF"/>
                </a:solidFill>
                <a:latin typeface="+mn-lt"/>
                <a:ea typeface="+mn-ea"/>
                <a:cs typeface="+mn-cs"/>
              </a:rPr>
              <a:t>Weighted ensemble approach of multiple components</a:t>
            </a:r>
          </a:p>
        </p:txBody>
      </p:sp>
      <p:sp>
        <p:nvSpPr>
          <p:cNvPr id="10" name="Freeform: Shape 9">
            <a:extLst>
              <a:ext uri="{FF2B5EF4-FFF2-40B4-BE49-F238E27FC236}">
                <a16:creationId xmlns:a16="http://schemas.microsoft.com/office/drawing/2014/main" id="{D1E7B95D-8E5F-8F6D-8D7F-CC0606588003}"/>
              </a:ext>
            </a:extLst>
          </p:cNvPr>
          <p:cNvSpPr/>
          <p:nvPr/>
        </p:nvSpPr>
        <p:spPr>
          <a:xfrm>
            <a:off x="884682" y="4641494"/>
            <a:ext cx="5664708" cy="472320"/>
          </a:xfrm>
          <a:custGeom>
            <a:avLst/>
            <a:gdLst>
              <a:gd name="csX0" fmla="*/ 0 w 5664708"/>
              <a:gd name="csY0" fmla="*/ 78722 h 472320"/>
              <a:gd name="csX1" fmla="*/ 78722 w 5664708"/>
              <a:gd name="csY1" fmla="*/ 0 h 472320"/>
              <a:gd name="csX2" fmla="*/ 5585986 w 5664708"/>
              <a:gd name="csY2" fmla="*/ 0 h 472320"/>
              <a:gd name="csX3" fmla="*/ 5664708 w 5664708"/>
              <a:gd name="csY3" fmla="*/ 78722 h 472320"/>
              <a:gd name="csX4" fmla="*/ 5664708 w 5664708"/>
              <a:gd name="csY4" fmla="*/ 393598 h 472320"/>
              <a:gd name="csX5" fmla="*/ 5585986 w 5664708"/>
              <a:gd name="csY5" fmla="*/ 472320 h 472320"/>
              <a:gd name="csX6" fmla="*/ 78722 w 5664708"/>
              <a:gd name="csY6" fmla="*/ 472320 h 472320"/>
              <a:gd name="csX7" fmla="*/ 0 w 5664708"/>
              <a:gd name="csY7" fmla="*/ 393598 h 472320"/>
              <a:gd name="csX8" fmla="*/ 0 w 5664708"/>
              <a:gd name="csY8" fmla="*/ 78722 h 472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64708" h="472320">
                <a:moveTo>
                  <a:pt x="0" y="78722"/>
                </a:moveTo>
                <a:cubicBezTo>
                  <a:pt x="0" y="35245"/>
                  <a:pt x="35245" y="0"/>
                  <a:pt x="78722" y="0"/>
                </a:cubicBezTo>
                <a:lnTo>
                  <a:pt x="5585986" y="0"/>
                </a:lnTo>
                <a:cubicBezTo>
                  <a:pt x="5629463" y="0"/>
                  <a:pt x="5664708" y="35245"/>
                  <a:pt x="5664708" y="78722"/>
                </a:cubicBezTo>
                <a:lnTo>
                  <a:pt x="5664708" y="393598"/>
                </a:lnTo>
                <a:cubicBezTo>
                  <a:pt x="5664708" y="437075"/>
                  <a:pt x="5629463" y="472320"/>
                  <a:pt x="5585986" y="472320"/>
                </a:cubicBezTo>
                <a:lnTo>
                  <a:pt x="78722" y="472320"/>
                </a:lnTo>
                <a:cubicBezTo>
                  <a:pt x="35245" y="472320"/>
                  <a:pt x="0" y="437075"/>
                  <a:pt x="0" y="393598"/>
                </a:cubicBezTo>
                <a:lnTo>
                  <a:pt x="0" y="78722"/>
                </a:lnTo>
                <a:close/>
              </a:path>
            </a:pathLst>
          </a:custGeom>
        </p:spPr>
        <p:style>
          <a:lnRef idx="2">
            <a:schemeClr val="lt1">
              <a:hueOff val="0"/>
              <a:satOff val="0"/>
              <a:lumOff val="0"/>
              <a:alphaOff val="0"/>
            </a:schemeClr>
          </a:lnRef>
          <a:fillRef idx="1">
            <a:schemeClr val="accent2">
              <a:hueOff val="-1331824"/>
              <a:satOff val="-586"/>
              <a:lumOff val="1569"/>
              <a:alphaOff val="0"/>
            </a:schemeClr>
          </a:fillRef>
          <a:effectRef idx="0">
            <a:schemeClr val="accent2">
              <a:hueOff val="-1331824"/>
              <a:satOff val="-586"/>
              <a:lumOff val="1569"/>
              <a:alphaOff val="0"/>
            </a:schemeClr>
          </a:effectRef>
          <a:fontRef idx="minor">
            <a:schemeClr val="lt1"/>
          </a:fontRef>
        </p:style>
        <p:txBody>
          <a:bodyPr spcFirstLastPara="0" vert="horz" wrap="square" lIns="114497" tIns="114497" rIns="114497" bIns="114497" numCol="1" spcCol="1270" anchor="ctr" anchorCtr="0">
            <a:noAutofit/>
          </a:bodyPr>
          <a:lstStyle/>
          <a:p>
            <a:pPr marL="0" lvl="0" indent="0" algn="l" defTabSz="889000">
              <a:lnSpc>
                <a:spcPct val="90000"/>
              </a:lnSpc>
              <a:spcBef>
                <a:spcPct val="0"/>
              </a:spcBef>
              <a:spcAft>
                <a:spcPct val="35000"/>
              </a:spcAft>
              <a:buNone/>
            </a:pPr>
            <a:r>
              <a:rPr lang="en-US" sz="2000" kern="1200" dirty="0"/>
              <a:t>  3️⃣ </a:t>
            </a:r>
            <a:r>
              <a:rPr lang="en-US" sz="2000" b="1" kern="1200" dirty="0">
                <a:latin typeface="Calibri" panose="020F0502020204030204"/>
                <a:ea typeface="+mn-ea"/>
                <a:cs typeface="+mn-cs"/>
              </a:rPr>
              <a:t>QUANTITATIVE</a:t>
            </a:r>
            <a:r>
              <a:rPr lang="en-US" sz="2000" kern="1200" dirty="0"/>
              <a:t> </a:t>
            </a:r>
            <a:r>
              <a:rPr lang="en-US" sz="2000" b="1" kern="1200" dirty="0">
                <a:latin typeface="Calibri" panose="020F0502020204030204"/>
                <a:ea typeface="+mn-ea"/>
                <a:cs typeface="+mn-cs"/>
              </a:rPr>
              <a:t>FRAMEWORK &amp; RISK SCORES</a:t>
            </a:r>
          </a:p>
        </p:txBody>
      </p:sp>
      <p:sp>
        <p:nvSpPr>
          <p:cNvPr id="24" name="Rectangle 23">
            <a:extLst>
              <a:ext uri="{FF2B5EF4-FFF2-40B4-BE49-F238E27FC236}">
                <a16:creationId xmlns:a16="http://schemas.microsoft.com/office/drawing/2014/main" id="{68D01A3C-FD37-EE99-EC9A-CC7F73526950}"/>
              </a:ext>
            </a:extLst>
          </p:cNvPr>
          <p:cNvSpPr/>
          <p:nvPr/>
        </p:nvSpPr>
        <p:spPr>
          <a:xfrm rot="16200000">
            <a:off x="4535478" y="1793240"/>
            <a:ext cx="70684" cy="9146359"/>
          </a:xfrm>
          <a:prstGeom prst="rect">
            <a:avLst/>
          </a:prstGeom>
          <a:solidFill>
            <a:srgbClr val="1CADE4"/>
          </a:solidFill>
          <a:ln>
            <a:solidFill>
              <a:srgbClr val="1CAD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17B8778-0BDA-7BAB-0F15-AD08C083B8E6}"/>
              </a:ext>
            </a:extLst>
          </p:cNvPr>
          <p:cNvSpPr/>
          <p:nvPr/>
        </p:nvSpPr>
        <p:spPr>
          <a:xfrm rot="16200000">
            <a:off x="4335978" y="2063321"/>
            <a:ext cx="464922" cy="9146359"/>
          </a:xfrm>
          <a:prstGeom prst="rect">
            <a:avLst/>
          </a:prstGeom>
          <a:solidFill>
            <a:srgbClr val="2683C6"/>
          </a:solidFill>
          <a:ln>
            <a:solidFill>
              <a:srgbClr val="2683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4521345"/>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E7D85ED8-D493-C0E6-85E3-22140B4CDC74}"/>
            </a:ext>
          </a:extLst>
        </p:cNvPr>
        <p:cNvGrpSpPr/>
        <p:nvPr/>
      </p:nvGrpSpPr>
      <p:grpSpPr>
        <a:xfrm>
          <a:off x="0" y="0"/>
          <a:ext cx="0" cy="0"/>
          <a:chOff x="0" y="0"/>
          <a:chExt cx="0" cy="0"/>
        </a:xfrm>
      </p:grpSpPr>
      <p:pic>
        <p:nvPicPr>
          <p:cNvPr id="9505" name="Picture 4" descr="Close-up of a baseball&#10;&#10;AI-generated content may be incorrect.">
            <a:extLst>
              <a:ext uri="{FF2B5EF4-FFF2-40B4-BE49-F238E27FC236}">
                <a16:creationId xmlns:a16="http://schemas.microsoft.com/office/drawing/2014/main" id="{BEC51A65-3D64-CFA8-AE9C-9D5679B8540C}"/>
              </a:ext>
            </a:extLst>
          </p:cNvPr>
          <p:cNvPicPr>
            <a:picLocks noChangeAspect="1"/>
          </p:cNvPicPr>
          <p:nvPr/>
        </p:nvPicPr>
        <p:blipFill>
          <a:blip r:embed="rId3">
            <a:duotone>
              <a:prstClr val="black"/>
              <a:schemeClr val="tx2">
                <a:tint val="45000"/>
                <a:satMod val="400000"/>
              </a:schemeClr>
            </a:duotone>
            <a:alphaModFix amt="35000"/>
          </a:blip>
          <a:srcRect l="25000"/>
          <a:stretch>
            <a:fillRect/>
          </a:stretch>
        </p:blipFill>
        <p:spPr>
          <a:xfrm>
            <a:off x="20" y="10"/>
            <a:ext cx="9143980" cy="6337560"/>
          </a:xfrm>
          <a:prstGeom prst="rect">
            <a:avLst/>
          </a:prstGeom>
        </p:spPr>
      </p:pic>
      <p:sp>
        <p:nvSpPr>
          <p:cNvPr id="2" name="TextBox 1">
            <a:extLst>
              <a:ext uri="{FF2B5EF4-FFF2-40B4-BE49-F238E27FC236}">
                <a16:creationId xmlns:a16="http://schemas.microsoft.com/office/drawing/2014/main" id="{3C9604B6-8CD0-650C-A158-1601C529D53A}"/>
              </a:ext>
            </a:extLst>
          </p:cNvPr>
          <p:cNvSpPr txBox="1"/>
          <p:nvPr/>
        </p:nvSpPr>
        <p:spPr>
          <a:xfrm>
            <a:off x="457200" y="274320"/>
            <a:ext cx="8229600" cy="615553"/>
          </a:xfrm>
          <a:prstGeom prst="rect">
            <a:avLst/>
          </a:prstGeom>
          <a:noFill/>
        </p:spPr>
        <p:txBody>
          <a:bodyPr wrap="square" lIns="0" tIns="0" rIns="0" bIns="0" anchor="t">
            <a:spAutoFit/>
          </a:bodyPr>
          <a:lstStyle/>
          <a:p>
            <a:r>
              <a:rPr sz="4000" b="1" spc="-50" dirty="0">
                <a:solidFill>
                  <a:srgbClr val="FFFFFF"/>
                </a:solidFill>
                <a:latin typeface="+mj-lt"/>
                <a:ea typeface="+mj-ea"/>
                <a:cs typeface="+mj-cs"/>
              </a:rPr>
              <a:t>The</a:t>
            </a:r>
            <a:r>
              <a:rPr sz="3000" b="1" i="0" dirty="0">
                <a:solidFill>
                  <a:srgbClr val="FFFFFF"/>
                </a:solidFill>
                <a:latin typeface="Calibri"/>
              </a:rPr>
              <a:t> </a:t>
            </a:r>
            <a:r>
              <a:rPr lang="en-US" sz="4000" b="1" spc="-50" dirty="0">
                <a:solidFill>
                  <a:srgbClr val="FFFFFF"/>
                </a:solidFill>
                <a:latin typeface="+mj-lt"/>
                <a:ea typeface="+mj-ea"/>
                <a:cs typeface="+mj-cs"/>
              </a:rPr>
              <a:t>Bayesian</a:t>
            </a:r>
            <a:r>
              <a:rPr lang="en-US" sz="3000" b="1" i="0" dirty="0">
                <a:solidFill>
                  <a:srgbClr val="FFFFFF"/>
                </a:solidFill>
                <a:latin typeface="Calibri"/>
              </a:rPr>
              <a:t> </a:t>
            </a:r>
            <a:r>
              <a:rPr sz="4000" b="1" spc="-50" dirty="0">
                <a:solidFill>
                  <a:srgbClr val="FFFFFF"/>
                </a:solidFill>
                <a:latin typeface="+mj-lt"/>
                <a:ea typeface="+mj-ea"/>
                <a:cs typeface="+mj-cs"/>
              </a:rPr>
              <a:t>Model</a:t>
            </a:r>
          </a:p>
        </p:txBody>
      </p:sp>
      <p:sp>
        <p:nvSpPr>
          <p:cNvPr id="3" name="Rectangle 2">
            <a:extLst>
              <a:ext uri="{FF2B5EF4-FFF2-40B4-BE49-F238E27FC236}">
                <a16:creationId xmlns:a16="http://schemas.microsoft.com/office/drawing/2014/main" id="{26747DE0-2520-434F-7120-D998A37EE196}"/>
              </a:ext>
            </a:extLst>
          </p:cNvPr>
          <p:cNvSpPr/>
          <p:nvPr/>
        </p:nvSpPr>
        <p:spPr>
          <a:xfrm>
            <a:off x="457200" y="960120"/>
            <a:ext cx="8229600" cy="1051560"/>
          </a:xfrm>
          <a:prstGeom prst="rect">
            <a:avLst/>
          </a:prstGeom>
          <a:solidFill>
            <a:srgbClr val="88BFE8"/>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800" b="1" i="0" dirty="0">
                <a:solidFill>
                  <a:srgbClr val="FFFFFF"/>
                </a:solidFill>
                <a:latin typeface="Calibri"/>
              </a:rPr>
              <a:t>Velocity  =  Pitcher's baseline  +  Aging curve  +  Tommy John effect  +  noise</a:t>
            </a:r>
          </a:p>
          <a:p>
            <a:pPr algn="ctr">
              <a:spcBef>
                <a:spcPts val="600"/>
              </a:spcBef>
            </a:pPr>
            <a:r>
              <a:rPr sz="1300" b="0" i="1" dirty="0">
                <a:solidFill>
                  <a:srgbClr val="FFFFFF"/>
                </a:solidFill>
                <a:latin typeface="Consolas"/>
              </a:rPr>
              <a:t>velocity ~ age + age² + </a:t>
            </a:r>
            <a:r>
              <a:rPr sz="1300" b="0" i="1" dirty="0" err="1">
                <a:solidFill>
                  <a:srgbClr val="FFFFFF"/>
                </a:solidFill>
                <a:latin typeface="Consolas"/>
              </a:rPr>
              <a:t>had_TJ</a:t>
            </a:r>
            <a:r>
              <a:rPr sz="1300" b="0" i="1" dirty="0">
                <a:solidFill>
                  <a:srgbClr val="FFFFFF"/>
                </a:solidFill>
                <a:latin typeface="Consolas"/>
              </a:rPr>
              <a:t> + </a:t>
            </a:r>
            <a:r>
              <a:rPr sz="1300" b="0" i="1" dirty="0" err="1">
                <a:solidFill>
                  <a:srgbClr val="FFFFFF"/>
                </a:solidFill>
                <a:latin typeface="Consolas"/>
              </a:rPr>
              <a:t>years_since_TJ</a:t>
            </a:r>
            <a:r>
              <a:rPr sz="1300" b="0" i="1" dirty="0">
                <a:solidFill>
                  <a:srgbClr val="FFFFFF"/>
                </a:solidFill>
                <a:latin typeface="Consolas"/>
              </a:rPr>
              <a:t> + (1 | pitcher)</a:t>
            </a:r>
          </a:p>
        </p:txBody>
      </p:sp>
      <p:sp>
        <p:nvSpPr>
          <p:cNvPr id="4" name="Rectangle 3">
            <a:extLst>
              <a:ext uri="{FF2B5EF4-FFF2-40B4-BE49-F238E27FC236}">
                <a16:creationId xmlns:a16="http://schemas.microsoft.com/office/drawing/2014/main" id="{09B1058C-518C-4418-A964-471ECE908D37}"/>
              </a:ext>
            </a:extLst>
          </p:cNvPr>
          <p:cNvSpPr/>
          <p:nvPr/>
        </p:nvSpPr>
        <p:spPr>
          <a:xfrm>
            <a:off x="457200" y="2240280"/>
            <a:ext cx="2505456" cy="50292"/>
          </a:xfrm>
          <a:prstGeom prst="rect">
            <a:avLst/>
          </a:prstGeom>
          <a:solidFill>
            <a:srgbClr val="606A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EE42F90-B179-16AB-96ED-356CEF2645D8}"/>
              </a:ext>
            </a:extLst>
          </p:cNvPr>
          <p:cNvSpPr txBox="1"/>
          <p:nvPr/>
        </p:nvSpPr>
        <p:spPr>
          <a:xfrm>
            <a:off x="457200" y="2395728"/>
            <a:ext cx="2505456" cy="502920"/>
          </a:xfrm>
          <a:prstGeom prst="rect">
            <a:avLst/>
          </a:prstGeom>
          <a:noFill/>
        </p:spPr>
        <p:txBody>
          <a:bodyPr wrap="square" lIns="0" tIns="0" rIns="0" bIns="0" anchor="t">
            <a:spAutoFit/>
          </a:bodyPr>
          <a:lstStyle/>
          <a:p>
            <a:r>
              <a:rPr sz="1450" b="1" i="0">
                <a:solidFill>
                  <a:srgbClr val="FFFFFF"/>
                </a:solidFill>
                <a:latin typeface="Calibri"/>
              </a:rPr>
              <a:t>Each pitcher gets his own baseline</a:t>
            </a:r>
          </a:p>
        </p:txBody>
      </p:sp>
      <p:sp>
        <p:nvSpPr>
          <p:cNvPr id="6" name="TextBox 5">
            <a:extLst>
              <a:ext uri="{FF2B5EF4-FFF2-40B4-BE49-F238E27FC236}">
                <a16:creationId xmlns:a16="http://schemas.microsoft.com/office/drawing/2014/main" id="{8EFAA257-A5A0-C617-2EDB-9FCC280FF746}"/>
              </a:ext>
            </a:extLst>
          </p:cNvPr>
          <p:cNvSpPr txBox="1"/>
          <p:nvPr/>
        </p:nvSpPr>
        <p:spPr>
          <a:xfrm>
            <a:off x="457200" y="3017520"/>
            <a:ext cx="2505456" cy="1463040"/>
          </a:xfrm>
          <a:prstGeom prst="rect">
            <a:avLst/>
          </a:prstGeom>
          <a:noFill/>
        </p:spPr>
        <p:txBody>
          <a:bodyPr wrap="square" lIns="0" tIns="0" rIns="0" bIns="0" anchor="t">
            <a:spAutoFit/>
          </a:bodyPr>
          <a:lstStyle/>
          <a:p>
            <a:pPr>
              <a:lnSpc>
                <a:spcPct val="115000"/>
              </a:lnSpc>
            </a:pPr>
            <a:r>
              <a:rPr sz="1200" b="0" i="0">
                <a:solidFill>
                  <a:srgbClr val="FFFFFF"/>
                </a:solidFill>
                <a:latin typeface="Calibri"/>
              </a:rPr>
              <a:t>A 97 mph arm and a 90 mph arm are not compared to the same starting point. Pitchers with few seasons get pulled toward the league average, so small samples cannot produce wild estimates.</a:t>
            </a:r>
          </a:p>
        </p:txBody>
      </p:sp>
      <p:sp>
        <p:nvSpPr>
          <p:cNvPr id="7" name="Rectangle 6">
            <a:extLst>
              <a:ext uri="{FF2B5EF4-FFF2-40B4-BE49-F238E27FC236}">
                <a16:creationId xmlns:a16="http://schemas.microsoft.com/office/drawing/2014/main" id="{68E7434A-870B-7AD2-2FAB-9058CE3CE6C8}"/>
              </a:ext>
            </a:extLst>
          </p:cNvPr>
          <p:cNvSpPr/>
          <p:nvPr/>
        </p:nvSpPr>
        <p:spPr>
          <a:xfrm>
            <a:off x="3127248" y="2240280"/>
            <a:ext cx="2505456" cy="5029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BF62643-7116-57BC-9A33-1BCDCD975EB5}"/>
              </a:ext>
            </a:extLst>
          </p:cNvPr>
          <p:cNvSpPr txBox="1"/>
          <p:nvPr/>
        </p:nvSpPr>
        <p:spPr>
          <a:xfrm>
            <a:off x="3127248" y="2395728"/>
            <a:ext cx="2505456" cy="502920"/>
          </a:xfrm>
          <a:prstGeom prst="rect">
            <a:avLst/>
          </a:prstGeom>
          <a:noFill/>
        </p:spPr>
        <p:txBody>
          <a:bodyPr wrap="square" lIns="0" tIns="0" rIns="0" bIns="0" anchor="t">
            <a:spAutoFit/>
          </a:bodyPr>
          <a:lstStyle/>
          <a:p>
            <a:r>
              <a:rPr sz="1450" b="1" i="0">
                <a:solidFill>
                  <a:srgbClr val="FFFFFF"/>
                </a:solidFill>
                <a:latin typeface="Calibri"/>
              </a:rPr>
              <a:t>Aging is a curve, not a line</a:t>
            </a:r>
          </a:p>
        </p:txBody>
      </p:sp>
      <p:sp>
        <p:nvSpPr>
          <p:cNvPr id="9" name="TextBox 8">
            <a:extLst>
              <a:ext uri="{FF2B5EF4-FFF2-40B4-BE49-F238E27FC236}">
                <a16:creationId xmlns:a16="http://schemas.microsoft.com/office/drawing/2014/main" id="{31E601C0-05A7-41AC-8E68-3743D1B38AD5}"/>
              </a:ext>
            </a:extLst>
          </p:cNvPr>
          <p:cNvSpPr txBox="1"/>
          <p:nvPr/>
        </p:nvSpPr>
        <p:spPr>
          <a:xfrm>
            <a:off x="3127248" y="3017520"/>
            <a:ext cx="2505456" cy="1463040"/>
          </a:xfrm>
          <a:prstGeom prst="rect">
            <a:avLst/>
          </a:prstGeom>
          <a:noFill/>
        </p:spPr>
        <p:txBody>
          <a:bodyPr wrap="square" lIns="0" tIns="0" rIns="0" bIns="0" anchor="t">
            <a:spAutoFit/>
          </a:bodyPr>
          <a:lstStyle/>
          <a:p>
            <a:pPr>
              <a:lnSpc>
                <a:spcPct val="115000"/>
              </a:lnSpc>
            </a:pPr>
            <a:r>
              <a:rPr sz="1200" b="0" i="0">
                <a:solidFill>
                  <a:srgbClr val="FFFFFF"/>
                </a:solidFill>
                <a:latin typeface="Calibri"/>
              </a:rPr>
              <a:t>The age² term lets velocity rise into the mid-20s, flatten through the prime years, and fall away faster in the mid-30s. This is estimated from the whole population at once.</a:t>
            </a:r>
          </a:p>
        </p:txBody>
      </p:sp>
      <p:sp>
        <p:nvSpPr>
          <p:cNvPr id="10" name="Rectangle 9">
            <a:extLst>
              <a:ext uri="{FF2B5EF4-FFF2-40B4-BE49-F238E27FC236}">
                <a16:creationId xmlns:a16="http://schemas.microsoft.com/office/drawing/2014/main" id="{51395960-C82A-3F11-D541-02D13999CF2F}"/>
              </a:ext>
            </a:extLst>
          </p:cNvPr>
          <p:cNvSpPr/>
          <p:nvPr/>
        </p:nvSpPr>
        <p:spPr>
          <a:xfrm>
            <a:off x="5797296" y="2240280"/>
            <a:ext cx="2505456" cy="5029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7813BB3-34FA-20A5-C9BA-15E49FA02073}"/>
              </a:ext>
            </a:extLst>
          </p:cNvPr>
          <p:cNvSpPr txBox="1"/>
          <p:nvPr/>
        </p:nvSpPr>
        <p:spPr>
          <a:xfrm>
            <a:off x="5797296" y="2395728"/>
            <a:ext cx="2505456" cy="502920"/>
          </a:xfrm>
          <a:prstGeom prst="rect">
            <a:avLst/>
          </a:prstGeom>
          <a:noFill/>
        </p:spPr>
        <p:txBody>
          <a:bodyPr wrap="square" lIns="0" tIns="0" rIns="0" bIns="0" anchor="t">
            <a:spAutoFit/>
          </a:bodyPr>
          <a:lstStyle/>
          <a:p>
            <a:r>
              <a:rPr sz="1450" b="1" i="0">
                <a:solidFill>
                  <a:srgbClr val="FFFFFF"/>
                </a:solidFill>
                <a:latin typeface="Calibri"/>
              </a:rPr>
              <a:t>Tommy John is two separate effects</a:t>
            </a:r>
          </a:p>
        </p:txBody>
      </p:sp>
      <p:sp>
        <p:nvSpPr>
          <p:cNvPr id="12" name="TextBox 11">
            <a:extLst>
              <a:ext uri="{FF2B5EF4-FFF2-40B4-BE49-F238E27FC236}">
                <a16:creationId xmlns:a16="http://schemas.microsoft.com/office/drawing/2014/main" id="{99032386-C563-9004-7241-7F417F6B498F}"/>
              </a:ext>
            </a:extLst>
          </p:cNvPr>
          <p:cNvSpPr txBox="1"/>
          <p:nvPr/>
        </p:nvSpPr>
        <p:spPr>
          <a:xfrm>
            <a:off x="5797296" y="3017520"/>
            <a:ext cx="2505456" cy="837024"/>
          </a:xfrm>
          <a:prstGeom prst="rect">
            <a:avLst/>
          </a:prstGeom>
          <a:noFill/>
        </p:spPr>
        <p:txBody>
          <a:bodyPr wrap="square" lIns="0" tIns="0" rIns="0" bIns="0" anchor="t">
            <a:spAutoFit/>
          </a:bodyPr>
          <a:lstStyle/>
          <a:p>
            <a:pPr>
              <a:lnSpc>
                <a:spcPct val="115000"/>
              </a:lnSpc>
            </a:pPr>
            <a:r>
              <a:rPr sz="1200" b="0" i="0" dirty="0">
                <a:solidFill>
                  <a:srgbClr val="FFFFFF"/>
                </a:solidFill>
                <a:latin typeface="Calibri"/>
              </a:rPr>
              <a:t>One term for whether surgery ever happened, and one for how long ago it was. Together they measure both the immediate </a:t>
            </a:r>
            <a:r>
              <a:rPr lang="en-US" sz="1200" b="0" i="0" dirty="0">
                <a:solidFill>
                  <a:srgbClr val="FFFFFF"/>
                </a:solidFill>
                <a:latin typeface="Calibri"/>
              </a:rPr>
              <a:t>and gradual effects.</a:t>
            </a:r>
            <a:endParaRPr sz="1200" b="0" i="0" dirty="0">
              <a:solidFill>
                <a:srgbClr val="FFFFFF"/>
              </a:solidFill>
              <a:latin typeface="Calibri"/>
            </a:endParaRPr>
          </a:p>
        </p:txBody>
      </p:sp>
      <p:sp>
        <p:nvSpPr>
          <p:cNvPr id="13" name="Rectangle 12">
            <a:extLst>
              <a:ext uri="{FF2B5EF4-FFF2-40B4-BE49-F238E27FC236}">
                <a16:creationId xmlns:a16="http://schemas.microsoft.com/office/drawing/2014/main" id="{9B108948-677F-5D25-943B-37B55AE21232}"/>
              </a:ext>
            </a:extLst>
          </p:cNvPr>
          <p:cNvSpPr/>
          <p:nvPr/>
        </p:nvSpPr>
        <p:spPr>
          <a:xfrm>
            <a:off x="457200" y="4498848"/>
            <a:ext cx="8229600" cy="960120"/>
          </a:xfrm>
          <a:prstGeom prst="rect">
            <a:avLst/>
          </a:prstGeom>
          <a:solidFill>
            <a:srgbClr val="88BFE8"/>
          </a:solidFill>
          <a:ln>
            <a:solidFill>
              <a:srgbClr val="88BFE8"/>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ctr"/>
            <a:r>
              <a:rPr sz="1400" b="1" i="0" dirty="0">
                <a:solidFill>
                  <a:srgbClr val="FFFFFF"/>
                </a:solidFill>
                <a:latin typeface="Calibri"/>
              </a:rPr>
              <a:t>Why fit it this way?  </a:t>
            </a:r>
            <a:r>
              <a:rPr sz="1400" b="0" i="0" dirty="0">
                <a:solidFill>
                  <a:srgbClr val="DCE4EE"/>
                </a:solidFill>
                <a:latin typeface="Calibri"/>
              </a:rPr>
              <a:t>Every term comes back as a full distribution rather than a single number. That is what lets the projections carry honest 95% intervals instead of a false-precision point estimate.</a:t>
            </a:r>
          </a:p>
        </p:txBody>
      </p:sp>
      <p:sp>
        <p:nvSpPr>
          <p:cNvPr id="14" name="TextBox 13">
            <a:extLst>
              <a:ext uri="{FF2B5EF4-FFF2-40B4-BE49-F238E27FC236}">
                <a16:creationId xmlns:a16="http://schemas.microsoft.com/office/drawing/2014/main" id="{27A89281-ADCC-7B26-B112-40E679C85AE5}"/>
              </a:ext>
            </a:extLst>
          </p:cNvPr>
          <p:cNvSpPr txBox="1"/>
          <p:nvPr/>
        </p:nvSpPr>
        <p:spPr>
          <a:xfrm>
            <a:off x="457200" y="5650992"/>
            <a:ext cx="8229600" cy="161583"/>
          </a:xfrm>
          <a:prstGeom prst="rect">
            <a:avLst/>
          </a:prstGeom>
          <a:noFill/>
        </p:spPr>
        <p:txBody>
          <a:bodyPr wrap="square" lIns="0" tIns="0" rIns="0" bIns="0" anchor="t">
            <a:spAutoFit/>
          </a:bodyPr>
          <a:lstStyle/>
          <a:p>
            <a:r>
              <a:rPr sz="1050" b="0" i="1" dirty="0">
                <a:solidFill>
                  <a:srgbClr val="FFFFFF"/>
                </a:solidFill>
                <a:latin typeface="Calibri"/>
              </a:rPr>
              <a:t>Fit with </a:t>
            </a:r>
            <a:r>
              <a:rPr sz="1050" b="0" i="1" dirty="0" err="1">
                <a:solidFill>
                  <a:srgbClr val="FFFFFF"/>
                </a:solidFill>
                <a:latin typeface="Calibri"/>
              </a:rPr>
              <a:t>stan_glmer</a:t>
            </a:r>
            <a:r>
              <a:rPr sz="1050" b="0" i="1" dirty="0">
                <a:solidFill>
                  <a:srgbClr val="FFFFFF"/>
                </a:solidFill>
                <a:latin typeface="Calibri"/>
              </a:rPr>
              <a:t> (</a:t>
            </a:r>
            <a:r>
              <a:rPr sz="1050" b="0" i="1" dirty="0" err="1">
                <a:solidFill>
                  <a:srgbClr val="FFFFFF"/>
                </a:solidFill>
                <a:latin typeface="Calibri"/>
              </a:rPr>
              <a:t>rstanarm</a:t>
            </a:r>
            <a:r>
              <a:rPr sz="1050" b="0" i="1" dirty="0">
                <a:solidFill>
                  <a:srgbClr val="FFFFFF"/>
                </a:solidFill>
                <a:latin typeface="Calibri"/>
              </a:rPr>
              <a:t>), 4 chains × 2,000 iteration</a:t>
            </a:r>
            <a:r>
              <a:rPr lang="en-US" sz="1050" b="0" i="1" dirty="0">
                <a:solidFill>
                  <a:srgbClr val="FFFFFF"/>
                </a:solidFill>
                <a:latin typeface="Calibri"/>
              </a:rPr>
              <a:t>s</a:t>
            </a:r>
            <a:endParaRPr sz="1050" b="0" i="1" dirty="0">
              <a:solidFill>
                <a:srgbClr val="FFFFFF"/>
              </a:solidFill>
              <a:latin typeface="Calibri"/>
            </a:endParaRPr>
          </a:p>
        </p:txBody>
      </p:sp>
    </p:spTree>
    <p:extLst>
      <p:ext uri="{BB962C8B-B14F-4D97-AF65-F5344CB8AC3E}">
        <p14:creationId xmlns:p14="http://schemas.microsoft.com/office/powerpoint/2010/main" val="2105922736"/>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pic>
        <p:nvPicPr>
          <p:cNvPr id="4" name="Picture 3" descr="Close-up of baseball on infield">
            <a:extLst>
              <a:ext uri="{FF2B5EF4-FFF2-40B4-BE49-F238E27FC236}">
                <a16:creationId xmlns:a16="http://schemas.microsoft.com/office/drawing/2014/main" id="{80F738AD-D07E-D6E6-10AA-FEF5F2D25C63}"/>
              </a:ext>
            </a:extLst>
          </p:cNvPr>
          <p:cNvPicPr>
            <a:picLocks noChangeAspect="1"/>
          </p:cNvPicPr>
          <p:nvPr/>
        </p:nvPicPr>
        <p:blipFill>
          <a:blip r:embed="rId3">
            <a:duotone>
              <a:prstClr val="black"/>
              <a:schemeClr val="tx2">
                <a:tint val="45000"/>
                <a:satMod val="400000"/>
              </a:schemeClr>
            </a:duotone>
            <a:alphaModFix amt="20000"/>
          </a:blip>
          <a:srcRect l="10569" r="430" b="-1"/>
          <a:stretch>
            <a:fillRect/>
          </a:stretch>
        </p:blipFill>
        <p:spPr>
          <a:xfrm>
            <a:off x="20" y="10"/>
            <a:ext cx="9143980" cy="6334306"/>
          </a:xfrm>
          <a:prstGeom prst="rect">
            <a:avLst/>
          </a:prstGeom>
        </p:spPr>
      </p:pic>
      <p:sp>
        <p:nvSpPr>
          <p:cNvPr id="2" name="TextBox 1"/>
          <p:cNvSpPr txBox="1"/>
          <p:nvPr/>
        </p:nvSpPr>
        <p:spPr>
          <a:xfrm>
            <a:off x="245709" y="-120153"/>
            <a:ext cx="8181805" cy="1057655"/>
          </a:xfrm>
          <a:prstGeom prst="rect">
            <a:avLst/>
          </a:prstGeom>
        </p:spPr>
        <p:txBody>
          <a:bodyPr vert="horz" lIns="91440" tIns="45720" rIns="91440" bIns="45720" rtlCol="0" anchor="b">
            <a:normAutofit/>
          </a:bodyPr>
          <a:lstStyle/>
          <a:p>
            <a:pPr defTabSz="914400">
              <a:lnSpc>
                <a:spcPct val="85000"/>
              </a:lnSpc>
              <a:spcBef>
                <a:spcPct val="0"/>
              </a:spcBef>
              <a:spcAft>
                <a:spcPts val="600"/>
              </a:spcAft>
              <a:defRPr sz="2800" b="1">
                <a:solidFill>
                  <a:srgbClr val="FFFFFF"/>
                </a:solidFill>
              </a:defRPr>
            </a:pPr>
            <a:r>
              <a:rPr lang="en-US" sz="4000" spc="-50" dirty="0">
                <a:solidFill>
                  <a:srgbClr val="FFFFFF"/>
                </a:solidFill>
                <a:latin typeface="+mj-lt"/>
                <a:ea typeface="+mj-ea"/>
                <a:cs typeface="+mj-cs"/>
              </a:rPr>
              <a:t>Initial Findings I: Universal Aging Curve</a:t>
            </a:r>
          </a:p>
        </p:txBody>
      </p:sp>
      <p:pic>
        <p:nvPicPr>
          <p:cNvPr id="5" name="Picture 4">
            <a:extLst>
              <a:ext uri="{FF2B5EF4-FFF2-40B4-BE49-F238E27FC236}">
                <a16:creationId xmlns:a16="http://schemas.microsoft.com/office/drawing/2014/main" id="{2E2CF30F-1CD1-7F78-D380-F04B850455A6}"/>
              </a:ext>
            </a:extLst>
          </p:cNvPr>
          <p:cNvPicPr>
            <a:picLocks noChangeAspect="1"/>
          </p:cNvPicPr>
          <p:nvPr/>
        </p:nvPicPr>
        <p:blipFill>
          <a:blip r:embed="rId4"/>
          <a:stretch>
            <a:fillRect/>
          </a:stretch>
        </p:blipFill>
        <p:spPr>
          <a:xfrm>
            <a:off x="245708" y="1036878"/>
            <a:ext cx="8484433" cy="4949252"/>
          </a:xfrm>
          <a:prstGeom prst="rect">
            <a:avLst/>
          </a:prstGeom>
        </p:spPr>
      </p:pic>
    </p:spTree>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8B6C8110-B9E0-8E71-2FD0-089B0EB9C5AA}"/>
            </a:ext>
          </a:extLst>
        </p:cNvPr>
        <p:cNvGrpSpPr/>
        <p:nvPr/>
      </p:nvGrpSpPr>
      <p:grpSpPr>
        <a:xfrm>
          <a:off x="0" y="0"/>
          <a:ext cx="0" cy="0"/>
          <a:chOff x="0" y="0"/>
          <a:chExt cx="0" cy="0"/>
        </a:xfrm>
      </p:grpSpPr>
      <p:pic>
        <p:nvPicPr>
          <p:cNvPr id="9507" name="Picture 4" descr="Close-up of a baseball&#10;&#10;AI-generated content may be incorrect.">
            <a:extLst>
              <a:ext uri="{FF2B5EF4-FFF2-40B4-BE49-F238E27FC236}">
                <a16:creationId xmlns:a16="http://schemas.microsoft.com/office/drawing/2014/main" id="{BEC51A65-3D64-CFA8-AE9C-9D5679B8540C}"/>
              </a:ext>
            </a:extLst>
          </p:cNvPr>
          <p:cNvPicPr>
            <a:picLocks noChangeAspect="1"/>
          </p:cNvPicPr>
          <p:nvPr/>
        </p:nvPicPr>
        <p:blipFill>
          <a:blip r:embed="rId3">
            <a:duotone>
              <a:prstClr val="black"/>
              <a:schemeClr val="tx2">
                <a:tint val="45000"/>
                <a:satMod val="400000"/>
              </a:schemeClr>
            </a:duotone>
            <a:alphaModFix amt="35000"/>
          </a:blip>
          <a:srcRect l="25000"/>
          <a:stretch>
            <a:fillRect/>
          </a:stretch>
        </p:blipFill>
        <p:spPr>
          <a:xfrm>
            <a:off x="20" y="10"/>
            <a:ext cx="9143980" cy="6346469"/>
          </a:xfrm>
          <a:prstGeom prst="rect">
            <a:avLst/>
          </a:prstGeom>
        </p:spPr>
      </p:pic>
      <p:sp>
        <p:nvSpPr>
          <p:cNvPr id="2" name="TextBox 1">
            <a:extLst>
              <a:ext uri="{FF2B5EF4-FFF2-40B4-BE49-F238E27FC236}">
                <a16:creationId xmlns:a16="http://schemas.microsoft.com/office/drawing/2014/main" id="{6C518FFE-E9DC-26C6-76CF-CB6F363B412E}"/>
              </a:ext>
            </a:extLst>
          </p:cNvPr>
          <p:cNvSpPr txBox="1"/>
          <p:nvPr/>
        </p:nvSpPr>
        <p:spPr>
          <a:xfrm>
            <a:off x="401072" y="0"/>
            <a:ext cx="8181805" cy="1057655"/>
          </a:xfrm>
          <a:prstGeom prst="rect">
            <a:avLst/>
          </a:prstGeom>
        </p:spPr>
        <p:txBody>
          <a:bodyPr vert="horz" lIns="91440" tIns="45720" rIns="91440" bIns="45720" rtlCol="0" anchor="b">
            <a:normAutofit/>
          </a:bodyPr>
          <a:lstStyle>
            <a:defPPr>
              <a:defRPr lang="en-US"/>
            </a:defPPr>
            <a:lvl1pPr defTabSz="914400">
              <a:lnSpc>
                <a:spcPct val="85000"/>
              </a:lnSpc>
              <a:spcBef>
                <a:spcPct val="0"/>
              </a:spcBef>
              <a:spcAft>
                <a:spcPts val="600"/>
              </a:spcAft>
              <a:defRPr sz="4000" b="1" spc="-50">
                <a:solidFill>
                  <a:srgbClr val="FFFFFF"/>
                </a:solidFill>
                <a:latin typeface="+mj-lt"/>
                <a:ea typeface="+mj-ea"/>
                <a:cs typeface="+mj-cs"/>
              </a:defRPr>
            </a:lvl1pPr>
          </a:lstStyle>
          <a:p>
            <a:r>
              <a:rPr lang="en-US" dirty="0"/>
              <a:t>Industry Aging Curves</a:t>
            </a:r>
          </a:p>
        </p:txBody>
      </p:sp>
      <p:pic>
        <p:nvPicPr>
          <p:cNvPr id="4" name="Picture 2" descr="A graph with a line drawn on it&#10;&#10;AI-generated content may be incorrect.">
            <a:extLst>
              <a:ext uri="{FF2B5EF4-FFF2-40B4-BE49-F238E27FC236}">
                <a16:creationId xmlns:a16="http://schemas.microsoft.com/office/drawing/2014/main" id="{A637926B-8075-63C1-2904-1D4687D631BB}"/>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49110" y="1265275"/>
            <a:ext cx="8285728" cy="4872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33635"/>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714DC375-05A0-209C-103C-B8BF55ED32DC}"/>
            </a:ext>
          </a:extLst>
        </p:cNvPr>
        <p:cNvGrpSpPr/>
        <p:nvPr/>
      </p:nvGrpSpPr>
      <p:grpSpPr>
        <a:xfrm>
          <a:off x="0" y="0"/>
          <a:ext cx="0" cy="0"/>
          <a:chOff x="0" y="0"/>
          <a:chExt cx="0" cy="0"/>
        </a:xfrm>
      </p:grpSpPr>
      <p:pic>
        <p:nvPicPr>
          <p:cNvPr id="4" name="Picture 3" descr="Close-up of baseball on infield">
            <a:extLst>
              <a:ext uri="{FF2B5EF4-FFF2-40B4-BE49-F238E27FC236}">
                <a16:creationId xmlns:a16="http://schemas.microsoft.com/office/drawing/2014/main" id="{564A7C3D-75C7-03D8-E9F1-EB398DB8ECE0}"/>
              </a:ext>
            </a:extLst>
          </p:cNvPr>
          <p:cNvPicPr>
            <a:picLocks noChangeAspect="1"/>
          </p:cNvPicPr>
          <p:nvPr/>
        </p:nvPicPr>
        <p:blipFill>
          <a:blip r:embed="rId3">
            <a:duotone>
              <a:prstClr val="black"/>
              <a:schemeClr val="tx2">
                <a:tint val="45000"/>
                <a:satMod val="400000"/>
              </a:schemeClr>
            </a:duotone>
            <a:alphaModFix amt="20000"/>
          </a:blip>
          <a:srcRect l="10569" r="430" b="-1"/>
          <a:stretch>
            <a:fillRect/>
          </a:stretch>
        </p:blipFill>
        <p:spPr>
          <a:xfrm>
            <a:off x="20" y="10"/>
            <a:ext cx="9143980" cy="6334306"/>
          </a:xfrm>
          <a:prstGeom prst="rect">
            <a:avLst/>
          </a:prstGeom>
        </p:spPr>
      </p:pic>
      <p:sp>
        <p:nvSpPr>
          <p:cNvPr id="2" name="TextBox 1">
            <a:extLst>
              <a:ext uri="{FF2B5EF4-FFF2-40B4-BE49-F238E27FC236}">
                <a16:creationId xmlns:a16="http://schemas.microsoft.com/office/drawing/2014/main" id="{8A03CC28-5037-E173-A746-DE316ECE4D69}"/>
              </a:ext>
            </a:extLst>
          </p:cNvPr>
          <p:cNvSpPr txBox="1"/>
          <p:nvPr/>
        </p:nvSpPr>
        <p:spPr>
          <a:xfrm>
            <a:off x="262847" y="0"/>
            <a:ext cx="8181805" cy="1057655"/>
          </a:xfrm>
          <a:prstGeom prst="rect">
            <a:avLst/>
          </a:prstGeom>
        </p:spPr>
        <p:txBody>
          <a:bodyPr vert="horz" lIns="91440" tIns="45720" rIns="91440" bIns="45720" rtlCol="0" anchor="b">
            <a:normAutofit/>
          </a:bodyPr>
          <a:lstStyle/>
          <a:p>
            <a:pPr defTabSz="914400">
              <a:lnSpc>
                <a:spcPct val="85000"/>
              </a:lnSpc>
              <a:spcBef>
                <a:spcPct val="0"/>
              </a:spcBef>
              <a:spcAft>
                <a:spcPts val="600"/>
              </a:spcAft>
              <a:defRPr sz="2800" b="1">
                <a:solidFill>
                  <a:srgbClr val="FFFFFF"/>
                </a:solidFill>
              </a:defRPr>
            </a:pPr>
            <a:r>
              <a:rPr lang="en-US" sz="3600" spc="-50" dirty="0">
                <a:solidFill>
                  <a:srgbClr val="FFFFFF"/>
                </a:solidFill>
                <a:latin typeface="+mj-lt"/>
                <a:ea typeface="+mj-ea"/>
                <a:cs typeface="+mj-cs"/>
              </a:rPr>
              <a:t>Initial Findings </a:t>
            </a:r>
            <a:r>
              <a:rPr lang="en-US" sz="3600" b="1" spc="-50" dirty="0">
                <a:solidFill>
                  <a:srgbClr val="FFFFFF"/>
                </a:solidFill>
                <a:latin typeface="+mj-lt"/>
                <a:ea typeface="+mj-ea"/>
                <a:cs typeface="+mj-cs"/>
              </a:rPr>
              <a:t>II: Changepoint Distribution</a:t>
            </a:r>
          </a:p>
        </p:txBody>
      </p:sp>
      <p:pic>
        <p:nvPicPr>
          <p:cNvPr id="8" name="Picture 7" descr="A graph of different colored bars&#10;&#10;AI-generated content may be incorrect.">
            <a:extLst>
              <a:ext uri="{FF2B5EF4-FFF2-40B4-BE49-F238E27FC236}">
                <a16:creationId xmlns:a16="http://schemas.microsoft.com/office/drawing/2014/main" id="{1BDBDC9A-F699-2F49-E8CF-54F2AE45454E}"/>
              </a:ext>
            </a:extLst>
          </p:cNvPr>
          <p:cNvPicPr>
            <a:picLocks noChangeAspect="1"/>
          </p:cNvPicPr>
          <p:nvPr/>
        </p:nvPicPr>
        <p:blipFill>
          <a:blip r:embed="rId4"/>
          <a:stretch>
            <a:fillRect/>
          </a:stretch>
        </p:blipFill>
        <p:spPr>
          <a:xfrm>
            <a:off x="410343" y="1057655"/>
            <a:ext cx="8323314" cy="4993988"/>
          </a:xfrm>
          <a:prstGeom prst="rect">
            <a:avLst/>
          </a:prstGeom>
        </p:spPr>
      </p:pic>
    </p:spTree>
    <p:extLst>
      <p:ext uri="{BB962C8B-B14F-4D97-AF65-F5344CB8AC3E}">
        <p14:creationId xmlns:p14="http://schemas.microsoft.com/office/powerpoint/2010/main" val="3819431152"/>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B3EB8E58-6F95-74DC-69F8-EB95F6CDF2E1}"/>
            </a:ext>
          </a:extLst>
        </p:cNvPr>
        <p:cNvGrpSpPr/>
        <p:nvPr/>
      </p:nvGrpSpPr>
      <p:grpSpPr>
        <a:xfrm>
          <a:off x="0" y="0"/>
          <a:ext cx="0" cy="0"/>
          <a:chOff x="0" y="0"/>
          <a:chExt cx="0" cy="0"/>
        </a:xfrm>
      </p:grpSpPr>
      <p:pic>
        <p:nvPicPr>
          <p:cNvPr id="9510" name="Picture 4" descr="Close-up of a baseball&#10;&#10;AI-generated content may be incorrect.">
            <a:extLst>
              <a:ext uri="{FF2B5EF4-FFF2-40B4-BE49-F238E27FC236}">
                <a16:creationId xmlns:a16="http://schemas.microsoft.com/office/drawing/2014/main" id="{BEC51A65-3D64-CFA8-AE9C-9D5679B8540C}"/>
              </a:ext>
            </a:extLst>
          </p:cNvPr>
          <p:cNvPicPr>
            <a:picLocks noChangeAspect="1"/>
          </p:cNvPicPr>
          <p:nvPr/>
        </p:nvPicPr>
        <p:blipFill>
          <a:blip r:embed="rId3">
            <a:duotone>
              <a:prstClr val="black"/>
              <a:schemeClr val="tx2">
                <a:tint val="45000"/>
                <a:satMod val="400000"/>
              </a:schemeClr>
            </a:duotone>
            <a:alphaModFix amt="35000"/>
          </a:blip>
          <a:srcRect l="25000"/>
          <a:stretch>
            <a:fillRect/>
          </a:stretch>
        </p:blipFill>
        <p:spPr>
          <a:xfrm>
            <a:off x="20" y="10"/>
            <a:ext cx="9143980" cy="6327118"/>
          </a:xfrm>
          <a:prstGeom prst="rect">
            <a:avLst/>
          </a:prstGeom>
        </p:spPr>
      </p:pic>
      <p:sp>
        <p:nvSpPr>
          <p:cNvPr id="2" name="TextBox 1">
            <a:extLst>
              <a:ext uri="{FF2B5EF4-FFF2-40B4-BE49-F238E27FC236}">
                <a16:creationId xmlns:a16="http://schemas.microsoft.com/office/drawing/2014/main" id="{DDCF894E-13E6-5CC1-EB47-BC9B5F86CE2A}"/>
              </a:ext>
            </a:extLst>
          </p:cNvPr>
          <p:cNvSpPr txBox="1"/>
          <p:nvPr/>
        </p:nvSpPr>
        <p:spPr>
          <a:xfrm>
            <a:off x="148856" y="240296"/>
            <a:ext cx="6987234" cy="646331"/>
          </a:xfrm>
          <a:prstGeom prst="rect">
            <a:avLst/>
          </a:prstGeom>
          <a:noFill/>
        </p:spPr>
        <p:txBody>
          <a:bodyPr wrap="none">
            <a:spAutoFit/>
          </a:bodyPr>
          <a:lstStyle>
            <a:defPPr>
              <a:defRPr lang="en-US"/>
            </a:defPPr>
            <a:lvl1pPr>
              <a:defRPr sz="2800" b="1">
                <a:solidFill>
                  <a:srgbClr val="FFFFFF"/>
                </a:solidFill>
              </a:defRPr>
            </a:lvl1pPr>
          </a:lstStyle>
          <a:p>
            <a:r>
              <a:rPr lang="en-US" sz="3600" spc="-50" dirty="0">
                <a:solidFill>
                  <a:srgbClr val="FFFFFF"/>
                </a:solidFill>
                <a:latin typeface="+mj-lt"/>
                <a:ea typeface="+mj-ea"/>
                <a:cs typeface="+mj-cs"/>
              </a:rPr>
              <a:t>Case Study: Sonny Gray - Natural Aging</a:t>
            </a:r>
          </a:p>
        </p:txBody>
      </p:sp>
      <p:pic>
        <p:nvPicPr>
          <p:cNvPr id="7" name="Picture 6">
            <a:extLst>
              <a:ext uri="{FF2B5EF4-FFF2-40B4-BE49-F238E27FC236}">
                <a16:creationId xmlns:a16="http://schemas.microsoft.com/office/drawing/2014/main" id="{2059DCEF-FC04-EBAD-ADE8-01795FDF4D19}"/>
              </a:ext>
            </a:extLst>
          </p:cNvPr>
          <p:cNvPicPr>
            <a:picLocks noChangeAspect="1"/>
          </p:cNvPicPr>
          <p:nvPr/>
        </p:nvPicPr>
        <p:blipFill>
          <a:blip r:embed="rId4"/>
          <a:stretch>
            <a:fillRect/>
          </a:stretch>
        </p:blipFill>
        <p:spPr>
          <a:xfrm>
            <a:off x="228600" y="1061605"/>
            <a:ext cx="8686800" cy="5067300"/>
          </a:xfrm>
          <a:prstGeom prst="rect">
            <a:avLst/>
          </a:prstGeom>
        </p:spPr>
      </p:pic>
    </p:spTree>
    <p:extLst>
      <p:ext uri="{BB962C8B-B14F-4D97-AF65-F5344CB8AC3E}">
        <p14:creationId xmlns:p14="http://schemas.microsoft.com/office/powerpoint/2010/main" val="1084818809"/>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pic>
        <p:nvPicPr>
          <p:cNvPr id="5" name="Picture 4" descr="Close-up of baseball on infield">
            <a:extLst>
              <a:ext uri="{FF2B5EF4-FFF2-40B4-BE49-F238E27FC236}">
                <a16:creationId xmlns:a16="http://schemas.microsoft.com/office/drawing/2014/main" id="{E742CB56-FBAA-13E1-0BEB-D35F9F3636EB}"/>
              </a:ext>
            </a:extLst>
          </p:cNvPr>
          <p:cNvPicPr>
            <a:picLocks noChangeAspect="1"/>
          </p:cNvPicPr>
          <p:nvPr/>
        </p:nvPicPr>
        <p:blipFill>
          <a:blip r:embed="rId3">
            <a:duotone>
              <a:prstClr val="black"/>
              <a:schemeClr val="tx2">
                <a:tint val="45000"/>
                <a:satMod val="400000"/>
              </a:schemeClr>
            </a:duotone>
            <a:alphaModFix amt="20000"/>
          </a:blip>
          <a:srcRect l="10569" r="430" b="-1"/>
          <a:stretch>
            <a:fillRect/>
          </a:stretch>
        </p:blipFill>
        <p:spPr>
          <a:xfrm>
            <a:off x="20" y="10"/>
            <a:ext cx="9143980" cy="6334306"/>
          </a:xfrm>
          <a:prstGeom prst="rect">
            <a:avLst/>
          </a:prstGeom>
        </p:spPr>
      </p:pic>
      <p:sp>
        <p:nvSpPr>
          <p:cNvPr id="2" name="TextBox 1"/>
          <p:cNvSpPr txBox="1"/>
          <p:nvPr/>
        </p:nvSpPr>
        <p:spPr>
          <a:xfrm>
            <a:off x="228600" y="145440"/>
            <a:ext cx="8292655" cy="646331"/>
          </a:xfrm>
          <a:prstGeom prst="rect">
            <a:avLst/>
          </a:prstGeom>
          <a:noFill/>
        </p:spPr>
        <p:txBody>
          <a:bodyPr wrap="none">
            <a:spAutoFit/>
          </a:bodyPr>
          <a:lstStyle/>
          <a:p>
            <a:pPr>
              <a:defRPr sz="2800" b="1">
                <a:solidFill>
                  <a:srgbClr val="FFFFFF"/>
                </a:solidFill>
              </a:defRPr>
            </a:pPr>
            <a:r>
              <a:rPr sz="3600" b="1" spc="-50" dirty="0">
                <a:solidFill>
                  <a:srgbClr val="FFFFFF"/>
                </a:solidFill>
                <a:latin typeface="+mj-lt"/>
                <a:ea typeface="+mj-ea"/>
                <a:cs typeface="+mj-cs"/>
              </a:rPr>
              <a:t>Case Study: Adam Wainwright </a:t>
            </a:r>
            <a:r>
              <a:rPr lang="en-US" sz="3600" b="1" spc="-50" dirty="0">
                <a:solidFill>
                  <a:srgbClr val="FFFFFF"/>
                </a:solidFill>
                <a:latin typeface="+mj-lt"/>
                <a:ea typeface="+mj-ea"/>
                <a:cs typeface="+mj-cs"/>
              </a:rPr>
              <a:t>– Natural Aging</a:t>
            </a:r>
            <a:endParaRPr sz="3600" b="1" spc="-50" dirty="0">
              <a:solidFill>
                <a:srgbClr val="FFFFFF"/>
              </a:solidFill>
              <a:latin typeface="+mj-lt"/>
              <a:ea typeface="+mj-ea"/>
              <a:cs typeface="+mj-cs"/>
            </a:endParaRPr>
          </a:p>
        </p:txBody>
      </p:sp>
      <p:pic>
        <p:nvPicPr>
          <p:cNvPr id="4" name="Picture 3">
            <a:extLst>
              <a:ext uri="{FF2B5EF4-FFF2-40B4-BE49-F238E27FC236}">
                <a16:creationId xmlns:a16="http://schemas.microsoft.com/office/drawing/2014/main" id="{78638036-3C0F-00AE-A183-785414B99B9C}"/>
              </a:ext>
            </a:extLst>
          </p:cNvPr>
          <p:cNvPicPr>
            <a:picLocks noChangeAspect="1"/>
          </p:cNvPicPr>
          <p:nvPr/>
        </p:nvPicPr>
        <p:blipFill>
          <a:blip r:embed="rId4"/>
          <a:stretch>
            <a:fillRect/>
          </a:stretch>
        </p:blipFill>
        <p:spPr>
          <a:xfrm>
            <a:off x="228600" y="1028700"/>
            <a:ext cx="8686800" cy="5067300"/>
          </a:xfrm>
          <a:prstGeom prst="rect">
            <a:avLst/>
          </a:prstGeom>
        </p:spPr>
      </p:pic>
    </p:spTree>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pic>
        <p:nvPicPr>
          <p:cNvPr id="9512" name="Picture 4" descr="Close-up of a baseball&#10;&#10;AI-generated content may be incorrect.">
            <a:extLst>
              <a:ext uri="{FF2B5EF4-FFF2-40B4-BE49-F238E27FC236}">
                <a16:creationId xmlns:a16="http://schemas.microsoft.com/office/drawing/2014/main" id="{BEC51A65-3D64-CFA8-AE9C-9D5679B8540C}"/>
              </a:ext>
            </a:extLst>
          </p:cNvPr>
          <p:cNvPicPr>
            <a:picLocks noChangeAspect="1"/>
          </p:cNvPicPr>
          <p:nvPr/>
        </p:nvPicPr>
        <p:blipFill>
          <a:blip r:embed="rId3">
            <a:duotone>
              <a:prstClr val="black"/>
              <a:schemeClr val="tx2">
                <a:tint val="45000"/>
                <a:satMod val="400000"/>
              </a:schemeClr>
            </a:duotone>
            <a:alphaModFix amt="35000"/>
          </a:blip>
          <a:srcRect l="25000"/>
          <a:stretch>
            <a:fillRect/>
          </a:stretch>
        </p:blipFill>
        <p:spPr>
          <a:xfrm>
            <a:off x="20" y="11"/>
            <a:ext cx="9143980" cy="6331864"/>
          </a:xfrm>
          <a:prstGeom prst="rect">
            <a:avLst/>
          </a:prstGeom>
        </p:spPr>
      </p:pic>
      <p:sp>
        <p:nvSpPr>
          <p:cNvPr id="2" name="TextBox 1"/>
          <p:cNvSpPr txBox="1"/>
          <p:nvPr/>
        </p:nvSpPr>
        <p:spPr>
          <a:xfrm>
            <a:off x="0" y="211362"/>
            <a:ext cx="9321783" cy="646331"/>
          </a:xfrm>
          <a:prstGeom prst="rect">
            <a:avLst/>
          </a:prstGeom>
          <a:noFill/>
        </p:spPr>
        <p:txBody>
          <a:bodyPr wrap="none">
            <a:spAutoFit/>
          </a:bodyPr>
          <a:lstStyle/>
          <a:p>
            <a:pPr>
              <a:defRPr sz="2800" b="1">
                <a:solidFill>
                  <a:srgbClr val="FFFFFF"/>
                </a:solidFill>
              </a:defRPr>
            </a:pPr>
            <a:r>
              <a:rPr sz="3600" b="1" spc="-50" dirty="0">
                <a:solidFill>
                  <a:srgbClr val="FFFFFF"/>
                </a:solidFill>
                <a:latin typeface="+mj-lt"/>
                <a:ea typeface="+mj-ea"/>
                <a:cs typeface="+mj-cs"/>
              </a:rPr>
              <a:t>Case Study: Jameson Taillon </a:t>
            </a:r>
            <a:r>
              <a:rPr lang="en-US" sz="3600" b="1" spc="-50" dirty="0">
                <a:solidFill>
                  <a:srgbClr val="FFFFFF"/>
                </a:solidFill>
                <a:latin typeface="+mj-lt"/>
                <a:ea typeface="+mj-ea"/>
                <a:cs typeface="+mj-cs"/>
              </a:rPr>
              <a:t>–</a:t>
            </a:r>
            <a:r>
              <a:rPr sz="3600" b="1" spc="-50" dirty="0">
                <a:solidFill>
                  <a:srgbClr val="FFFFFF"/>
                </a:solidFill>
                <a:latin typeface="+mj-lt"/>
                <a:ea typeface="+mj-ea"/>
                <a:cs typeface="+mj-cs"/>
              </a:rPr>
              <a:t> </a:t>
            </a:r>
            <a:r>
              <a:rPr lang="en-US" sz="3600" b="1" spc="-50" dirty="0">
                <a:solidFill>
                  <a:srgbClr val="FFFFFF"/>
                </a:solidFill>
                <a:latin typeface="+mj-lt"/>
                <a:ea typeface="+mj-ea"/>
                <a:cs typeface="+mj-cs"/>
              </a:rPr>
              <a:t>TJ Effects with Aging</a:t>
            </a:r>
            <a:endParaRPr sz="3600" b="1" spc="-50" dirty="0">
              <a:solidFill>
                <a:srgbClr val="FFFFFF"/>
              </a:solidFill>
              <a:latin typeface="+mj-lt"/>
              <a:ea typeface="+mj-ea"/>
              <a:cs typeface="+mj-cs"/>
            </a:endParaRPr>
          </a:p>
        </p:txBody>
      </p:sp>
      <p:pic>
        <p:nvPicPr>
          <p:cNvPr id="7" name="Picture 6">
            <a:extLst>
              <a:ext uri="{FF2B5EF4-FFF2-40B4-BE49-F238E27FC236}">
                <a16:creationId xmlns:a16="http://schemas.microsoft.com/office/drawing/2014/main" id="{7E4155FE-F6B0-B99F-8371-F4C0D7D18688}"/>
              </a:ext>
            </a:extLst>
          </p:cNvPr>
          <p:cNvPicPr>
            <a:picLocks noChangeAspect="1"/>
          </p:cNvPicPr>
          <p:nvPr/>
        </p:nvPicPr>
        <p:blipFill>
          <a:blip r:embed="rId4"/>
          <a:stretch>
            <a:fillRect/>
          </a:stretch>
        </p:blipFill>
        <p:spPr>
          <a:xfrm>
            <a:off x="143306" y="1021278"/>
            <a:ext cx="8699523" cy="5074722"/>
          </a:xfrm>
          <a:prstGeom prst="rect">
            <a:avLst/>
          </a:prstGeom>
        </p:spPr>
      </p:pic>
    </p:spTree>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C1E33630-F4D0-37A9-AA22-2D1C397A6E88}"/>
            </a:ext>
          </a:extLst>
        </p:cNvPr>
        <p:cNvGrpSpPr/>
        <p:nvPr/>
      </p:nvGrpSpPr>
      <p:grpSpPr>
        <a:xfrm>
          <a:off x="0" y="0"/>
          <a:ext cx="0" cy="0"/>
          <a:chOff x="0" y="0"/>
          <a:chExt cx="0" cy="0"/>
        </a:xfrm>
      </p:grpSpPr>
      <p:pic>
        <p:nvPicPr>
          <p:cNvPr id="5" name="Picture 4" descr="Close-up of baseball on infield">
            <a:extLst>
              <a:ext uri="{FF2B5EF4-FFF2-40B4-BE49-F238E27FC236}">
                <a16:creationId xmlns:a16="http://schemas.microsoft.com/office/drawing/2014/main" id="{582D8DA0-6741-E259-399B-7FEDE86CEB24}"/>
              </a:ext>
            </a:extLst>
          </p:cNvPr>
          <p:cNvPicPr>
            <a:picLocks noChangeAspect="1"/>
          </p:cNvPicPr>
          <p:nvPr/>
        </p:nvPicPr>
        <p:blipFill>
          <a:blip r:embed="rId3">
            <a:duotone>
              <a:prstClr val="black"/>
              <a:schemeClr val="tx2">
                <a:tint val="45000"/>
                <a:satMod val="400000"/>
              </a:schemeClr>
            </a:duotone>
            <a:alphaModFix amt="20000"/>
          </a:blip>
          <a:srcRect l="10569" r="430" b="-1"/>
          <a:stretch>
            <a:fillRect/>
          </a:stretch>
        </p:blipFill>
        <p:spPr>
          <a:xfrm>
            <a:off x="20" y="10"/>
            <a:ext cx="9143980" cy="6334306"/>
          </a:xfrm>
          <a:prstGeom prst="rect">
            <a:avLst/>
          </a:prstGeom>
        </p:spPr>
      </p:pic>
      <p:sp>
        <p:nvSpPr>
          <p:cNvPr id="2" name="TextBox 1">
            <a:extLst>
              <a:ext uri="{FF2B5EF4-FFF2-40B4-BE49-F238E27FC236}">
                <a16:creationId xmlns:a16="http://schemas.microsoft.com/office/drawing/2014/main" id="{2F8BC72C-4651-5E9B-8BF5-34A70BB1C8E4}"/>
              </a:ext>
            </a:extLst>
          </p:cNvPr>
          <p:cNvSpPr txBox="1"/>
          <p:nvPr/>
        </p:nvSpPr>
        <p:spPr>
          <a:xfrm>
            <a:off x="141514" y="189259"/>
            <a:ext cx="8377422" cy="646331"/>
          </a:xfrm>
          <a:prstGeom prst="rect">
            <a:avLst/>
          </a:prstGeom>
          <a:noFill/>
        </p:spPr>
        <p:txBody>
          <a:bodyPr wrap="none">
            <a:spAutoFit/>
          </a:bodyPr>
          <a:lstStyle/>
          <a:p>
            <a:pPr>
              <a:defRPr sz="2800" b="1">
                <a:solidFill>
                  <a:srgbClr val="FFFFFF"/>
                </a:solidFill>
              </a:defRPr>
            </a:pPr>
            <a:r>
              <a:rPr sz="3600" b="1" spc="-50" dirty="0">
                <a:solidFill>
                  <a:srgbClr val="FFFFFF"/>
                </a:solidFill>
                <a:latin typeface="+mj-lt"/>
                <a:ea typeface="+mj-ea"/>
                <a:cs typeface="+mj-cs"/>
              </a:rPr>
              <a:t>Case Study: </a:t>
            </a:r>
            <a:r>
              <a:rPr lang="en-US" sz="3600" b="1" spc="-50" dirty="0">
                <a:solidFill>
                  <a:srgbClr val="FFFFFF"/>
                </a:solidFill>
                <a:latin typeface="+mj-lt"/>
                <a:ea typeface="+mj-ea"/>
                <a:cs typeface="+mj-cs"/>
              </a:rPr>
              <a:t>Chris Bassitt –</a:t>
            </a:r>
            <a:r>
              <a:rPr sz="3600" b="1" spc="-50" dirty="0">
                <a:solidFill>
                  <a:srgbClr val="FFFFFF"/>
                </a:solidFill>
                <a:latin typeface="+mj-lt"/>
                <a:ea typeface="+mj-ea"/>
                <a:cs typeface="+mj-cs"/>
              </a:rPr>
              <a:t> </a:t>
            </a:r>
            <a:r>
              <a:rPr lang="en-US" sz="3600" b="1" spc="-50" dirty="0">
                <a:solidFill>
                  <a:srgbClr val="FFFFFF"/>
                </a:solidFill>
                <a:latin typeface="+mj-lt"/>
                <a:ea typeface="+mj-ea"/>
                <a:cs typeface="+mj-cs"/>
              </a:rPr>
              <a:t>TJ Effects with Aging</a:t>
            </a:r>
            <a:endParaRPr sz="3600" b="1" spc="-50" dirty="0">
              <a:solidFill>
                <a:srgbClr val="FFFFFF"/>
              </a:solidFill>
              <a:latin typeface="+mj-lt"/>
              <a:ea typeface="+mj-ea"/>
              <a:cs typeface="+mj-cs"/>
            </a:endParaRPr>
          </a:p>
        </p:txBody>
      </p:sp>
      <p:pic>
        <p:nvPicPr>
          <p:cNvPr id="4" name="Picture 3">
            <a:extLst>
              <a:ext uri="{FF2B5EF4-FFF2-40B4-BE49-F238E27FC236}">
                <a16:creationId xmlns:a16="http://schemas.microsoft.com/office/drawing/2014/main" id="{D9E55898-0924-BABD-AAB2-DA4E44F09B21}"/>
              </a:ext>
            </a:extLst>
          </p:cNvPr>
          <p:cNvPicPr>
            <a:picLocks noChangeAspect="1"/>
          </p:cNvPicPr>
          <p:nvPr/>
        </p:nvPicPr>
        <p:blipFill>
          <a:blip r:embed="rId4"/>
          <a:stretch>
            <a:fillRect/>
          </a:stretch>
        </p:blipFill>
        <p:spPr>
          <a:xfrm>
            <a:off x="141514" y="1003300"/>
            <a:ext cx="8860971" cy="5168900"/>
          </a:xfrm>
          <a:prstGeom prst="rect">
            <a:avLst/>
          </a:prstGeom>
        </p:spPr>
      </p:pic>
    </p:spTree>
    <p:extLst>
      <p:ext uri="{BB962C8B-B14F-4D97-AF65-F5344CB8AC3E}">
        <p14:creationId xmlns:p14="http://schemas.microsoft.com/office/powerpoint/2010/main" val="1458542291"/>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1FB2061C-1E83-BB46-72D6-A7D52B2A3C07}"/>
            </a:ext>
          </a:extLst>
        </p:cNvPr>
        <p:cNvGrpSpPr/>
        <p:nvPr/>
      </p:nvGrpSpPr>
      <p:grpSpPr>
        <a:xfrm>
          <a:off x="0" y="0"/>
          <a:ext cx="0" cy="0"/>
          <a:chOff x="0" y="0"/>
          <a:chExt cx="0" cy="0"/>
        </a:xfrm>
      </p:grpSpPr>
      <p:pic>
        <p:nvPicPr>
          <p:cNvPr id="9514" name="Picture 4" descr="Close-up of a baseball&#10;&#10;AI-generated content may be incorrect.">
            <a:extLst>
              <a:ext uri="{FF2B5EF4-FFF2-40B4-BE49-F238E27FC236}">
                <a16:creationId xmlns:a16="http://schemas.microsoft.com/office/drawing/2014/main" id="{BEC51A65-3D64-CFA8-AE9C-9D5679B8540C}"/>
              </a:ext>
            </a:extLst>
          </p:cNvPr>
          <p:cNvPicPr>
            <a:picLocks noChangeAspect="1"/>
          </p:cNvPicPr>
          <p:nvPr/>
        </p:nvPicPr>
        <p:blipFill>
          <a:blip r:embed="rId3">
            <a:duotone>
              <a:prstClr val="black"/>
              <a:schemeClr val="tx2">
                <a:tint val="45000"/>
                <a:satMod val="400000"/>
              </a:schemeClr>
            </a:duotone>
            <a:alphaModFix amt="35000"/>
          </a:blip>
          <a:srcRect l="25000"/>
          <a:stretch>
            <a:fillRect/>
          </a:stretch>
        </p:blipFill>
        <p:spPr>
          <a:xfrm>
            <a:off x="20" y="10"/>
            <a:ext cx="9143980" cy="6338343"/>
          </a:xfrm>
          <a:prstGeom prst="rect">
            <a:avLst/>
          </a:prstGeom>
        </p:spPr>
      </p:pic>
      <p:sp>
        <p:nvSpPr>
          <p:cNvPr id="2" name="TextBox 1">
            <a:extLst>
              <a:ext uri="{FF2B5EF4-FFF2-40B4-BE49-F238E27FC236}">
                <a16:creationId xmlns:a16="http://schemas.microsoft.com/office/drawing/2014/main" id="{250B2E11-8B9A-D434-A26E-37050126C375}"/>
              </a:ext>
            </a:extLst>
          </p:cNvPr>
          <p:cNvSpPr txBox="1"/>
          <p:nvPr/>
        </p:nvSpPr>
        <p:spPr>
          <a:xfrm>
            <a:off x="103414" y="250895"/>
            <a:ext cx="8620117" cy="646331"/>
          </a:xfrm>
          <a:prstGeom prst="rect">
            <a:avLst/>
          </a:prstGeom>
          <a:noFill/>
        </p:spPr>
        <p:txBody>
          <a:bodyPr wrap="none">
            <a:spAutoFit/>
          </a:bodyPr>
          <a:lstStyle/>
          <a:p>
            <a:pPr>
              <a:defRPr sz="2800" b="1">
                <a:solidFill>
                  <a:srgbClr val="FFFFFF"/>
                </a:solidFill>
              </a:defRPr>
            </a:pPr>
            <a:r>
              <a:rPr sz="3600" b="1" spc="-50" dirty="0">
                <a:solidFill>
                  <a:srgbClr val="FFFFFF"/>
                </a:solidFill>
                <a:latin typeface="+mj-lt"/>
                <a:ea typeface="+mj-ea"/>
                <a:cs typeface="+mj-cs"/>
              </a:rPr>
              <a:t>Case Study: </a:t>
            </a:r>
            <a:r>
              <a:rPr lang="en-US" sz="3600" b="1" spc="-50" dirty="0">
                <a:solidFill>
                  <a:srgbClr val="FFFFFF"/>
                </a:solidFill>
                <a:latin typeface="+mj-lt"/>
                <a:ea typeface="+mj-ea"/>
                <a:cs typeface="+mj-cs"/>
              </a:rPr>
              <a:t>Hunter Brown – Velocity Predictions</a:t>
            </a:r>
            <a:endParaRPr sz="3600" b="1" spc="-50" dirty="0">
              <a:solidFill>
                <a:srgbClr val="FFFFFF"/>
              </a:solidFill>
              <a:latin typeface="+mj-lt"/>
              <a:ea typeface="+mj-ea"/>
              <a:cs typeface="+mj-cs"/>
            </a:endParaRPr>
          </a:p>
        </p:txBody>
      </p:sp>
      <p:pic>
        <p:nvPicPr>
          <p:cNvPr id="3" name="Picture 2">
            <a:extLst>
              <a:ext uri="{FF2B5EF4-FFF2-40B4-BE49-F238E27FC236}">
                <a16:creationId xmlns:a16="http://schemas.microsoft.com/office/drawing/2014/main" id="{E6F8838D-7D01-F326-36B3-C93E29CFD99A}"/>
              </a:ext>
            </a:extLst>
          </p:cNvPr>
          <p:cNvPicPr>
            <a:picLocks noChangeAspect="1"/>
          </p:cNvPicPr>
          <p:nvPr/>
        </p:nvPicPr>
        <p:blipFill>
          <a:blip r:embed="rId4"/>
          <a:stretch>
            <a:fillRect/>
          </a:stretch>
        </p:blipFill>
        <p:spPr>
          <a:xfrm>
            <a:off x="103414" y="921636"/>
            <a:ext cx="8937171" cy="5362303"/>
          </a:xfrm>
          <a:prstGeom prst="rect">
            <a:avLst/>
          </a:prstGeom>
        </p:spPr>
      </p:pic>
    </p:spTree>
    <p:extLst>
      <p:ext uri="{BB962C8B-B14F-4D97-AF65-F5344CB8AC3E}">
        <p14:creationId xmlns:p14="http://schemas.microsoft.com/office/powerpoint/2010/main" val="1450717772"/>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9A46669C-01A9-3498-239B-E1C10C23AA98}"/>
            </a:ext>
          </a:extLst>
        </p:cNvPr>
        <p:cNvGrpSpPr/>
        <p:nvPr/>
      </p:nvGrpSpPr>
      <p:grpSpPr>
        <a:xfrm>
          <a:off x="0" y="0"/>
          <a:ext cx="0" cy="0"/>
          <a:chOff x="0" y="0"/>
          <a:chExt cx="0" cy="0"/>
        </a:xfrm>
      </p:grpSpPr>
      <p:pic>
        <p:nvPicPr>
          <p:cNvPr id="5" name="Picture 4" descr="Close-up of baseball on infield">
            <a:extLst>
              <a:ext uri="{FF2B5EF4-FFF2-40B4-BE49-F238E27FC236}">
                <a16:creationId xmlns:a16="http://schemas.microsoft.com/office/drawing/2014/main" id="{C012F673-A340-F404-5349-A781A1E79510}"/>
              </a:ext>
            </a:extLst>
          </p:cNvPr>
          <p:cNvPicPr>
            <a:picLocks noChangeAspect="1"/>
          </p:cNvPicPr>
          <p:nvPr/>
        </p:nvPicPr>
        <p:blipFill>
          <a:blip r:embed="rId3">
            <a:duotone>
              <a:prstClr val="black"/>
              <a:schemeClr val="tx2">
                <a:tint val="45000"/>
                <a:satMod val="400000"/>
              </a:schemeClr>
            </a:duotone>
            <a:alphaModFix amt="20000"/>
          </a:blip>
          <a:srcRect l="10569" r="430" b="-1"/>
          <a:stretch>
            <a:fillRect/>
          </a:stretch>
        </p:blipFill>
        <p:spPr>
          <a:xfrm>
            <a:off x="20" y="10"/>
            <a:ext cx="9143980" cy="6334306"/>
          </a:xfrm>
          <a:prstGeom prst="rect">
            <a:avLst/>
          </a:prstGeom>
        </p:spPr>
      </p:pic>
      <p:sp>
        <p:nvSpPr>
          <p:cNvPr id="2" name="TextBox 1">
            <a:extLst>
              <a:ext uri="{FF2B5EF4-FFF2-40B4-BE49-F238E27FC236}">
                <a16:creationId xmlns:a16="http://schemas.microsoft.com/office/drawing/2014/main" id="{F3F977FD-3D38-C849-74CF-F37883150A31}"/>
              </a:ext>
            </a:extLst>
          </p:cNvPr>
          <p:cNvSpPr txBox="1"/>
          <p:nvPr/>
        </p:nvSpPr>
        <p:spPr>
          <a:xfrm>
            <a:off x="0" y="273669"/>
            <a:ext cx="9012404" cy="646331"/>
          </a:xfrm>
          <a:prstGeom prst="rect">
            <a:avLst/>
          </a:prstGeom>
          <a:noFill/>
        </p:spPr>
        <p:txBody>
          <a:bodyPr wrap="none">
            <a:spAutoFit/>
          </a:bodyPr>
          <a:lstStyle/>
          <a:p>
            <a:pPr>
              <a:defRPr sz="2800" b="1">
                <a:solidFill>
                  <a:srgbClr val="FFFFFF"/>
                </a:solidFill>
              </a:defRPr>
            </a:pPr>
            <a:r>
              <a:rPr sz="3600" b="1" spc="-50" dirty="0">
                <a:solidFill>
                  <a:srgbClr val="FFFFFF"/>
                </a:solidFill>
                <a:latin typeface="+mj-lt"/>
                <a:ea typeface="+mj-ea"/>
                <a:cs typeface="+mj-cs"/>
              </a:rPr>
              <a:t>Case Study: </a:t>
            </a:r>
            <a:r>
              <a:rPr lang="en-US" sz="3600" b="1" spc="-50" dirty="0">
                <a:solidFill>
                  <a:srgbClr val="FFFFFF"/>
                </a:solidFill>
                <a:latin typeface="+mj-lt"/>
                <a:ea typeface="+mj-ea"/>
                <a:cs typeface="+mj-cs"/>
              </a:rPr>
              <a:t>Edward Cabrera – Velocity Predictions</a:t>
            </a:r>
            <a:endParaRPr sz="3600" b="1" spc="-50" dirty="0">
              <a:solidFill>
                <a:srgbClr val="FFFFFF"/>
              </a:solidFill>
              <a:latin typeface="+mj-lt"/>
              <a:ea typeface="+mj-ea"/>
              <a:cs typeface="+mj-cs"/>
            </a:endParaRPr>
          </a:p>
        </p:txBody>
      </p:sp>
      <p:pic>
        <p:nvPicPr>
          <p:cNvPr id="4" name="Picture 3">
            <a:extLst>
              <a:ext uri="{FF2B5EF4-FFF2-40B4-BE49-F238E27FC236}">
                <a16:creationId xmlns:a16="http://schemas.microsoft.com/office/drawing/2014/main" id="{68A17C97-D3FD-4AA2-0563-528D657B7CB9}"/>
              </a:ext>
            </a:extLst>
          </p:cNvPr>
          <p:cNvPicPr>
            <a:picLocks noChangeAspect="1"/>
          </p:cNvPicPr>
          <p:nvPr/>
        </p:nvPicPr>
        <p:blipFill>
          <a:blip r:embed="rId4"/>
          <a:stretch>
            <a:fillRect/>
          </a:stretch>
        </p:blipFill>
        <p:spPr>
          <a:xfrm>
            <a:off x="152400" y="954024"/>
            <a:ext cx="8696960" cy="5218176"/>
          </a:xfrm>
          <a:prstGeom prst="rect">
            <a:avLst/>
          </a:prstGeom>
        </p:spPr>
      </p:pic>
    </p:spTree>
    <p:extLst>
      <p:ext uri="{BB962C8B-B14F-4D97-AF65-F5344CB8AC3E}">
        <p14:creationId xmlns:p14="http://schemas.microsoft.com/office/powerpoint/2010/main" val="2399788988"/>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pic>
        <p:nvPicPr>
          <p:cNvPr id="9516" name="Picture 4" descr="Close-up of a baseball&#10;&#10;AI-generated content may be incorrect.">
            <a:extLst>
              <a:ext uri="{FF2B5EF4-FFF2-40B4-BE49-F238E27FC236}">
                <a16:creationId xmlns:a16="http://schemas.microsoft.com/office/drawing/2014/main" id="{BEC51A65-3D64-CFA8-AE9C-9D5679B8540C}"/>
              </a:ext>
            </a:extLst>
          </p:cNvPr>
          <p:cNvPicPr>
            <a:picLocks noChangeAspect="1"/>
          </p:cNvPicPr>
          <p:nvPr/>
        </p:nvPicPr>
        <p:blipFill>
          <a:blip r:embed="rId3">
            <a:duotone>
              <a:prstClr val="black"/>
              <a:schemeClr val="tx2">
                <a:tint val="45000"/>
                <a:satMod val="400000"/>
              </a:schemeClr>
            </a:duotone>
            <a:alphaModFix amt="35000"/>
          </a:blip>
          <a:srcRect l="25000"/>
          <a:stretch>
            <a:fillRect/>
          </a:stretch>
        </p:blipFill>
        <p:spPr>
          <a:xfrm>
            <a:off x="20" y="10"/>
            <a:ext cx="9143980" cy="6857991"/>
          </a:xfrm>
          <a:prstGeom prst="rect">
            <a:avLst/>
          </a:prstGeom>
        </p:spPr>
      </p:pic>
      <p:sp>
        <p:nvSpPr>
          <p:cNvPr id="70" name="Rectangle 69">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2" name="Rectangle 71">
            <a:extLst>
              <a:ext uri="{FF2B5EF4-FFF2-40B4-BE49-F238E27FC236}">
                <a16:creationId xmlns:a16="http://schemas.microsoft.com/office/drawing/2014/main" id="{1A03258A-52C6-4288-AA56-C3262A0D25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74" name="Straight Connector 73">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5AF3374-98C4-4020-BC8A-1E9636306F2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2">
                <a:alpha val="80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822960" y="286603"/>
            <a:ext cx="7543800" cy="1450757"/>
          </a:xfrm>
          <a:prstGeom prst="rect">
            <a:avLst/>
          </a:prstGeom>
        </p:spPr>
        <p:txBody>
          <a:bodyPr vert="horz" lIns="91440" tIns="45720" rIns="91440" bIns="45720" rtlCol="0" anchor="b">
            <a:normAutofit/>
          </a:bodyPr>
          <a:lstStyle/>
          <a:p>
            <a:pPr defTabSz="914400">
              <a:lnSpc>
                <a:spcPct val="85000"/>
              </a:lnSpc>
              <a:spcBef>
                <a:spcPct val="0"/>
              </a:spcBef>
              <a:spcAft>
                <a:spcPts val="600"/>
              </a:spcAft>
              <a:defRPr sz="2800" b="1">
                <a:solidFill>
                  <a:srgbClr val="FFFFFF"/>
                </a:solidFill>
              </a:defRPr>
            </a:pPr>
            <a:r>
              <a:rPr lang="en-US" sz="4800" spc="-50" dirty="0">
                <a:solidFill>
                  <a:schemeClr val="tx1">
                    <a:lumMod val="75000"/>
                    <a:lumOff val="25000"/>
                  </a:schemeClr>
                </a:solidFill>
                <a:latin typeface="+mj-lt"/>
                <a:ea typeface="+mj-ea"/>
                <a:cs typeface="+mj-cs"/>
              </a:rPr>
              <a:t>Key Takeaways I</a:t>
            </a:r>
          </a:p>
        </p:txBody>
      </p:sp>
      <p:graphicFrame>
        <p:nvGraphicFramePr>
          <p:cNvPr id="20" name="Diagram 19">
            <a:extLst>
              <a:ext uri="{FF2B5EF4-FFF2-40B4-BE49-F238E27FC236}">
                <a16:creationId xmlns:a16="http://schemas.microsoft.com/office/drawing/2014/main" id="{01255916-2081-2E26-4A2A-B9E9FF284392}"/>
              </a:ext>
            </a:extLst>
          </p:cNvPr>
          <p:cNvGraphicFramePr/>
          <p:nvPr>
            <p:extLst>
              <p:ext uri="{D42A27DB-BD31-4B8C-83A1-F6EECF244321}">
                <p14:modId xmlns:p14="http://schemas.microsoft.com/office/powerpoint/2010/main" val="50183088"/>
              </p:ext>
            </p:extLst>
          </p:nvPr>
        </p:nvGraphicFramePr>
        <p:xfrm>
          <a:off x="584840" y="653511"/>
          <a:ext cx="8095838" cy="66024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8" name="Rectangle 77">
            <a:extLst>
              <a:ext uri="{FF2B5EF4-FFF2-40B4-BE49-F238E27FC236}">
                <a16:creationId xmlns:a16="http://schemas.microsoft.com/office/drawing/2014/main" id="{0ABACFF0-2A9C-40B2-AD8B-4BF8B36A5D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rgbClr val="B27E2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0" name="Rectangle 79">
            <a:extLst>
              <a:ext uri="{FF2B5EF4-FFF2-40B4-BE49-F238E27FC236}">
                <a16:creationId xmlns:a16="http://schemas.microsoft.com/office/drawing/2014/main" id="{0F093FA5-C51D-489E-81CB-B9B62654C6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Rectangle 3">
            <a:extLst>
              <a:ext uri="{FF2B5EF4-FFF2-40B4-BE49-F238E27FC236}">
                <a16:creationId xmlns:a16="http://schemas.microsoft.com/office/drawing/2014/main" id="{86E1DE7B-19A3-18DA-44B9-494853BC32CA}"/>
              </a:ext>
            </a:extLst>
          </p:cNvPr>
          <p:cNvSpPr/>
          <p:nvPr/>
        </p:nvSpPr>
        <p:spPr>
          <a:xfrm rot="16200000">
            <a:off x="4539996" y="1803558"/>
            <a:ext cx="64007" cy="9144000"/>
          </a:xfrm>
          <a:prstGeom prst="rect">
            <a:avLst/>
          </a:prstGeom>
          <a:solidFill>
            <a:srgbClr val="007DDA"/>
          </a:solidFill>
          <a:ln>
            <a:solidFill>
              <a:srgbClr val="007D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D250B92-1953-B6BD-4EAA-018FDF894EB1}"/>
              </a:ext>
            </a:extLst>
          </p:cNvPr>
          <p:cNvSpPr/>
          <p:nvPr/>
        </p:nvSpPr>
        <p:spPr>
          <a:xfrm rot="16200000">
            <a:off x="4335978" y="2063321"/>
            <a:ext cx="464922" cy="9146359"/>
          </a:xfrm>
          <a:prstGeom prst="rect">
            <a:avLst/>
          </a:prstGeom>
          <a:solidFill>
            <a:srgbClr val="2683C6"/>
          </a:solidFill>
          <a:ln>
            <a:solidFill>
              <a:srgbClr val="2683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7EA8E5E-0F20-DEE7-819F-5A63EB296A7A}"/>
              </a:ext>
            </a:extLst>
          </p:cNvPr>
          <p:cNvSpPr/>
          <p:nvPr/>
        </p:nvSpPr>
        <p:spPr>
          <a:xfrm rot="16200000">
            <a:off x="4535478" y="1793240"/>
            <a:ext cx="70684" cy="9146359"/>
          </a:xfrm>
          <a:prstGeom prst="rect">
            <a:avLst/>
          </a:prstGeom>
          <a:solidFill>
            <a:srgbClr val="1CADE4"/>
          </a:solidFill>
          <a:ln>
            <a:solidFill>
              <a:srgbClr val="1CAD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0E544F60-ED95-12F5-E903-2D5368935B81}"/>
            </a:ext>
          </a:extLst>
        </p:cNvPr>
        <p:cNvGrpSpPr/>
        <p:nvPr/>
      </p:nvGrpSpPr>
      <p:grpSpPr>
        <a:xfrm>
          <a:off x="0" y="0"/>
          <a:ext cx="0" cy="0"/>
          <a:chOff x="0" y="0"/>
          <a:chExt cx="0" cy="0"/>
        </a:xfrm>
      </p:grpSpPr>
      <p:sp>
        <p:nvSpPr>
          <p:cNvPr id="70" name="Rectangle 69">
            <a:extLst>
              <a:ext uri="{FF2B5EF4-FFF2-40B4-BE49-F238E27FC236}">
                <a16:creationId xmlns:a16="http://schemas.microsoft.com/office/drawing/2014/main" id="{974C2091-8DD9-87EE-36BB-9FF0D5EC4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2" name="Rectangle 71">
            <a:extLst>
              <a:ext uri="{FF2B5EF4-FFF2-40B4-BE49-F238E27FC236}">
                <a16:creationId xmlns:a16="http://schemas.microsoft.com/office/drawing/2014/main" id="{48D59681-F5BF-CFD7-C5BB-6B30202EA3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74" name="Straight Connector 73">
            <a:extLst>
              <a:ext uri="{FF2B5EF4-FFF2-40B4-BE49-F238E27FC236}">
                <a16:creationId xmlns:a16="http://schemas.microsoft.com/office/drawing/2014/main" id="{4C3C68CE-A89F-A3A9-0D8F-5B25BEE146E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0A07D0DE-5B01-D575-0986-4310E6D941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2">
                <a:alpha val="80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Close-up of baseball on infield">
            <a:extLst>
              <a:ext uri="{FF2B5EF4-FFF2-40B4-BE49-F238E27FC236}">
                <a16:creationId xmlns:a16="http://schemas.microsoft.com/office/drawing/2014/main" id="{DCBE2A99-0052-1138-E212-41B25EBACA74}"/>
              </a:ext>
            </a:extLst>
          </p:cNvPr>
          <p:cNvPicPr>
            <a:picLocks noChangeAspect="1"/>
          </p:cNvPicPr>
          <p:nvPr/>
        </p:nvPicPr>
        <p:blipFill>
          <a:blip r:embed="rId3">
            <a:duotone>
              <a:prstClr val="black"/>
              <a:schemeClr val="tx2">
                <a:tint val="45000"/>
                <a:satMod val="400000"/>
              </a:schemeClr>
            </a:duotone>
            <a:alphaModFix amt="20000"/>
          </a:blip>
          <a:srcRect l="10569" r="430" b="-1"/>
          <a:stretch>
            <a:fillRect/>
          </a:stretch>
        </p:blipFill>
        <p:spPr>
          <a:xfrm>
            <a:off x="20" y="10"/>
            <a:ext cx="9143980" cy="6334306"/>
          </a:xfrm>
          <a:prstGeom prst="rect">
            <a:avLst/>
          </a:prstGeom>
        </p:spPr>
      </p:pic>
      <p:sp>
        <p:nvSpPr>
          <p:cNvPr id="2" name="TextBox 1">
            <a:extLst>
              <a:ext uri="{FF2B5EF4-FFF2-40B4-BE49-F238E27FC236}">
                <a16:creationId xmlns:a16="http://schemas.microsoft.com/office/drawing/2014/main" id="{8C39CFCB-E67F-9AAE-1977-87397ADCA8E1}"/>
              </a:ext>
            </a:extLst>
          </p:cNvPr>
          <p:cNvSpPr txBox="1"/>
          <p:nvPr/>
        </p:nvSpPr>
        <p:spPr>
          <a:xfrm>
            <a:off x="822960" y="286603"/>
            <a:ext cx="7543800" cy="1450757"/>
          </a:xfrm>
          <a:prstGeom prst="rect">
            <a:avLst/>
          </a:prstGeom>
        </p:spPr>
        <p:txBody>
          <a:bodyPr vert="horz" lIns="91440" tIns="45720" rIns="91440" bIns="45720" rtlCol="0" anchor="b">
            <a:normAutofit/>
          </a:bodyPr>
          <a:lstStyle/>
          <a:p>
            <a:pPr defTabSz="914400">
              <a:lnSpc>
                <a:spcPct val="85000"/>
              </a:lnSpc>
              <a:spcBef>
                <a:spcPct val="0"/>
              </a:spcBef>
              <a:spcAft>
                <a:spcPts val="600"/>
              </a:spcAft>
              <a:defRPr sz="2800" b="1">
                <a:solidFill>
                  <a:srgbClr val="FFFFFF"/>
                </a:solidFill>
              </a:defRPr>
            </a:pPr>
            <a:r>
              <a:rPr lang="en-US" sz="4800" spc="-50" dirty="0">
                <a:solidFill>
                  <a:schemeClr val="tx1">
                    <a:lumMod val="75000"/>
                    <a:lumOff val="25000"/>
                  </a:schemeClr>
                </a:solidFill>
                <a:latin typeface="+mj-lt"/>
                <a:ea typeface="+mj-ea"/>
                <a:cs typeface="+mj-cs"/>
              </a:rPr>
              <a:t>Key Takeaways II: TJ Patterns</a:t>
            </a:r>
          </a:p>
        </p:txBody>
      </p:sp>
      <p:sp>
        <p:nvSpPr>
          <p:cNvPr id="78" name="Rectangle 77">
            <a:extLst>
              <a:ext uri="{FF2B5EF4-FFF2-40B4-BE49-F238E27FC236}">
                <a16:creationId xmlns:a16="http://schemas.microsoft.com/office/drawing/2014/main" id="{22585B2A-7840-399A-0107-E0C7667A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rgbClr val="B27E2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0" name="Rectangle 79">
            <a:extLst>
              <a:ext uri="{FF2B5EF4-FFF2-40B4-BE49-F238E27FC236}">
                <a16:creationId xmlns:a16="http://schemas.microsoft.com/office/drawing/2014/main" id="{2539BE92-AD45-4599-BC3F-2CBFF73A2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Rectangle 3">
            <a:extLst>
              <a:ext uri="{FF2B5EF4-FFF2-40B4-BE49-F238E27FC236}">
                <a16:creationId xmlns:a16="http://schemas.microsoft.com/office/drawing/2014/main" id="{BA9DCA8B-9DD7-F238-124C-151BE4598937}"/>
              </a:ext>
            </a:extLst>
          </p:cNvPr>
          <p:cNvSpPr/>
          <p:nvPr/>
        </p:nvSpPr>
        <p:spPr>
          <a:xfrm rot="16200000">
            <a:off x="4539996" y="1803558"/>
            <a:ext cx="64007" cy="9144000"/>
          </a:xfrm>
          <a:prstGeom prst="rect">
            <a:avLst/>
          </a:prstGeom>
          <a:solidFill>
            <a:srgbClr val="007DDA"/>
          </a:solidFill>
          <a:ln>
            <a:solidFill>
              <a:srgbClr val="007D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437F13C-1655-CA18-5EB8-DBC88A919745}"/>
              </a:ext>
            </a:extLst>
          </p:cNvPr>
          <p:cNvPicPr>
            <a:picLocks noChangeAspect="1"/>
          </p:cNvPicPr>
          <p:nvPr/>
        </p:nvPicPr>
        <p:blipFill>
          <a:blip r:embed="rId4"/>
          <a:stretch>
            <a:fillRect/>
          </a:stretch>
        </p:blipFill>
        <p:spPr>
          <a:xfrm>
            <a:off x="940504" y="1865472"/>
            <a:ext cx="7270043" cy="4240858"/>
          </a:xfrm>
          <a:prstGeom prst="rect">
            <a:avLst/>
          </a:prstGeom>
        </p:spPr>
      </p:pic>
      <p:sp>
        <p:nvSpPr>
          <p:cNvPr id="9" name="Rectangle 8">
            <a:extLst>
              <a:ext uri="{FF2B5EF4-FFF2-40B4-BE49-F238E27FC236}">
                <a16:creationId xmlns:a16="http://schemas.microsoft.com/office/drawing/2014/main" id="{5FE23792-27A7-AA6A-81E0-BDA069F072F8}"/>
              </a:ext>
            </a:extLst>
          </p:cNvPr>
          <p:cNvSpPr/>
          <p:nvPr/>
        </p:nvSpPr>
        <p:spPr>
          <a:xfrm rot="16200000">
            <a:off x="4335978" y="2063321"/>
            <a:ext cx="464922" cy="9146359"/>
          </a:xfrm>
          <a:prstGeom prst="rect">
            <a:avLst/>
          </a:prstGeom>
          <a:solidFill>
            <a:srgbClr val="2683C6"/>
          </a:solidFill>
          <a:ln>
            <a:solidFill>
              <a:srgbClr val="2683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936414-211D-132A-CF8D-1C2C03C0A78C}"/>
              </a:ext>
            </a:extLst>
          </p:cNvPr>
          <p:cNvSpPr/>
          <p:nvPr/>
        </p:nvSpPr>
        <p:spPr>
          <a:xfrm rot="16200000">
            <a:off x="4535478" y="1793240"/>
            <a:ext cx="70684" cy="9146359"/>
          </a:xfrm>
          <a:prstGeom prst="rect">
            <a:avLst/>
          </a:prstGeom>
          <a:solidFill>
            <a:srgbClr val="1CADE4"/>
          </a:solidFill>
          <a:ln>
            <a:solidFill>
              <a:srgbClr val="1CAD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6190877"/>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79DEC824-90A8-2BF8-9CCB-2245AA09B36E}"/>
            </a:ext>
          </a:extLst>
        </p:cNvPr>
        <p:cNvGrpSpPr/>
        <p:nvPr/>
      </p:nvGrpSpPr>
      <p:grpSpPr>
        <a:xfrm>
          <a:off x="0" y="0"/>
          <a:ext cx="0" cy="0"/>
          <a:chOff x="0" y="0"/>
          <a:chExt cx="0" cy="0"/>
        </a:xfrm>
      </p:grpSpPr>
      <p:pic>
        <p:nvPicPr>
          <p:cNvPr id="9516" name="Picture 4" descr="Close-up of a baseball&#10;&#10;AI-generated content may be incorrect.">
            <a:extLst>
              <a:ext uri="{FF2B5EF4-FFF2-40B4-BE49-F238E27FC236}">
                <a16:creationId xmlns:a16="http://schemas.microsoft.com/office/drawing/2014/main" id="{95CB9C58-C008-5179-B539-E583A5A552B7}"/>
              </a:ext>
            </a:extLst>
          </p:cNvPr>
          <p:cNvPicPr>
            <a:picLocks noChangeAspect="1"/>
          </p:cNvPicPr>
          <p:nvPr/>
        </p:nvPicPr>
        <p:blipFill>
          <a:blip r:embed="rId3">
            <a:duotone>
              <a:prstClr val="black"/>
              <a:schemeClr val="tx2">
                <a:tint val="45000"/>
                <a:satMod val="400000"/>
              </a:schemeClr>
            </a:duotone>
            <a:alphaModFix amt="35000"/>
          </a:blip>
          <a:srcRect l="25000"/>
          <a:stretch>
            <a:fillRect/>
          </a:stretch>
        </p:blipFill>
        <p:spPr>
          <a:xfrm>
            <a:off x="20" y="10"/>
            <a:ext cx="9143980" cy="6857991"/>
          </a:xfrm>
          <a:prstGeom prst="rect">
            <a:avLst/>
          </a:prstGeom>
        </p:spPr>
      </p:pic>
      <p:sp>
        <p:nvSpPr>
          <p:cNvPr id="70" name="Rectangle 69">
            <a:extLst>
              <a:ext uri="{FF2B5EF4-FFF2-40B4-BE49-F238E27FC236}">
                <a16:creationId xmlns:a16="http://schemas.microsoft.com/office/drawing/2014/main" id="{A6263C45-4B25-91C1-BF27-CE8DA7927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2" name="Rectangle 71">
            <a:extLst>
              <a:ext uri="{FF2B5EF4-FFF2-40B4-BE49-F238E27FC236}">
                <a16:creationId xmlns:a16="http://schemas.microsoft.com/office/drawing/2014/main" id="{E0BDE0ED-3596-70F1-D15B-BE38406A70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74" name="Straight Connector 73">
            <a:extLst>
              <a:ext uri="{FF2B5EF4-FFF2-40B4-BE49-F238E27FC236}">
                <a16:creationId xmlns:a16="http://schemas.microsoft.com/office/drawing/2014/main" id="{41211603-15C1-CC2D-364C-CC0DAFC37C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04AB5FA-F697-3F93-70FA-0AB144686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2">
                <a:alpha val="8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A738A966-075D-884F-5A80-CC70E4CF8542}"/>
              </a:ext>
            </a:extLst>
          </p:cNvPr>
          <p:cNvSpPr txBox="1"/>
          <p:nvPr/>
        </p:nvSpPr>
        <p:spPr>
          <a:xfrm>
            <a:off x="822960" y="286603"/>
            <a:ext cx="7543800" cy="1450757"/>
          </a:xfrm>
          <a:prstGeom prst="rect">
            <a:avLst/>
          </a:prstGeom>
        </p:spPr>
        <p:txBody>
          <a:bodyPr vert="horz" lIns="91440" tIns="45720" rIns="91440" bIns="45720" rtlCol="0" anchor="b">
            <a:normAutofit/>
          </a:bodyPr>
          <a:lstStyle/>
          <a:p>
            <a:pPr defTabSz="914400">
              <a:lnSpc>
                <a:spcPct val="85000"/>
              </a:lnSpc>
              <a:spcBef>
                <a:spcPct val="0"/>
              </a:spcBef>
              <a:spcAft>
                <a:spcPts val="600"/>
              </a:spcAft>
              <a:defRPr sz="2800" b="1">
                <a:solidFill>
                  <a:srgbClr val="FFFFFF"/>
                </a:solidFill>
              </a:defRPr>
            </a:pPr>
            <a:r>
              <a:rPr lang="en-US" sz="4800" spc="-50" dirty="0">
                <a:solidFill>
                  <a:schemeClr val="tx1">
                    <a:lumMod val="75000"/>
                    <a:lumOff val="25000"/>
                  </a:schemeClr>
                </a:solidFill>
                <a:latin typeface="+mj-lt"/>
                <a:ea typeface="+mj-ea"/>
                <a:cs typeface="+mj-cs"/>
              </a:rPr>
              <a:t>Model Performance</a:t>
            </a:r>
          </a:p>
        </p:txBody>
      </p:sp>
      <p:sp>
        <p:nvSpPr>
          <p:cNvPr id="78" name="Rectangle 77">
            <a:extLst>
              <a:ext uri="{FF2B5EF4-FFF2-40B4-BE49-F238E27FC236}">
                <a16:creationId xmlns:a16="http://schemas.microsoft.com/office/drawing/2014/main" id="{C57276C4-0F93-A650-92EC-6AF86AE0A1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rgbClr val="B27E2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0" name="Rectangle 79">
            <a:extLst>
              <a:ext uri="{FF2B5EF4-FFF2-40B4-BE49-F238E27FC236}">
                <a16:creationId xmlns:a16="http://schemas.microsoft.com/office/drawing/2014/main" id="{7954E856-3995-397B-4A8C-B68BC6503C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Rectangle 3">
            <a:extLst>
              <a:ext uri="{FF2B5EF4-FFF2-40B4-BE49-F238E27FC236}">
                <a16:creationId xmlns:a16="http://schemas.microsoft.com/office/drawing/2014/main" id="{A4560080-FE10-6E84-8FF3-9EAC949862F0}"/>
              </a:ext>
            </a:extLst>
          </p:cNvPr>
          <p:cNvSpPr/>
          <p:nvPr/>
        </p:nvSpPr>
        <p:spPr>
          <a:xfrm rot="16200000">
            <a:off x="4539996" y="1803558"/>
            <a:ext cx="64007" cy="9144000"/>
          </a:xfrm>
          <a:prstGeom prst="rect">
            <a:avLst/>
          </a:prstGeom>
          <a:solidFill>
            <a:srgbClr val="007DDA"/>
          </a:solidFill>
          <a:ln>
            <a:solidFill>
              <a:srgbClr val="007D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0B88752-DCAC-2DAB-1D01-727E3BF2321F}"/>
              </a:ext>
            </a:extLst>
          </p:cNvPr>
          <p:cNvSpPr/>
          <p:nvPr/>
        </p:nvSpPr>
        <p:spPr>
          <a:xfrm rot="16200000">
            <a:off x="4335978" y="2063321"/>
            <a:ext cx="464922" cy="9146359"/>
          </a:xfrm>
          <a:prstGeom prst="rect">
            <a:avLst/>
          </a:prstGeom>
          <a:solidFill>
            <a:srgbClr val="2683C6"/>
          </a:solidFill>
          <a:ln>
            <a:solidFill>
              <a:srgbClr val="2683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5004831-488C-55D7-EA22-95AF645E14AA}"/>
              </a:ext>
            </a:extLst>
          </p:cNvPr>
          <p:cNvSpPr/>
          <p:nvPr/>
        </p:nvSpPr>
        <p:spPr>
          <a:xfrm rot="16200000">
            <a:off x="4535478" y="1793240"/>
            <a:ext cx="70684" cy="9146359"/>
          </a:xfrm>
          <a:prstGeom prst="rect">
            <a:avLst/>
          </a:prstGeom>
          <a:solidFill>
            <a:srgbClr val="1CADE4"/>
          </a:solidFill>
          <a:ln>
            <a:solidFill>
              <a:srgbClr val="1CAD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6E04368-DB6E-88AE-5FCB-D7248E326FEE}"/>
              </a:ext>
            </a:extLst>
          </p:cNvPr>
          <p:cNvSpPr txBox="1"/>
          <p:nvPr/>
        </p:nvSpPr>
        <p:spPr>
          <a:xfrm>
            <a:off x="472655" y="2053911"/>
            <a:ext cx="3094457" cy="3960129"/>
          </a:xfrm>
          <a:prstGeom prst="rect">
            <a:avLst/>
          </a:prstGeom>
        </p:spPr>
        <p:txBody>
          <a:bodyPr vert="horz" lIns="0" tIns="45720" rIns="0" bIns="45720" rtlCol="0">
            <a:normAutofit/>
          </a:bodyPr>
          <a:lstStyle/>
          <a:p>
            <a:pPr defTabSz="914400">
              <a:lnSpc>
                <a:spcPct val="90000"/>
              </a:lnSpc>
              <a:spcBef>
                <a:spcPts val="800"/>
              </a:spcBef>
              <a:buClr>
                <a:schemeClr val="accent1"/>
              </a:buClr>
              <a:buFont typeface="Calibri" panose="020F0502020204030204" pitchFamily="34" charset="0"/>
              <a:defRPr sz="1600"/>
            </a:pPr>
            <a:r>
              <a:rPr lang="en-US" sz="1600" b="1" dirty="0"/>
              <a:t>Training Data: </a:t>
            </a:r>
            <a:r>
              <a:rPr lang="en-US" sz="1500" b="1" dirty="0"/>
              <a:t>2015-2023</a:t>
            </a:r>
          </a:p>
          <a:p>
            <a:pPr defTabSz="914400">
              <a:lnSpc>
                <a:spcPct val="90000"/>
              </a:lnSpc>
              <a:spcBef>
                <a:spcPts val="800"/>
              </a:spcBef>
              <a:buClr>
                <a:schemeClr val="accent1"/>
              </a:buClr>
              <a:buFont typeface="Calibri" panose="020F0502020204030204" pitchFamily="34" charset="0"/>
              <a:defRPr sz="1600"/>
            </a:pPr>
            <a:r>
              <a:rPr lang="en-US" sz="1600" b="1" dirty="0"/>
              <a:t>Test Set:</a:t>
            </a:r>
            <a:r>
              <a:rPr lang="en-US" sz="1500" b="1" dirty="0"/>
              <a:t> 2024-2025</a:t>
            </a:r>
          </a:p>
          <a:p>
            <a:pPr defTabSz="914400">
              <a:lnSpc>
                <a:spcPct val="90000"/>
              </a:lnSpc>
              <a:spcBef>
                <a:spcPts val="800"/>
              </a:spcBef>
              <a:buClr>
                <a:schemeClr val="accent1"/>
              </a:buClr>
              <a:buFont typeface="Calibri" panose="020F0502020204030204" pitchFamily="34" charset="0"/>
              <a:defRPr sz="1600"/>
            </a:pPr>
            <a:endParaRPr lang="en-US" sz="1600" b="1" dirty="0"/>
          </a:p>
          <a:p>
            <a:pPr defTabSz="914400">
              <a:lnSpc>
                <a:spcPct val="90000"/>
              </a:lnSpc>
              <a:spcBef>
                <a:spcPts val="800"/>
              </a:spcBef>
              <a:buClr>
                <a:schemeClr val="accent1"/>
              </a:buClr>
              <a:buFont typeface="Calibri" panose="020F0502020204030204" pitchFamily="34" charset="0"/>
              <a:defRPr sz="1600"/>
            </a:pPr>
            <a:r>
              <a:rPr lang="en-US" sz="1600" b="1" dirty="0">
                <a:solidFill>
                  <a:srgbClr val="FFFFFF"/>
                </a:solidFill>
              </a:rPr>
              <a:t>VELOCITY PREDICTION ACCURACY:</a:t>
            </a:r>
          </a:p>
          <a:p>
            <a:pPr defTabSz="914400">
              <a:lnSpc>
                <a:spcPct val="90000"/>
              </a:lnSpc>
              <a:spcBef>
                <a:spcPts val="800"/>
              </a:spcBef>
              <a:buClr>
                <a:schemeClr val="accent1"/>
              </a:buClr>
              <a:buFont typeface="Calibri" panose="020F0502020204030204" pitchFamily="34" charset="0"/>
              <a:defRPr sz="1600"/>
            </a:pPr>
            <a:r>
              <a:rPr lang="en-US" sz="1500" b="1" dirty="0"/>
              <a:t>• RMSE: 1.28 mph </a:t>
            </a:r>
          </a:p>
          <a:p>
            <a:pPr defTabSz="914400">
              <a:lnSpc>
                <a:spcPct val="90000"/>
              </a:lnSpc>
              <a:spcBef>
                <a:spcPts val="800"/>
              </a:spcBef>
              <a:buClr>
                <a:schemeClr val="accent1"/>
              </a:buClr>
              <a:buFont typeface="Calibri" panose="020F0502020204030204" pitchFamily="34" charset="0"/>
              <a:defRPr sz="1600"/>
            </a:pPr>
            <a:r>
              <a:rPr lang="en-US" sz="1500" b="1" dirty="0"/>
              <a:t>• R²: 0.716</a:t>
            </a:r>
          </a:p>
          <a:p>
            <a:pPr defTabSz="914400">
              <a:lnSpc>
                <a:spcPct val="90000"/>
              </a:lnSpc>
              <a:spcBef>
                <a:spcPts val="800"/>
              </a:spcBef>
              <a:buClr>
                <a:schemeClr val="accent1"/>
              </a:buClr>
              <a:buFont typeface="Calibri" panose="020F0502020204030204" pitchFamily="34" charset="0"/>
              <a:defRPr sz="1600"/>
            </a:pPr>
            <a:endParaRPr lang="en-US" sz="1600" b="1" dirty="0"/>
          </a:p>
          <a:p>
            <a:pPr defTabSz="914400">
              <a:lnSpc>
                <a:spcPct val="90000"/>
              </a:lnSpc>
              <a:spcBef>
                <a:spcPts val="800"/>
              </a:spcBef>
              <a:buClr>
                <a:schemeClr val="accent1"/>
              </a:buClr>
              <a:buFont typeface="Calibri" panose="020F0502020204030204" pitchFamily="34" charset="0"/>
              <a:defRPr sz="1600"/>
            </a:pPr>
            <a:r>
              <a:rPr lang="en-US" sz="1600" b="1" dirty="0">
                <a:solidFill>
                  <a:srgbClr val="FFFFFF"/>
                </a:solidFill>
              </a:rPr>
              <a:t>INTERPRETATION:</a:t>
            </a:r>
          </a:p>
          <a:p>
            <a:pPr defTabSz="914400">
              <a:lnSpc>
                <a:spcPct val="90000"/>
              </a:lnSpc>
              <a:spcBef>
                <a:spcPts val="800"/>
              </a:spcBef>
              <a:buClr>
                <a:schemeClr val="accent1"/>
              </a:buClr>
              <a:buFont typeface="Calibri" panose="020F0502020204030204" pitchFamily="34" charset="0"/>
              <a:defRPr sz="1600"/>
            </a:pPr>
            <a:r>
              <a:rPr lang="en-US" sz="1500" b="1" dirty="0"/>
              <a:t>• Model captures primary aging/injury signals</a:t>
            </a:r>
          </a:p>
          <a:p>
            <a:pPr defTabSz="914400">
              <a:lnSpc>
                <a:spcPct val="90000"/>
              </a:lnSpc>
              <a:spcBef>
                <a:spcPts val="800"/>
              </a:spcBef>
              <a:buClr>
                <a:schemeClr val="accent1"/>
              </a:buClr>
              <a:buFont typeface="Calibri" panose="020F0502020204030204" pitchFamily="34" charset="0"/>
              <a:defRPr sz="1600"/>
            </a:pPr>
            <a:r>
              <a:rPr lang="en-US" sz="1500" b="1" dirty="0"/>
              <a:t>• Remaining variance: individual biomechanics, training, workload, etc.</a:t>
            </a:r>
          </a:p>
        </p:txBody>
      </p:sp>
      <p:pic>
        <p:nvPicPr>
          <p:cNvPr id="9" name="Picture 8">
            <a:extLst>
              <a:ext uri="{FF2B5EF4-FFF2-40B4-BE49-F238E27FC236}">
                <a16:creationId xmlns:a16="http://schemas.microsoft.com/office/drawing/2014/main" id="{54F1022E-9E0A-BA2A-A61F-1ACF105E60ED}"/>
              </a:ext>
            </a:extLst>
          </p:cNvPr>
          <p:cNvPicPr>
            <a:picLocks noChangeAspect="1"/>
          </p:cNvPicPr>
          <p:nvPr/>
        </p:nvPicPr>
        <p:blipFill>
          <a:blip r:embed="rId4"/>
          <a:stretch>
            <a:fillRect/>
          </a:stretch>
        </p:blipFill>
        <p:spPr>
          <a:xfrm>
            <a:off x="3686174" y="1934306"/>
            <a:ext cx="5320583" cy="4079734"/>
          </a:xfrm>
          <a:prstGeom prst="rect">
            <a:avLst/>
          </a:prstGeom>
        </p:spPr>
      </p:pic>
    </p:spTree>
    <p:extLst>
      <p:ext uri="{BB962C8B-B14F-4D97-AF65-F5344CB8AC3E}">
        <p14:creationId xmlns:p14="http://schemas.microsoft.com/office/powerpoint/2010/main" val="2043679288"/>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pic>
        <p:nvPicPr>
          <p:cNvPr id="4" name="Picture 3" descr="Close-up of baseball on infield">
            <a:extLst>
              <a:ext uri="{FF2B5EF4-FFF2-40B4-BE49-F238E27FC236}">
                <a16:creationId xmlns:a16="http://schemas.microsoft.com/office/drawing/2014/main" id="{985046C7-4B66-7420-8185-6C86185E8C55}"/>
              </a:ext>
            </a:extLst>
          </p:cNvPr>
          <p:cNvPicPr>
            <a:picLocks noChangeAspect="1"/>
          </p:cNvPicPr>
          <p:nvPr/>
        </p:nvPicPr>
        <p:blipFill>
          <a:blip r:embed="rId3">
            <a:duotone>
              <a:prstClr val="black"/>
              <a:schemeClr val="tx2">
                <a:tint val="45000"/>
                <a:satMod val="400000"/>
              </a:schemeClr>
            </a:duotone>
            <a:alphaModFix amt="20000"/>
          </a:blip>
          <a:srcRect l="10569" r="430" b="-1"/>
          <a:stretch>
            <a:fillRect/>
          </a:stretch>
        </p:blipFill>
        <p:spPr>
          <a:xfrm>
            <a:off x="20" y="10"/>
            <a:ext cx="9143980" cy="6334306"/>
          </a:xfrm>
          <a:prstGeom prst="rect">
            <a:avLst/>
          </a:prstGeom>
        </p:spPr>
      </p:pic>
      <p:cxnSp>
        <p:nvCxnSpPr>
          <p:cNvPr id="21" name="Straight Connector 20">
            <a:extLst>
              <a:ext uri="{FF2B5EF4-FFF2-40B4-BE49-F238E27FC236}">
                <a16:creationId xmlns:a16="http://schemas.microsoft.com/office/drawing/2014/main" id="{C6DEF8F9-FFEF-4EDB-8A06-8A7884ED42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E0747CA7-2579-4FF5-95CF-E3FA65C9E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1" y="6400800"/>
            <a:ext cx="914161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1C63BD94-CA0C-4C27-BB07-89F71DEA2D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44820"/>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extBox 1"/>
          <p:cNvSpPr txBox="1"/>
          <p:nvPr/>
        </p:nvSpPr>
        <p:spPr>
          <a:xfrm>
            <a:off x="822960" y="286603"/>
            <a:ext cx="7543800" cy="1450757"/>
          </a:xfrm>
          <a:prstGeom prst="rect">
            <a:avLst/>
          </a:prstGeom>
        </p:spPr>
        <p:txBody>
          <a:bodyPr vert="horz" lIns="91440" tIns="45720" rIns="91440" bIns="45720" rtlCol="0" anchor="b">
            <a:normAutofit/>
          </a:bodyPr>
          <a:lstStyle/>
          <a:p>
            <a:pPr defTabSz="914400">
              <a:lnSpc>
                <a:spcPct val="85000"/>
              </a:lnSpc>
              <a:spcBef>
                <a:spcPct val="0"/>
              </a:spcBef>
              <a:spcAft>
                <a:spcPts val="600"/>
              </a:spcAft>
              <a:defRPr sz="2800" b="1">
                <a:solidFill>
                  <a:srgbClr val="FFFFFF"/>
                </a:solidFill>
              </a:defRPr>
            </a:pPr>
            <a:r>
              <a:rPr lang="en-US" sz="4800" spc="-50" dirty="0">
                <a:latin typeface="+mj-lt"/>
                <a:ea typeface="+mj-ea"/>
                <a:cs typeface="+mj-cs"/>
              </a:rPr>
              <a:t>Practical Applications</a:t>
            </a:r>
          </a:p>
        </p:txBody>
      </p:sp>
      <p:graphicFrame>
        <p:nvGraphicFramePr>
          <p:cNvPr id="24" name="TextBox 2">
            <a:extLst>
              <a:ext uri="{FF2B5EF4-FFF2-40B4-BE49-F238E27FC236}">
                <a16:creationId xmlns:a16="http://schemas.microsoft.com/office/drawing/2014/main" id="{3B436689-454E-F657-6AFA-56B8B8D807CE}"/>
              </a:ext>
            </a:extLst>
          </p:cNvPr>
          <p:cNvGraphicFramePr/>
          <p:nvPr>
            <p:extLst>
              <p:ext uri="{D42A27DB-BD31-4B8C-83A1-F6EECF244321}">
                <p14:modId xmlns:p14="http://schemas.microsoft.com/office/powerpoint/2010/main" val="1537872369"/>
              </p:ext>
            </p:extLst>
          </p:nvPr>
        </p:nvGraphicFramePr>
        <p:xfrm>
          <a:off x="460711" y="1906491"/>
          <a:ext cx="8220218" cy="37860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16D50951-AA8B-9DCD-DED8-601B48001746}"/>
            </a:ext>
          </a:extLst>
        </p:cNvPr>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8BCF73D-8597-5296-EB80-BF6887BD30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Close-up of a baseball&#10;&#10;AI-generated content may be incorrect.">
            <a:extLst>
              <a:ext uri="{FF2B5EF4-FFF2-40B4-BE49-F238E27FC236}">
                <a16:creationId xmlns:a16="http://schemas.microsoft.com/office/drawing/2014/main" id="{5143C3F6-DFB8-A047-6979-F71F45E04C98}"/>
              </a:ext>
            </a:extLst>
          </p:cNvPr>
          <p:cNvPicPr>
            <a:picLocks noChangeAspect="1"/>
          </p:cNvPicPr>
          <p:nvPr/>
        </p:nvPicPr>
        <p:blipFill>
          <a:blip r:embed="rId3">
            <a:duotone>
              <a:prstClr val="black"/>
              <a:schemeClr val="tx2">
                <a:tint val="45000"/>
                <a:satMod val="400000"/>
              </a:schemeClr>
            </a:duotone>
            <a:alphaModFix amt="20000"/>
          </a:blip>
          <a:srcRect l="25000"/>
          <a:stretch>
            <a:fillRect/>
          </a:stretch>
        </p:blipFill>
        <p:spPr>
          <a:xfrm>
            <a:off x="20" y="11"/>
            <a:ext cx="9143980" cy="6334305"/>
          </a:xfrm>
          <a:prstGeom prst="rect">
            <a:avLst/>
          </a:prstGeom>
        </p:spPr>
      </p:pic>
      <p:sp>
        <p:nvSpPr>
          <p:cNvPr id="22" name="Rectangle 21">
            <a:extLst>
              <a:ext uri="{FF2B5EF4-FFF2-40B4-BE49-F238E27FC236}">
                <a16:creationId xmlns:a16="http://schemas.microsoft.com/office/drawing/2014/main" id="{239A31DF-11AC-27F2-7A6E-C4AFF92AB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1" y="6400800"/>
            <a:ext cx="914161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EB0D3CF5-0B6C-0B55-3012-82A7ECD1ED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44820"/>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extBox 1">
            <a:extLst>
              <a:ext uri="{FF2B5EF4-FFF2-40B4-BE49-F238E27FC236}">
                <a16:creationId xmlns:a16="http://schemas.microsoft.com/office/drawing/2014/main" id="{85F6F974-6790-CC16-E6F3-39D3D48890B1}"/>
              </a:ext>
            </a:extLst>
          </p:cNvPr>
          <p:cNvSpPr txBox="1"/>
          <p:nvPr/>
        </p:nvSpPr>
        <p:spPr>
          <a:xfrm>
            <a:off x="895149" y="253846"/>
            <a:ext cx="8588326" cy="1450757"/>
          </a:xfrm>
          <a:prstGeom prst="rect">
            <a:avLst/>
          </a:prstGeom>
        </p:spPr>
        <p:txBody>
          <a:bodyPr vert="horz" lIns="91440" tIns="45720" rIns="91440" bIns="45720" rtlCol="0" anchor="b">
            <a:normAutofit/>
          </a:bodyPr>
          <a:lstStyle/>
          <a:p>
            <a:pPr defTabSz="914400">
              <a:lnSpc>
                <a:spcPct val="85000"/>
              </a:lnSpc>
              <a:spcBef>
                <a:spcPct val="0"/>
              </a:spcBef>
              <a:spcAft>
                <a:spcPts val="600"/>
              </a:spcAft>
              <a:defRPr sz="2800" b="1">
                <a:solidFill>
                  <a:srgbClr val="FFFFFF"/>
                </a:solidFill>
              </a:defRPr>
            </a:pPr>
            <a:r>
              <a:rPr lang="en-US" sz="4800" b="1" spc="-50" dirty="0">
                <a:solidFill>
                  <a:srgbClr val="FFFFFF"/>
                </a:solidFill>
                <a:latin typeface="+mj-lt"/>
                <a:ea typeface="+mj-ea"/>
                <a:cs typeface="+mj-cs"/>
              </a:rPr>
              <a:t>Current Limitations</a:t>
            </a:r>
          </a:p>
        </p:txBody>
      </p:sp>
      <p:sp>
        <p:nvSpPr>
          <p:cNvPr id="5" name="TextBox 4">
            <a:extLst>
              <a:ext uri="{FF2B5EF4-FFF2-40B4-BE49-F238E27FC236}">
                <a16:creationId xmlns:a16="http://schemas.microsoft.com/office/drawing/2014/main" id="{3F1FB37F-266F-D742-6445-DFE352977AB7}"/>
              </a:ext>
            </a:extLst>
          </p:cNvPr>
          <p:cNvSpPr txBox="1"/>
          <p:nvPr/>
        </p:nvSpPr>
        <p:spPr>
          <a:xfrm>
            <a:off x="469864" y="2087660"/>
            <a:ext cx="8201911" cy="4770340"/>
          </a:xfrm>
          <a:prstGeom prst="rect">
            <a:avLst/>
          </a:prstGeom>
        </p:spPr>
        <p:txBody>
          <a:bodyPr vert="horz" lIns="0" tIns="45720" rIns="0" bIns="45720" rtlCol="0">
            <a:normAutofit/>
          </a:bodyPr>
          <a:lstStyle/>
          <a:p>
            <a:pPr defTabSz="914400">
              <a:lnSpc>
                <a:spcPct val="90000"/>
              </a:lnSpc>
              <a:spcBef>
                <a:spcPts val="800"/>
              </a:spcBef>
              <a:buClr>
                <a:schemeClr val="accent1"/>
              </a:buClr>
              <a:buFont typeface="Calibri" panose="020F0502020204030204" pitchFamily="34" charset="0"/>
              <a:defRPr sz="1600"/>
            </a:pPr>
            <a:r>
              <a:rPr lang="en-US" b="1" dirty="0">
                <a:solidFill>
                  <a:srgbClr val="FFFFFF"/>
                </a:solidFill>
              </a:rPr>
              <a:t>⚠️ </a:t>
            </a:r>
            <a:r>
              <a:rPr lang="en-US" b="1" u="sng" dirty="0">
                <a:solidFill>
                  <a:srgbClr val="FFC000"/>
                </a:solidFill>
              </a:rPr>
              <a:t>TIME PERIOD</a:t>
            </a:r>
            <a:r>
              <a:rPr lang="en-US" b="1" dirty="0">
                <a:solidFill>
                  <a:srgbClr val="FFFFFF"/>
                </a:solidFill>
              </a:rPr>
              <a:t>: 2015-2025 (Personally selected Statcast era)</a:t>
            </a:r>
          </a:p>
          <a:p>
            <a:pPr defTabSz="914400">
              <a:lnSpc>
                <a:spcPct val="90000"/>
              </a:lnSpc>
              <a:spcBef>
                <a:spcPts val="800"/>
              </a:spcBef>
              <a:buClr>
                <a:schemeClr val="accent1"/>
              </a:buClr>
              <a:buFont typeface="Calibri" panose="020F0502020204030204" pitchFamily="34" charset="0"/>
              <a:defRPr sz="1600"/>
            </a:pPr>
            <a:endParaRPr lang="en-US" b="1" dirty="0">
              <a:solidFill>
                <a:srgbClr val="FFFFFF"/>
              </a:solidFill>
            </a:endParaRPr>
          </a:p>
          <a:p>
            <a:pPr defTabSz="914400">
              <a:lnSpc>
                <a:spcPct val="90000"/>
              </a:lnSpc>
              <a:spcBef>
                <a:spcPts val="800"/>
              </a:spcBef>
              <a:buClr>
                <a:schemeClr val="accent1"/>
              </a:buClr>
              <a:buFont typeface="Calibri" panose="020F0502020204030204" pitchFamily="34" charset="0"/>
              <a:defRPr sz="1600"/>
            </a:pPr>
            <a:r>
              <a:rPr lang="en-US" b="1" dirty="0">
                <a:solidFill>
                  <a:srgbClr val="FFFFFF"/>
                </a:solidFill>
              </a:rPr>
              <a:t>⚠️ </a:t>
            </a:r>
            <a:r>
              <a:rPr lang="en-US" b="1" u="sng" dirty="0">
                <a:solidFill>
                  <a:srgbClr val="FFC000"/>
                </a:solidFill>
              </a:rPr>
              <a:t>INJURY DATA</a:t>
            </a:r>
            <a:r>
              <a:rPr lang="en-US" b="1" dirty="0">
                <a:solidFill>
                  <a:srgbClr val="FFFFFF"/>
                </a:solidFill>
              </a:rPr>
              <a:t>: Tommy John surgery data only</a:t>
            </a:r>
          </a:p>
          <a:p>
            <a:pPr defTabSz="914400">
              <a:lnSpc>
                <a:spcPct val="90000"/>
              </a:lnSpc>
              <a:spcBef>
                <a:spcPts val="800"/>
              </a:spcBef>
              <a:buClr>
                <a:schemeClr val="accent1"/>
              </a:buClr>
              <a:buFont typeface="Calibri" panose="020F0502020204030204" pitchFamily="34" charset="0"/>
              <a:defRPr sz="1600"/>
            </a:pPr>
            <a:r>
              <a:rPr lang="en-US" b="1" dirty="0">
                <a:solidFill>
                  <a:srgbClr val="FFFFFF"/>
                </a:solidFill>
              </a:rPr>
              <a:t> → Other injuries (shoulder, arm, back, etc.) not yet modeled</a:t>
            </a:r>
          </a:p>
          <a:p>
            <a:pPr defTabSz="914400">
              <a:lnSpc>
                <a:spcPct val="90000"/>
              </a:lnSpc>
              <a:spcBef>
                <a:spcPts val="800"/>
              </a:spcBef>
              <a:buClr>
                <a:schemeClr val="accent1"/>
              </a:buClr>
              <a:buFont typeface="Calibri" panose="020F0502020204030204" pitchFamily="34" charset="0"/>
              <a:defRPr sz="1600"/>
            </a:pPr>
            <a:endParaRPr lang="en-US" b="1" dirty="0">
              <a:solidFill>
                <a:srgbClr val="FFFFFF"/>
              </a:solidFill>
            </a:endParaRPr>
          </a:p>
          <a:p>
            <a:pPr defTabSz="914400">
              <a:lnSpc>
                <a:spcPct val="90000"/>
              </a:lnSpc>
              <a:spcBef>
                <a:spcPts val="800"/>
              </a:spcBef>
              <a:buClr>
                <a:schemeClr val="accent1"/>
              </a:buClr>
              <a:buFont typeface="Calibri" panose="020F0502020204030204" pitchFamily="34" charset="0"/>
              <a:defRPr sz="1600"/>
            </a:pPr>
            <a:r>
              <a:rPr lang="en-US" b="1" dirty="0">
                <a:solidFill>
                  <a:srgbClr val="FFFFFF"/>
                </a:solidFill>
              </a:rPr>
              <a:t>⚠️ </a:t>
            </a:r>
            <a:r>
              <a:rPr lang="en-US" b="1" u="sng" dirty="0">
                <a:solidFill>
                  <a:srgbClr val="FFC000"/>
                </a:solidFill>
              </a:rPr>
              <a:t>SURVIVORSHIP BIAS</a:t>
            </a:r>
            <a:r>
              <a:rPr lang="en-US" b="1" dirty="0">
                <a:solidFill>
                  <a:srgbClr val="FFFFFF"/>
                </a:solidFill>
              </a:rPr>
              <a:t>: Model currently only accounts for pitchers who have successfully comeback from Tommy John surgery.</a:t>
            </a:r>
            <a:endParaRPr lang="en-US" dirty="0">
              <a:solidFill>
                <a:schemeClr val="tx1">
                  <a:lumMod val="75000"/>
                  <a:lumOff val="25000"/>
                </a:schemeClr>
              </a:solidFill>
            </a:endParaRPr>
          </a:p>
          <a:p>
            <a:pPr defTabSz="914400">
              <a:lnSpc>
                <a:spcPct val="90000"/>
              </a:lnSpc>
              <a:spcBef>
                <a:spcPts val="800"/>
              </a:spcBef>
              <a:buClr>
                <a:schemeClr val="accent1"/>
              </a:buClr>
              <a:buFont typeface="Calibri" panose="020F0502020204030204" pitchFamily="34" charset="0"/>
              <a:defRPr sz="1600"/>
            </a:pPr>
            <a:endParaRPr lang="en-US" dirty="0">
              <a:solidFill>
                <a:schemeClr val="tx1">
                  <a:lumMod val="75000"/>
                  <a:lumOff val="25000"/>
                </a:schemeClr>
              </a:solidFill>
            </a:endParaRPr>
          </a:p>
        </p:txBody>
      </p:sp>
    </p:spTree>
    <p:extLst>
      <p:ext uri="{BB962C8B-B14F-4D97-AF65-F5344CB8AC3E}">
        <p14:creationId xmlns:p14="http://schemas.microsoft.com/office/powerpoint/2010/main" val="670441783"/>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F09C7E4B-E31C-1D86-6EE7-16F3E6DFB4AD}"/>
            </a:ext>
          </a:extLst>
        </p:cNvPr>
        <p:cNvGrpSpPr/>
        <p:nvPr/>
      </p:nvGrpSpPr>
      <p:grpSpPr>
        <a:xfrm>
          <a:off x="0" y="0"/>
          <a:ext cx="0" cy="0"/>
          <a:chOff x="0" y="0"/>
          <a:chExt cx="0" cy="0"/>
        </a:xfrm>
      </p:grpSpPr>
      <p:sp>
        <p:nvSpPr>
          <p:cNvPr id="84" name="Rectangle 83">
            <a:extLst>
              <a:ext uri="{FF2B5EF4-FFF2-40B4-BE49-F238E27FC236}">
                <a16:creationId xmlns:a16="http://schemas.microsoft.com/office/drawing/2014/main" id="{DF5893E4-640F-743C-7D31-36843809B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6" name="Rectangle 85">
            <a:extLst>
              <a:ext uri="{FF2B5EF4-FFF2-40B4-BE49-F238E27FC236}">
                <a16:creationId xmlns:a16="http://schemas.microsoft.com/office/drawing/2014/main" id="{B7F410D9-DB6D-15EA-F6D1-B0D08C7C8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88" name="Straight Connector 87">
            <a:extLst>
              <a:ext uri="{FF2B5EF4-FFF2-40B4-BE49-F238E27FC236}">
                <a16:creationId xmlns:a16="http://schemas.microsoft.com/office/drawing/2014/main" id="{DE7A2D35-04EF-F6E8-C470-051FACBB1A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84E6577-1CF8-A32B-9311-28015A7627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15" name="Picture 14" descr="Close-up of baseball on infield">
            <a:extLst>
              <a:ext uri="{FF2B5EF4-FFF2-40B4-BE49-F238E27FC236}">
                <a16:creationId xmlns:a16="http://schemas.microsoft.com/office/drawing/2014/main" id="{D1439147-CAF8-3E7E-60BB-D0085BB535DB}"/>
              </a:ext>
            </a:extLst>
          </p:cNvPr>
          <p:cNvPicPr>
            <a:picLocks noChangeAspect="1"/>
          </p:cNvPicPr>
          <p:nvPr/>
        </p:nvPicPr>
        <p:blipFill>
          <a:blip r:embed="rId3">
            <a:duotone>
              <a:prstClr val="black"/>
              <a:schemeClr val="tx2">
                <a:tint val="45000"/>
                <a:satMod val="400000"/>
              </a:schemeClr>
            </a:duotone>
            <a:alphaModFix amt="20000"/>
          </a:blip>
          <a:srcRect l="10569" r="430" b="-1"/>
          <a:stretch>
            <a:fillRect/>
          </a:stretch>
        </p:blipFill>
        <p:spPr>
          <a:xfrm>
            <a:off x="20" y="10"/>
            <a:ext cx="9143980" cy="6334306"/>
          </a:xfrm>
          <a:prstGeom prst="rect">
            <a:avLst/>
          </a:prstGeom>
        </p:spPr>
      </p:pic>
      <p:sp>
        <p:nvSpPr>
          <p:cNvPr id="2" name="TextBox 1">
            <a:extLst>
              <a:ext uri="{FF2B5EF4-FFF2-40B4-BE49-F238E27FC236}">
                <a16:creationId xmlns:a16="http://schemas.microsoft.com/office/drawing/2014/main" id="{33FD7096-8F63-6E47-910A-C77B3679A3F1}"/>
              </a:ext>
            </a:extLst>
          </p:cNvPr>
          <p:cNvSpPr txBox="1"/>
          <p:nvPr/>
        </p:nvSpPr>
        <p:spPr>
          <a:xfrm>
            <a:off x="822960" y="286603"/>
            <a:ext cx="7543800" cy="1450757"/>
          </a:xfrm>
          <a:prstGeom prst="rect">
            <a:avLst/>
          </a:prstGeom>
        </p:spPr>
        <p:txBody>
          <a:bodyPr vert="horz" lIns="91440" tIns="45720" rIns="91440" bIns="45720" rtlCol="0" anchor="b">
            <a:normAutofit/>
          </a:bodyPr>
          <a:lstStyle/>
          <a:p>
            <a:pPr defTabSz="914400">
              <a:lnSpc>
                <a:spcPct val="85000"/>
              </a:lnSpc>
              <a:spcBef>
                <a:spcPct val="0"/>
              </a:spcBef>
              <a:spcAft>
                <a:spcPts val="600"/>
              </a:spcAft>
              <a:defRPr sz="2800" b="1">
                <a:solidFill>
                  <a:srgbClr val="FFFFFF"/>
                </a:solidFill>
              </a:defRPr>
            </a:pPr>
            <a:r>
              <a:rPr lang="en-US" sz="4700" b="1" spc="-50" dirty="0">
                <a:solidFill>
                  <a:srgbClr val="FFFFFF"/>
                </a:solidFill>
                <a:latin typeface="+mj-lt"/>
                <a:ea typeface="+mj-ea"/>
                <a:cs typeface="+mj-cs"/>
              </a:rPr>
              <a:t>Future Work &amp; Extensions</a:t>
            </a:r>
          </a:p>
        </p:txBody>
      </p:sp>
      <p:sp>
        <p:nvSpPr>
          <p:cNvPr id="92" name="Rectangle 91">
            <a:extLst>
              <a:ext uri="{FF2B5EF4-FFF2-40B4-BE49-F238E27FC236}">
                <a16:creationId xmlns:a16="http://schemas.microsoft.com/office/drawing/2014/main" id="{F76F4058-9133-13CF-C39A-299DD6A14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rgbClr val="6791B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4" name="Rectangle 93">
            <a:extLst>
              <a:ext uri="{FF2B5EF4-FFF2-40B4-BE49-F238E27FC236}">
                <a16:creationId xmlns:a16="http://schemas.microsoft.com/office/drawing/2014/main" id="{1D6780CA-81A7-5AC2-8387-9091654D6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rgbClr val="596A7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Rectangle: Rounded Corners 3">
            <a:extLst>
              <a:ext uri="{FF2B5EF4-FFF2-40B4-BE49-F238E27FC236}">
                <a16:creationId xmlns:a16="http://schemas.microsoft.com/office/drawing/2014/main" id="{FBB5820D-00F8-273B-95E2-E6EEF7707613}"/>
              </a:ext>
            </a:extLst>
          </p:cNvPr>
          <p:cNvSpPr/>
          <p:nvPr/>
        </p:nvSpPr>
        <p:spPr>
          <a:xfrm>
            <a:off x="480060" y="2115733"/>
            <a:ext cx="8092440" cy="1302723"/>
          </a:xfrm>
          <a:prstGeom prst="roundRect">
            <a:avLst/>
          </a:prstGeom>
          <a:solidFill>
            <a:srgbClr val="7E9CC3">
              <a:alpha val="50000"/>
            </a:srgb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628063" tIns="333248" rIns="628063" bIns="113792" numCol="1" spcCol="1270" anchor="t" anchorCtr="0">
            <a:noAutofit/>
          </a:bodyPr>
          <a:lstStyle/>
          <a:p>
            <a:pPr marL="171450" lvl="1" indent="-171450" defTabSz="711200">
              <a:lnSpc>
                <a:spcPct val="90000"/>
              </a:lnSpc>
              <a:spcBef>
                <a:spcPct val="0"/>
              </a:spcBef>
              <a:spcAft>
                <a:spcPct val="15000"/>
              </a:spcAft>
              <a:buFontTx/>
              <a:buChar char="•"/>
            </a:pPr>
            <a:r>
              <a:rPr lang="en-US" sz="1500" dirty="0">
                <a:solidFill>
                  <a:srgbClr val="FFFFFF"/>
                </a:solidFill>
              </a:rPr>
              <a:t>Innings pitched, pitch counts, days rest, high-stress innings, etc.</a:t>
            </a:r>
          </a:p>
          <a:p>
            <a:pPr marL="171450" lvl="1" indent="-171450" defTabSz="711200">
              <a:lnSpc>
                <a:spcPct val="90000"/>
              </a:lnSpc>
              <a:spcBef>
                <a:spcPct val="0"/>
              </a:spcBef>
              <a:spcAft>
                <a:spcPct val="15000"/>
              </a:spcAft>
              <a:buFontTx/>
              <a:buChar char="•"/>
            </a:pPr>
            <a:r>
              <a:rPr lang="en-US" sz="1500" dirty="0">
                <a:solidFill>
                  <a:srgbClr val="FFFFFF"/>
                </a:solidFill>
              </a:rPr>
              <a:t>Biomechanical stress indicators (High-effort pitches, max effort pitch percentage, usage patterns, etc.)</a:t>
            </a:r>
          </a:p>
        </p:txBody>
      </p:sp>
      <p:sp>
        <p:nvSpPr>
          <p:cNvPr id="5" name="Freeform: Shape 4">
            <a:extLst>
              <a:ext uri="{FF2B5EF4-FFF2-40B4-BE49-F238E27FC236}">
                <a16:creationId xmlns:a16="http://schemas.microsoft.com/office/drawing/2014/main" id="{8C3F2875-06CA-189F-C10B-41950004A7F6}"/>
              </a:ext>
            </a:extLst>
          </p:cNvPr>
          <p:cNvSpPr/>
          <p:nvPr/>
        </p:nvSpPr>
        <p:spPr>
          <a:xfrm>
            <a:off x="884682" y="1879573"/>
            <a:ext cx="5664708" cy="472320"/>
          </a:xfrm>
          <a:custGeom>
            <a:avLst/>
            <a:gdLst>
              <a:gd name="csX0" fmla="*/ 0 w 5664708"/>
              <a:gd name="csY0" fmla="*/ 78722 h 472320"/>
              <a:gd name="csX1" fmla="*/ 78722 w 5664708"/>
              <a:gd name="csY1" fmla="*/ 0 h 472320"/>
              <a:gd name="csX2" fmla="*/ 5585986 w 5664708"/>
              <a:gd name="csY2" fmla="*/ 0 h 472320"/>
              <a:gd name="csX3" fmla="*/ 5664708 w 5664708"/>
              <a:gd name="csY3" fmla="*/ 78722 h 472320"/>
              <a:gd name="csX4" fmla="*/ 5664708 w 5664708"/>
              <a:gd name="csY4" fmla="*/ 393598 h 472320"/>
              <a:gd name="csX5" fmla="*/ 5585986 w 5664708"/>
              <a:gd name="csY5" fmla="*/ 472320 h 472320"/>
              <a:gd name="csX6" fmla="*/ 78722 w 5664708"/>
              <a:gd name="csY6" fmla="*/ 472320 h 472320"/>
              <a:gd name="csX7" fmla="*/ 0 w 5664708"/>
              <a:gd name="csY7" fmla="*/ 393598 h 472320"/>
              <a:gd name="csX8" fmla="*/ 0 w 5664708"/>
              <a:gd name="csY8" fmla="*/ 78722 h 472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64708" h="472320">
                <a:moveTo>
                  <a:pt x="0" y="78722"/>
                </a:moveTo>
                <a:cubicBezTo>
                  <a:pt x="0" y="35245"/>
                  <a:pt x="35245" y="0"/>
                  <a:pt x="78722" y="0"/>
                </a:cubicBezTo>
                <a:lnTo>
                  <a:pt x="5585986" y="0"/>
                </a:lnTo>
                <a:cubicBezTo>
                  <a:pt x="5629463" y="0"/>
                  <a:pt x="5664708" y="35245"/>
                  <a:pt x="5664708" y="78722"/>
                </a:cubicBezTo>
                <a:lnTo>
                  <a:pt x="5664708" y="393598"/>
                </a:lnTo>
                <a:cubicBezTo>
                  <a:pt x="5664708" y="437075"/>
                  <a:pt x="5629463" y="472320"/>
                  <a:pt x="5585986" y="472320"/>
                </a:cubicBezTo>
                <a:lnTo>
                  <a:pt x="78722" y="472320"/>
                </a:lnTo>
                <a:cubicBezTo>
                  <a:pt x="35245" y="472320"/>
                  <a:pt x="0" y="437075"/>
                  <a:pt x="0" y="393598"/>
                </a:cubicBezTo>
                <a:lnTo>
                  <a:pt x="0" y="78722"/>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37169" tIns="23057" rIns="237169" bIns="23057" numCol="1" spcCol="1270" anchor="ctr" anchorCtr="0">
            <a:noAutofit/>
          </a:bodyPr>
          <a:lstStyle/>
          <a:p>
            <a:pPr marL="0" lvl="0" indent="0" algn="l" defTabSz="889000">
              <a:lnSpc>
                <a:spcPct val="90000"/>
              </a:lnSpc>
              <a:spcBef>
                <a:spcPct val="0"/>
              </a:spcBef>
              <a:spcAft>
                <a:spcPct val="35000"/>
              </a:spcAft>
              <a:buClr>
                <a:schemeClr val="accent1"/>
              </a:buClr>
              <a:buFont typeface="Calibri" panose="020F0502020204030204" pitchFamily="34" charset="0"/>
              <a:buNone/>
            </a:pPr>
            <a:r>
              <a:rPr lang="en-US" sz="2000" b="1" kern="1200" dirty="0"/>
              <a:t>1️⃣ WORKLOAD INTEGRATION</a:t>
            </a:r>
          </a:p>
        </p:txBody>
      </p:sp>
      <p:sp>
        <p:nvSpPr>
          <p:cNvPr id="6" name="Rectangle: Rounded Corners 5">
            <a:extLst>
              <a:ext uri="{FF2B5EF4-FFF2-40B4-BE49-F238E27FC236}">
                <a16:creationId xmlns:a16="http://schemas.microsoft.com/office/drawing/2014/main" id="{B55219DB-8D47-045C-539A-1E94F50603CD}"/>
              </a:ext>
            </a:extLst>
          </p:cNvPr>
          <p:cNvSpPr/>
          <p:nvPr/>
        </p:nvSpPr>
        <p:spPr>
          <a:xfrm>
            <a:off x="480060" y="3798494"/>
            <a:ext cx="8092440" cy="927288"/>
          </a:xfrm>
          <a:prstGeom prst="roundRect">
            <a:avLst/>
          </a:prstGeom>
          <a:solidFill>
            <a:srgbClr val="7E9CC3">
              <a:alpha val="50000"/>
            </a:srgb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628063" tIns="333248" rIns="628063" bIns="113792" numCol="1" spcCol="1270" anchor="t" anchorCtr="0">
            <a:noAutofit/>
          </a:bodyPr>
          <a:lstStyle/>
          <a:p>
            <a:pPr marL="171450" lvl="1" indent="-171450" defTabSz="711200">
              <a:lnSpc>
                <a:spcPct val="90000"/>
              </a:lnSpc>
              <a:spcBef>
                <a:spcPct val="0"/>
              </a:spcBef>
              <a:spcAft>
                <a:spcPct val="15000"/>
              </a:spcAft>
              <a:buClr>
                <a:schemeClr val="tx1"/>
              </a:buClr>
              <a:buFont typeface="Calibri" panose="020F0502020204030204" pitchFamily="34" charset="0"/>
              <a:buChar char="•"/>
            </a:pPr>
            <a:r>
              <a:rPr lang="en-US" sz="1500" dirty="0">
                <a:solidFill>
                  <a:schemeClr val="tx1"/>
                </a:solidFill>
              </a:rPr>
              <a:t>Elbow, shoulder, back injuries, etc.</a:t>
            </a:r>
          </a:p>
          <a:p>
            <a:pPr marL="171450" lvl="1" indent="-171450" defTabSz="711200">
              <a:lnSpc>
                <a:spcPct val="90000"/>
              </a:lnSpc>
              <a:spcBef>
                <a:spcPct val="0"/>
              </a:spcBef>
              <a:spcAft>
                <a:spcPct val="15000"/>
              </a:spcAft>
              <a:buClr>
                <a:schemeClr val="tx1"/>
              </a:buClr>
              <a:buFont typeface="Calibri" panose="020F0502020204030204" pitchFamily="34" charset="0"/>
              <a:buChar char="•"/>
            </a:pPr>
            <a:r>
              <a:rPr lang="en-US" sz="1500" dirty="0">
                <a:solidFill>
                  <a:schemeClr val="tx1"/>
                </a:solidFill>
              </a:rPr>
              <a:t>Arm slot, release point variance, shoulder/elbow torque estimates, etc.</a:t>
            </a:r>
          </a:p>
        </p:txBody>
      </p:sp>
      <p:sp>
        <p:nvSpPr>
          <p:cNvPr id="7" name="Freeform: Shape 6">
            <a:extLst>
              <a:ext uri="{FF2B5EF4-FFF2-40B4-BE49-F238E27FC236}">
                <a16:creationId xmlns:a16="http://schemas.microsoft.com/office/drawing/2014/main" id="{CD4FDF5A-3BA5-2668-A777-65CDACE34AEB}"/>
              </a:ext>
            </a:extLst>
          </p:cNvPr>
          <p:cNvSpPr/>
          <p:nvPr/>
        </p:nvSpPr>
        <p:spPr>
          <a:xfrm>
            <a:off x="884682" y="3562334"/>
            <a:ext cx="5664708" cy="472320"/>
          </a:xfrm>
          <a:custGeom>
            <a:avLst/>
            <a:gdLst>
              <a:gd name="csX0" fmla="*/ 0 w 5664708"/>
              <a:gd name="csY0" fmla="*/ 78722 h 472320"/>
              <a:gd name="csX1" fmla="*/ 78722 w 5664708"/>
              <a:gd name="csY1" fmla="*/ 0 h 472320"/>
              <a:gd name="csX2" fmla="*/ 5585986 w 5664708"/>
              <a:gd name="csY2" fmla="*/ 0 h 472320"/>
              <a:gd name="csX3" fmla="*/ 5664708 w 5664708"/>
              <a:gd name="csY3" fmla="*/ 78722 h 472320"/>
              <a:gd name="csX4" fmla="*/ 5664708 w 5664708"/>
              <a:gd name="csY4" fmla="*/ 393598 h 472320"/>
              <a:gd name="csX5" fmla="*/ 5585986 w 5664708"/>
              <a:gd name="csY5" fmla="*/ 472320 h 472320"/>
              <a:gd name="csX6" fmla="*/ 78722 w 5664708"/>
              <a:gd name="csY6" fmla="*/ 472320 h 472320"/>
              <a:gd name="csX7" fmla="*/ 0 w 5664708"/>
              <a:gd name="csY7" fmla="*/ 393598 h 472320"/>
              <a:gd name="csX8" fmla="*/ 0 w 5664708"/>
              <a:gd name="csY8" fmla="*/ 78722 h 472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64708" h="472320">
                <a:moveTo>
                  <a:pt x="0" y="78722"/>
                </a:moveTo>
                <a:cubicBezTo>
                  <a:pt x="0" y="35245"/>
                  <a:pt x="35245" y="0"/>
                  <a:pt x="78722" y="0"/>
                </a:cubicBezTo>
                <a:lnTo>
                  <a:pt x="5585986" y="0"/>
                </a:lnTo>
                <a:cubicBezTo>
                  <a:pt x="5629463" y="0"/>
                  <a:pt x="5664708" y="35245"/>
                  <a:pt x="5664708" y="78722"/>
                </a:cubicBezTo>
                <a:lnTo>
                  <a:pt x="5664708" y="393598"/>
                </a:lnTo>
                <a:cubicBezTo>
                  <a:pt x="5664708" y="437075"/>
                  <a:pt x="5629463" y="472320"/>
                  <a:pt x="5585986" y="472320"/>
                </a:cubicBezTo>
                <a:lnTo>
                  <a:pt x="78722" y="472320"/>
                </a:lnTo>
                <a:cubicBezTo>
                  <a:pt x="35245" y="472320"/>
                  <a:pt x="0" y="437075"/>
                  <a:pt x="0" y="393598"/>
                </a:cubicBezTo>
                <a:lnTo>
                  <a:pt x="0" y="78722"/>
                </a:lnTo>
                <a:close/>
              </a:path>
            </a:pathLst>
          </a:custGeom>
        </p:spPr>
        <p:style>
          <a:lnRef idx="2">
            <a:schemeClr val="lt1">
              <a:hueOff val="0"/>
              <a:satOff val="0"/>
              <a:lumOff val="0"/>
              <a:alphaOff val="0"/>
            </a:schemeClr>
          </a:lnRef>
          <a:fillRef idx="1">
            <a:schemeClr val="accent2">
              <a:hueOff val="-665912"/>
              <a:satOff val="-293"/>
              <a:lumOff val="784"/>
              <a:alphaOff val="0"/>
            </a:schemeClr>
          </a:fillRef>
          <a:effectRef idx="0">
            <a:schemeClr val="accent2">
              <a:hueOff val="-665912"/>
              <a:satOff val="-293"/>
              <a:lumOff val="784"/>
              <a:alphaOff val="0"/>
            </a:schemeClr>
          </a:effectRef>
          <a:fontRef idx="minor">
            <a:schemeClr val="lt1"/>
          </a:fontRef>
        </p:style>
        <p:txBody>
          <a:bodyPr spcFirstLastPara="0" vert="horz" wrap="square" lIns="237169" tIns="23057" rIns="237169" bIns="23057" numCol="1" spcCol="1270" anchor="ctr" anchorCtr="0">
            <a:noAutofit/>
          </a:bodyPr>
          <a:lstStyle/>
          <a:p>
            <a:pPr marL="0" lvl="0" indent="0" algn="l" defTabSz="889000">
              <a:lnSpc>
                <a:spcPct val="90000"/>
              </a:lnSpc>
              <a:spcBef>
                <a:spcPct val="0"/>
              </a:spcBef>
              <a:spcAft>
                <a:spcPct val="35000"/>
              </a:spcAft>
              <a:buClr>
                <a:schemeClr val="accent1"/>
              </a:buClr>
              <a:buFont typeface="Calibri" panose="020F0502020204030204" pitchFamily="34" charset="0"/>
              <a:buNone/>
            </a:pPr>
            <a:r>
              <a:rPr lang="en-US" sz="2000" b="1" kern="1200" dirty="0">
                <a:latin typeface="Calibri" panose="020F0502020204030204"/>
                <a:ea typeface="+mn-ea"/>
                <a:cs typeface="+mn-cs"/>
              </a:rPr>
              <a:t>2️⃣ </a:t>
            </a:r>
            <a:r>
              <a:rPr lang="en-US" sz="2000" b="1" dirty="0">
                <a:latin typeface="Calibri" panose="020F0502020204030204"/>
              </a:rPr>
              <a:t>BIOMECHANICAL FACTOR(S) INTEGRATION</a:t>
            </a:r>
            <a:endParaRPr lang="en-US" sz="2000" b="1" kern="1200" dirty="0">
              <a:latin typeface="Calibri" panose="020F0502020204030204"/>
              <a:ea typeface="+mn-ea"/>
              <a:cs typeface="+mn-cs"/>
            </a:endParaRPr>
          </a:p>
        </p:txBody>
      </p:sp>
      <p:sp>
        <p:nvSpPr>
          <p:cNvPr id="9" name="Rectangle: Rounded Corners 8">
            <a:extLst>
              <a:ext uri="{FF2B5EF4-FFF2-40B4-BE49-F238E27FC236}">
                <a16:creationId xmlns:a16="http://schemas.microsoft.com/office/drawing/2014/main" id="{585661F6-79EB-D8F4-7AB3-AC6A5C17327A}"/>
              </a:ext>
            </a:extLst>
          </p:cNvPr>
          <p:cNvSpPr/>
          <p:nvPr/>
        </p:nvSpPr>
        <p:spPr>
          <a:xfrm>
            <a:off x="480060" y="5125304"/>
            <a:ext cx="8092440" cy="790202"/>
          </a:xfrm>
          <a:prstGeom prst="roundRect">
            <a:avLst/>
          </a:prstGeom>
          <a:solidFill>
            <a:srgbClr val="7E9CC3">
              <a:alpha val="50000"/>
            </a:srgbClr>
          </a:solidFill>
          <a:ln>
            <a:noFill/>
          </a:ln>
        </p:spPr>
        <p:style>
          <a:lnRef idx="0">
            <a:scrgbClr r="0" g="0" b="0"/>
          </a:lnRef>
          <a:fillRef idx="0">
            <a:scrgbClr r="0" g="0" b="0"/>
          </a:fillRef>
          <a:effectRef idx="0">
            <a:scrgbClr r="0" g="0" b="0"/>
          </a:effectRef>
          <a:fontRef idx="minor">
            <a:schemeClr val="lt1"/>
          </a:fontRef>
        </p:style>
        <p:txBody>
          <a:bodyPr spcFirstLastPara="0" vert="horz" wrap="square" lIns="628063" tIns="333248" rIns="628063" bIns="113792" numCol="1" spcCol="1270" anchor="t" anchorCtr="0">
            <a:noAutofit/>
          </a:bodyPr>
          <a:lstStyle/>
          <a:p>
            <a:pPr marL="171450" lvl="1" indent="-171450" algn="l" defTabSz="800100">
              <a:lnSpc>
                <a:spcPct val="90000"/>
              </a:lnSpc>
              <a:spcBef>
                <a:spcPct val="0"/>
              </a:spcBef>
              <a:spcAft>
                <a:spcPct val="20000"/>
              </a:spcAft>
              <a:buClr>
                <a:schemeClr val="tx1"/>
              </a:buClr>
              <a:buFont typeface="Calibri" panose="020F0502020204030204" pitchFamily="34" charset="0"/>
              <a:buChar char="•"/>
            </a:pPr>
            <a:r>
              <a:rPr lang="en-US" sz="1500" dirty="0">
                <a:solidFill>
                  <a:srgbClr val="FFFFFF"/>
                </a:solidFill>
              </a:rPr>
              <a:t>Machine learning ensemble methods</a:t>
            </a:r>
            <a:endParaRPr lang="en-US" sz="1500" kern="1200" dirty="0">
              <a:solidFill>
                <a:srgbClr val="FFFFFF"/>
              </a:solidFill>
              <a:latin typeface="+mn-lt"/>
              <a:ea typeface="+mn-ea"/>
              <a:cs typeface="+mn-cs"/>
            </a:endParaRPr>
          </a:p>
        </p:txBody>
      </p:sp>
      <p:sp>
        <p:nvSpPr>
          <p:cNvPr id="10" name="Freeform: Shape 9">
            <a:extLst>
              <a:ext uri="{FF2B5EF4-FFF2-40B4-BE49-F238E27FC236}">
                <a16:creationId xmlns:a16="http://schemas.microsoft.com/office/drawing/2014/main" id="{5D525E3F-BC24-D0B3-A996-FF74E2986C2D}"/>
              </a:ext>
            </a:extLst>
          </p:cNvPr>
          <p:cNvSpPr/>
          <p:nvPr/>
        </p:nvSpPr>
        <p:spPr>
          <a:xfrm>
            <a:off x="884682" y="4889144"/>
            <a:ext cx="5664708" cy="472320"/>
          </a:xfrm>
          <a:custGeom>
            <a:avLst/>
            <a:gdLst>
              <a:gd name="csX0" fmla="*/ 0 w 5664708"/>
              <a:gd name="csY0" fmla="*/ 78722 h 472320"/>
              <a:gd name="csX1" fmla="*/ 78722 w 5664708"/>
              <a:gd name="csY1" fmla="*/ 0 h 472320"/>
              <a:gd name="csX2" fmla="*/ 5585986 w 5664708"/>
              <a:gd name="csY2" fmla="*/ 0 h 472320"/>
              <a:gd name="csX3" fmla="*/ 5664708 w 5664708"/>
              <a:gd name="csY3" fmla="*/ 78722 h 472320"/>
              <a:gd name="csX4" fmla="*/ 5664708 w 5664708"/>
              <a:gd name="csY4" fmla="*/ 393598 h 472320"/>
              <a:gd name="csX5" fmla="*/ 5585986 w 5664708"/>
              <a:gd name="csY5" fmla="*/ 472320 h 472320"/>
              <a:gd name="csX6" fmla="*/ 78722 w 5664708"/>
              <a:gd name="csY6" fmla="*/ 472320 h 472320"/>
              <a:gd name="csX7" fmla="*/ 0 w 5664708"/>
              <a:gd name="csY7" fmla="*/ 393598 h 472320"/>
              <a:gd name="csX8" fmla="*/ 0 w 5664708"/>
              <a:gd name="csY8" fmla="*/ 78722 h 472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64708" h="472320">
                <a:moveTo>
                  <a:pt x="0" y="78722"/>
                </a:moveTo>
                <a:cubicBezTo>
                  <a:pt x="0" y="35245"/>
                  <a:pt x="35245" y="0"/>
                  <a:pt x="78722" y="0"/>
                </a:cubicBezTo>
                <a:lnTo>
                  <a:pt x="5585986" y="0"/>
                </a:lnTo>
                <a:cubicBezTo>
                  <a:pt x="5629463" y="0"/>
                  <a:pt x="5664708" y="35245"/>
                  <a:pt x="5664708" y="78722"/>
                </a:cubicBezTo>
                <a:lnTo>
                  <a:pt x="5664708" y="393598"/>
                </a:lnTo>
                <a:cubicBezTo>
                  <a:pt x="5664708" y="437075"/>
                  <a:pt x="5629463" y="472320"/>
                  <a:pt x="5585986" y="472320"/>
                </a:cubicBezTo>
                <a:lnTo>
                  <a:pt x="78722" y="472320"/>
                </a:lnTo>
                <a:cubicBezTo>
                  <a:pt x="35245" y="472320"/>
                  <a:pt x="0" y="437075"/>
                  <a:pt x="0" y="393598"/>
                </a:cubicBezTo>
                <a:lnTo>
                  <a:pt x="0" y="78722"/>
                </a:lnTo>
                <a:close/>
              </a:path>
            </a:pathLst>
          </a:custGeom>
        </p:spPr>
        <p:style>
          <a:lnRef idx="2">
            <a:schemeClr val="lt1">
              <a:hueOff val="0"/>
              <a:satOff val="0"/>
              <a:lumOff val="0"/>
              <a:alphaOff val="0"/>
            </a:schemeClr>
          </a:lnRef>
          <a:fillRef idx="1">
            <a:schemeClr val="accent2">
              <a:hueOff val="-1331824"/>
              <a:satOff val="-586"/>
              <a:lumOff val="1569"/>
              <a:alphaOff val="0"/>
            </a:schemeClr>
          </a:fillRef>
          <a:effectRef idx="0">
            <a:schemeClr val="accent2">
              <a:hueOff val="-1331824"/>
              <a:satOff val="-586"/>
              <a:lumOff val="1569"/>
              <a:alphaOff val="0"/>
            </a:schemeClr>
          </a:effectRef>
          <a:fontRef idx="minor">
            <a:schemeClr val="lt1"/>
          </a:fontRef>
        </p:style>
        <p:txBody>
          <a:bodyPr spcFirstLastPara="0" vert="horz" wrap="square" lIns="114497" tIns="114497" rIns="114497" bIns="114497" numCol="1" spcCol="1270" anchor="ctr" anchorCtr="0">
            <a:noAutofit/>
          </a:bodyPr>
          <a:lstStyle/>
          <a:p>
            <a:pPr marL="0" lvl="0" indent="0" algn="l" defTabSz="889000">
              <a:lnSpc>
                <a:spcPct val="90000"/>
              </a:lnSpc>
              <a:spcBef>
                <a:spcPct val="0"/>
              </a:spcBef>
              <a:spcAft>
                <a:spcPct val="35000"/>
              </a:spcAft>
              <a:buNone/>
            </a:pPr>
            <a:r>
              <a:rPr lang="en-US" sz="2000" kern="1200" dirty="0"/>
              <a:t>  3️⃣ </a:t>
            </a:r>
            <a:r>
              <a:rPr lang="en-US" sz="2000" b="1" dirty="0">
                <a:latin typeface="Calibri" panose="020F0502020204030204"/>
              </a:rPr>
              <a:t>OPTIMIZE RISK FRAMEWORK</a:t>
            </a:r>
            <a:endParaRPr lang="en-US" sz="2000" b="1" kern="1200" dirty="0">
              <a:latin typeface="Calibri" panose="020F0502020204030204"/>
              <a:ea typeface="+mn-ea"/>
              <a:cs typeface="+mn-cs"/>
            </a:endParaRPr>
          </a:p>
        </p:txBody>
      </p:sp>
      <p:sp>
        <p:nvSpPr>
          <p:cNvPr id="24" name="Rectangle 23">
            <a:extLst>
              <a:ext uri="{FF2B5EF4-FFF2-40B4-BE49-F238E27FC236}">
                <a16:creationId xmlns:a16="http://schemas.microsoft.com/office/drawing/2014/main" id="{2B6045EF-B240-AAD4-C426-5D6247689A01}"/>
              </a:ext>
            </a:extLst>
          </p:cNvPr>
          <p:cNvSpPr/>
          <p:nvPr/>
        </p:nvSpPr>
        <p:spPr>
          <a:xfrm rot="16200000">
            <a:off x="4535478" y="1793240"/>
            <a:ext cx="70684" cy="9146359"/>
          </a:xfrm>
          <a:prstGeom prst="rect">
            <a:avLst/>
          </a:prstGeom>
          <a:solidFill>
            <a:srgbClr val="1CADE4"/>
          </a:solidFill>
          <a:ln>
            <a:solidFill>
              <a:srgbClr val="1CAD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269CF7D-1369-3FD3-3AC5-D9D5575FF8F1}"/>
              </a:ext>
            </a:extLst>
          </p:cNvPr>
          <p:cNvSpPr/>
          <p:nvPr/>
        </p:nvSpPr>
        <p:spPr>
          <a:xfrm rot="16200000">
            <a:off x="4335978" y="2063321"/>
            <a:ext cx="464922" cy="9146359"/>
          </a:xfrm>
          <a:prstGeom prst="rect">
            <a:avLst/>
          </a:prstGeom>
          <a:solidFill>
            <a:srgbClr val="2683C6"/>
          </a:solidFill>
          <a:ln>
            <a:solidFill>
              <a:srgbClr val="2683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1818243"/>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D22BA7CF-912B-3F90-E3D9-AF3ACC1990F9}"/>
            </a:ext>
          </a:extLst>
        </p:cNvPr>
        <p:cNvGrpSpPr/>
        <p:nvPr/>
      </p:nvGrpSpPr>
      <p:grpSpPr>
        <a:xfrm>
          <a:off x="0" y="0"/>
          <a:ext cx="0" cy="0"/>
          <a:chOff x="0" y="0"/>
          <a:chExt cx="0" cy="0"/>
        </a:xfrm>
      </p:grpSpPr>
      <p:pic>
        <p:nvPicPr>
          <p:cNvPr id="9522" name="Picture 4" descr="Close-up of a baseball&#10;&#10;AI-generated content may be incorrect.">
            <a:extLst>
              <a:ext uri="{FF2B5EF4-FFF2-40B4-BE49-F238E27FC236}">
                <a16:creationId xmlns:a16="http://schemas.microsoft.com/office/drawing/2014/main" id="{BEC51A65-3D64-CFA8-AE9C-9D5679B8540C}"/>
              </a:ext>
            </a:extLst>
          </p:cNvPr>
          <p:cNvPicPr>
            <a:picLocks noChangeAspect="1"/>
          </p:cNvPicPr>
          <p:nvPr/>
        </p:nvPicPr>
        <p:blipFill>
          <a:blip r:embed="rId3">
            <a:duotone>
              <a:prstClr val="black"/>
              <a:schemeClr val="tx2">
                <a:tint val="45000"/>
                <a:satMod val="400000"/>
              </a:schemeClr>
            </a:duotone>
            <a:alphaModFix amt="35000"/>
          </a:blip>
          <a:srcRect l="25000"/>
          <a:stretch>
            <a:fillRect/>
          </a:stretch>
        </p:blipFill>
        <p:spPr>
          <a:xfrm>
            <a:off x="20" y="10"/>
            <a:ext cx="9143980" cy="6857991"/>
          </a:xfrm>
          <a:prstGeom prst="rect">
            <a:avLst/>
          </a:prstGeom>
        </p:spPr>
      </p:pic>
      <p:sp>
        <p:nvSpPr>
          <p:cNvPr id="20" name="Rectangle 19">
            <a:extLst>
              <a:ext uri="{FF2B5EF4-FFF2-40B4-BE49-F238E27FC236}">
                <a16:creationId xmlns:a16="http://schemas.microsoft.com/office/drawing/2014/main" id="{DE1F88EA-5B85-4782-9A95-9C738F48E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E9A9E663-1F8A-406B-B295-B1EF8596D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2" name="Straight Connector 21">
            <a:extLst>
              <a:ext uri="{FF2B5EF4-FFF2-40B4-BE49-F238E27FC236}">
                <a16:creationId xmlns:a16="http://schemas.microsoft.com/office/drawing/2014/main" id="{EC97561C-9294-4114-A5D6-9CF6CF68AC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35230A27-1553-42F8-99D7-829868E13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a baseball&#10;&#10;AI-generated content may be incorrect.">
            <a:extLst>
              <a:ext uri="{FF2B5EF4-FFF2-40B4-BE49-F238E27FC236}">
                <a16:creationId xmlns:a16="http://schemas.microsoft.com/office/drawing/2014/main" id="{970EB2BF-EF46-515F-3CB8-ABDAFA100D06}"/>
              </a:ext>
            </a:extLst>
          </p:cNvPr>
          <p:cNvPicPr>
            <a:picLocks noChangeAspect="1"/>
          </p:cNvPicPr>
          <p:nvPr/>
        </p:nvPicPr>
        <p:blipFill>
          <a:blip r:embed="rId3">
            <a:duotone>
              <a:prstClr val="black"/>
              <a:schemeClr val="tx2">
                <a:tint val="45000"/>
                <a:satMod val="400000"/>
              </a:schemeClr>
            </a:duotone>
            <a:alphaModFix amt="20000"/>
          </a:blip>
          <a:srcRect l="25000"/>
          <a:stretch>
            <a:fillRect/>
          </a:stretch>
        </p:blipFill>
        <p:spPr>
          <a:xfrm>
            <a:off x="20" y="11"/>
            <a:ext cx="9143980" cy="6857979"/>
          </a:xfrm>
          <a:prstGeom prst="rect">
            <a:avLst/>
          </a:prstGeom>
        </p:spPr>
      </p:pic>
      <p:sp>
        <p:nvSpPr>
          <p:cNvPr id="2" name="TextBox 1">
            <a:extLst>
              <a:ext uri="{FF2B5EF4-FFF2-40B4-BE49-F238E27FC236}">
                <a16:creationId xmlns:a16="http://schemas.microsoft.com/office/drawing/2014/main" id="{D0981765-22E6-C3DB-F5B5-250A6D26B9A7}"/>
              </a:ext>
            </a:extLst>
          </p:cNvPr>
          <p:cNvSpPr txBox="1"/>
          <p:nvPr/>
        </p:nvSpPr>
        <p:spPr>
          <a:xfrm>
            <a:off x="723772" y="963997"/>
            <a:ext cx="2441018" cy="4938361"/>
          </a:xfrm>
          <a:prstGeom prst="rect">
            <a:avLst/>
          </a:prstGeom>
        </p:spPr>
        <p:txBody>
          <a:bodyPr vert="horz" lIns="91440" tIns="45720" rIns="91440" bIns="45720" rtlCol="0" anchor="ctr">
            <a:normAutofit/>
          </a:bodyPr>
          <a:lstStyle/>
          <a:p>
            <a:pPr algn="r" defTabSz="914400">
              <a:lnSpc>
                <a:spcPct val="85000"/>
              </a:lnSpc>
              <a:spcBef>
                <a:spcPct val="0"/>
              </a:spcBef>
              <a:spcAft>
                <a:spcPts val="600"/>
              </a:spcAft>
              <a:defRPr sz="2800" b="1">
                <a:solidFill>
                  <a:srgbClr val="FFFFFF"/>
                </a:solidFill>
              </a:defRPr>
            </a:pPr>
            <a:r>
              <a:rPr lang="en-US" sz="3800" spc="-50" dirty="0">
                <a:solidFill>
                  <a:schemeClr val="tx1">
                    <a:lumMod val="75000"/>
                    <a:lumOff val="25000"/>
                  </a:schemeClr>
                </a:solidFill>
                <a:latin typeface="+mj-lt"/>
                <a:ea typeface="+mj-ea"/>
                <a:cs typeface="+mj-cs"/>
              </a:rPr>
              <a:t>Sourced Research &amp; References</a:t>
            </a:r>
          </a:p>
        </p:txBody>
      </p:sp>
      <p:cxnSp>
        <p:nvCxnSpPr>
          <p:cNvPr id="25" name="Straight Connector 24">
            <a:extLst>
              <a:ext uri="{FF2B5EF4-FFF2-40B4-BE49-F238E27FC236}">
                <a16:creationId xmlns:a16="http://schemas.microsoft.com/office/drawing/2014/main" id="{02CC3441-26B3-4381-B3DF-8AE3C288BC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87688" y="2057399"/>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0AA1ADE-1109-44F3-1CE7-29534CCC0E40}"/>
              </a:ext>
            </a:extLst>
          </p:cNvPr>
          <p:cNvSpPr txBox="1"/>
          <p:nvPr/>
        </p:nvSpPr>
        <p:spPr>
          <a:xfrm>
            <a:off x="3851161" y="963507"/>
            <a:ext cx="4842101" cy="4938851"/>
          </a:xfrm>
          <a:prstGeom prst="rect">
            <a:avLst/>
          </a:prstGeom>
        </p:spPr>
        <p:txBody>
          <a:bodyPr vert="horz" lIns="0" tIns="45720" rIns="0" bIns="45720" rtlCol="0" anchor="ctr">
            <a:normAutofit/>
          </a:bodyPr>
          <a:lstStyle/>
          <a:p>
            <a:pPr defTabSz="914400">
              <a:lnSpc>
                <a:spcPct val="90000"/>
              </a:lnSpc>
              <a:buClr>
                <a:schemeClr val="accent1"/>
              </a:buClr>
              <a:buFont typeface="Calibri" panose="020F0502020204030204" pitchFamily="34" charset="0"/>
            </a:pPr>
            <a:r>
              <a:rPr lang="en-US" sz="1600" dirty="0">
                <a:solidFill>
                  <a:schemeClr val="tx1">
                    <a:lumMod val="75000"/>
                    <a:lumOff val="25000"/>
                  </a:schemeClr>
                </a:solidFill>
              </a:rPr>
              <a:t>Ahmad, Christopher S. "Question: Will My Velocity Go Up After Tommy John Surgery?" </a:t>
            </a:r>
          </a:p>
          <a:p>
            <a:pPr defTabSz="914400">
              <a:lnSpc>
                <a:spcPct val="90000"/>
              </a:lnSpc>
              <a:buClr>
                <a:schemeClr val="accent1"/>
              </a:buClr>
              <a:buFont typeface="Calibri" panose="020F0502020204030204" pitchFamily="34" charset="0"/>
            </a:pPr>
            <a:r>
              <a:rPr lang="en-US" sz="1600" dirty="0">
                <a:solidFill>
                  <a:schemeClr val="tx1">
                    <a:lumMod val="75000"/>
                    <a:lumOff val="25000"/>
                  </a:schemeClr>
                </a:solidFill>
              </a:rPr>
              <a:t>     Medium, 2023, drchrisahmad.medium.com/question-will-my-velocity-go-up-after-</a:t>
            </a:r>
          </a:p>
          <a:p>
            <a:pPr defTabSz="914400">
              <a:lnSpc>
                <a:spcPct val="90000"/>
              </a:lnSpc>
              <a:buClr>
                <a:schemeClr val="accent1"/>
              </a:buClr>
              <a:buFont typeface="Calibri" panose="020F0502020204030204" pitchFamily="34" charset="0"/>
            </a:pPr>
            <a:r>
              <a:rPr lang="en-US" sz="1600" dirty="0">
                <a:solidFill>
                  <a:schemeClr val="tx1">
                    <a:lumMod val="75000"/>
                    <a:lumOff val="25000"/>
                  </a:schemeClr>
                </a:solidFill>
              </a:rPr>
              <a:t>     tommy-john-surgery-2fbfe03ccbcd. </a:t>
            </a:r>
          </a:p>
          <a:p>
            <a:pPr defTabSz="914400">
              <a:lnSpc>
                <a:spcPct val="90000"/>
              </a:lnSpc>
              <a:buClr>
                <a:schemeClr val="accent1"/>
              </a:buClr>
              <a:buFont typeface="Calibri" panose="020F0502020204030204" pitchFamily="34" charset="0"/>
            </a:pPr>
            <a:endParaRPr lang="en-US" sz="1600" dirty="0">
              <a:solidFill>
                <a:schemeClr val="tx1">
                  <a:lumMod val="75000"/>
                  <a:lumOff val="25000"/>
                </a:schemeClr>
              </a:solidFill>
            </a:endParaRPr>
          </a:p>
          <a:p>
            <a:pPr defTabSz="914400">
              <a:lnSpc>
                <a:spcPct val="90000"/>
              </a:lnSpc>
              <a:buClr>
                <a:schemeClr val="accent1"/>
              </a:buClr>
              <a:buFont typeface="Calibri" panose="020F0502020204030204" pitchFamily="34" charset="0"/>
            </a:pPr>
            <a:endParaRPr lang="en-US" sz="1600" dirty="0">
              <a:solidFill>
                <a:schemeClr val="tx1">
                  <a:lumMod val="75000"/>
                  <a:lumOff val="25000"/>
                </a:schemeClr>
              </a:solidFill>
            </a:endParaRPr>
          </a:p>
          <a:p>
            <a:pPr defTabSz="914400">
              <a:lnSpc>
                <a:spcPct val="90000"/>
              </a:lnSpc>
              <a:buClr>
                <a:schemeClr val="accent1"/>
              </a:buClr>
              <a:buFont typeface="Calibri" panose="020F0502020204030204" pitchFamily="34" charset="0"/>
            </a:pPr>
            <a:r>
              <a:rPr lang="en-US" sz="1600" dirty="0">
                <a:solidFill>
                  <a:schemeClr val="tx1">
                    <a:lumMod val="75000"/>
                    <a:lumOff val="25000"/>
                  </a:schemeClr>
                </a:solidFill>
              </a:rPr>
              <a:t>Driveline Baseball. "The Makeup of a Pitcher Debuting in the Major Leagues." </a:t>
            </a:r>
          </a:p>
          <a:p>
            <a:pPr defTabSz="914400">
              <a:lnSpc>
                <a:spcPct val="90000"/>
              </a:lnSpc>
              <a:buClr>
                <a:schemeClr val="accent1"/>
              </a:buClr>
              <a:buFont typeface="Calibri" panose="020F0502020204030204" pitchFamily="34" charset="0"/>
            </a:pPr>
            <a:r>
              <a:rPr lang="en-US" sz="1600" dirty="0">
                <a:solidFill>
                  <a:schemeClr val="tx1">
                    <a:lumMod val="75000"/>
                    <a:lumOff val="25000"/>
                  </a:schemeClr>
                </a:solidFill>
              </a:rPr>
              <a:t>     Driveline Baseball, 15 Sept. 2021, www.drivelinebaseball.com/2021/09/</a:t>
            </a:r>
          </a:p>
          <a:p>
            <a:pPr defTabSz="914400">
              <a:lnSpc>
                <a:spcPct val="90000"/>
              </a:lnSpc>
              <a:buClr>
                <a:schemeClr val="accent1"/>
              </a:buClr>
              <a:buFont typeface="Calibri" panose="020F0502020204030204" pitchFamily="34" charset="0"/>
            </a:pPr>
            <a:r>
              <a:rPr lang="en-US" sz="1600" dirty="0">
                <a:solidFill>
                  <a:schemeClr val="tx1">
                    <a:lumMod val="75000"/>
                    <a:lumOff val="25000"/>
                  </a:schemeClr>
                </a:solidFill>
              </a:rPr>
              <a:t>     the-makeup-of-a-pitcher-debuting-in-the-major-leagues/. </a:t>
            </a:r>
          </a:p>
          <a:p>
            <a:pPr defTabSz="914400">
              <a:lnSpc>
                <a:spcPct val="90000"/>
              </a:lnSpc>
              <a:buClr>
                <a:schemeClr val="accent1"/>
              </a:buClr>
              <a:buFont typeface="Calibri" panose="020F0502020204030204" pitchFamily="34" charset="0"/>
            </a:pPr>
            <a:endParaRPr lang="en-US" sz="1600" dirty="0">
              <a:solidFill>
                <a:schemeClr val="tx1">
                  <a:lumMod val="75000"/>
                  <a:lumOff val="25000"/>
                </a:schemeClr>
              </a:solidFill>
            </a:endParaRPr>
          </a:p>
          <a:p>
            <a:pPr defTabSz="914400">
              <a:lnSpc>
                <a:spcPct val="90000"/>
              </a:lnSpc>
              <a:buClr>
                <a:schemeClr val="accent1"/>
              </a:buClr>
              <a:buFont typeface="Calibri" panose="020F0502020204030204" pitchFamily="34" charset="0"/>
            </a:pPr>
            <a:endParaRPr lang="en-US" sz="1600" dirty="0">
              <a:solidFill>
                <a:schemeClr val="tx1">
                  <a:lumMod val="75000"/>
                  <a:lumOff val="25000"/>
                </a:schemeClr>
              </a:solidFill>
            </a:endParaRPr>
          </a:p>
          <a:p>
            <a:pPr defTabSz="914400">
              <a:lnSpc>
                <a:spcPct val="90000"/>
              </a:lnSpc>
              <a:buClr>
                <a:schemeClr val="accent1"/>
              </a:buClr>
              <a:buFont typeface="Calibri" panose="020F0502020204030204" pitchFamily="34" charset="0"/>
            </a:pPr>
            <a:r>
              <a:rPr lang="en-US" sz="1600" dirty="0">
                <a:solidFill>
                  <a:schemeClr val="tx1">
                    <a:lumMod val="75000"/>
                    <a:lumOff val="25000"/>
                  </a:schemeClr>
                </a:solidFill>
              </a:rPr>
              <a:t>Roegele, Jon. "Tommy John Surgery List." Google Sheets, 2015-2025,  docs.google.com/spreadsheets/d/1gQujXQQGOVNaiuwSN680Hq-FDVsCwvN-3AazykOBON0/. </a:t>
            </a:r>
          </a:p>
        </p:txBody>
      </p:sp>
      <p:sp>
        <p:nvSpPr>
          <p:cNvPr id="6" name="Rectangle 5">
            <a:extLst>
              <a:ext uri="{FF2B5EF4-FFF2-40B4-BE49-F238E27FC236}">
                <a16:creationId xmlns:a16="http://schemas.microsoft.com/office/drawing/2014/main" id="{99464B92-74C3-7CFE-D79A-8BF1A7536758}"/>
              </a:ext>
            </a:extLst>
          </p:cNvPr>
          <p:cNvSpPr/>
          <p:nvPr/>
        </p:nvSpPr>
        <p:spPr>
          <a:xfrm rot="16200000">
            <a:off x="4335978" y="2063321"/>
            <a:ext cx="464922" cy="9146359"/>
          </a:xfrm>
          <a:prstGeom prst="rect">
            <a:avLst/>
          </a:prstGeom>
          <a:solidFill>
            <a:srgbClr val="2683C6"/>
          </a:solidFill>
          <a:ln>
            <a:solidFill>
              <a:srgbClr val="2683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62F0AD1-6C58-785E-7B99-786C49385D8B}"/>
              </a:ext>
            </a:extLst>
          </p:cNvPr>
          <p:cNvSpPr/>
          <p:nvPr/>
        </p:nvSpPr>
        <p:spPr>
          <a:xfrm rot="16200000">
            <a:off x="4535478" y="1793240"/>
            <a:ext cx="70684" cy="9146359"/>
          </a:xfrm>
          <a:prstGeom prst="rect">
            <a:avLst/>
          </a:prstGeom>
          <a:solidFill>
            <a:srgbClr val="1CADE4"/>
          </a:solidFill>
          <a:ln>
            <a:solidFill>
              <a:srgbClr val="1CAD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2287399"/>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a:extLst>
            <a:ext uri="{FF2B5EF4-FFF2-40B4-BE49-F238E27FC236}">
              <a16:creationId xmlns:a16="http://schemas.microsoft.com/office/drawing/2014/main" id="{23496E6F-FDBE-9C42-74CD-46F25D6F407E}"/>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D829E218-74FB-4455-98BE-F2C5BA8978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3" name="Rectangle 32">
            <a:extLst>
              <a:ext uri="{FF2B5EF4-FFF2-40B4-BE49-F238E27FC236}">
                <a16:creationId xmlns:a16="http://schemas.microsoft.com/office/drawing/2014/main" id="{7E8D75FD-D4F9-4D11-B70D-82EFCB4CF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9144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5" name="Straight Connector 34">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5743"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DD67062-25A7-42F1-B181-1800797EC7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se-up of baseball on infield">
            <a:extLst>
              <a:ext uri="{FF2B5EF4-FFF2-40B4-BE49-F238E27FC236}">
                <a16:creationId xmlns:a16="http://schemas.microsoft.com/office/drawing/2014/main" id="{BE1E51DE-4441-5CAA-A937-1BBEBFD82C08}"/>
              </a:ext>
            </a:extLst>
          </p:cNvPr>
          <p:cNvPicPr>
            <a:picLocks noChangeAspect="1"/>
          </p:cNvPicPr>
          <p:nvPr/>
        </p:nvPicPr>
        <p:blipFill>
          <a:blip r:embed="rId3">
            <a:duotone>
              <a:prstClr val="black"/>
              <a:schemeClr val="tx2">
                <a:tint val="45000"/>
                <a:satMod val="400000"/>
              </a:schemeClr>
            </a:duotone>
            <a:alphaModFix amt="20000"/>
          </a:blip>
          <a:srcRect l="10569" r="430" b="-1"/>
          <a:stretch>
            <a:fillRect/>
          </a:stretch>
        </p:blipFill>
        <p:spPr>
          <a:xfrm>
            <a:off x="20" y="10"/>
            <a:ext cx="9143980" cy="6334306"/>
          </a:xfrm>
          <a:prstGeom prst="rect">
            <a:avLst/>
          </a:prstGeom>
        </p:spPr>
      </p:pic>
      <p:sp>
        <p:nvSpPr>
          <p:cNvPr id="2" name="TextBox 1">
            <a:extLst>
              <a:ext uri="{FF2B5EF4-FFF2-40B4-BE49-F238E27FC236}">
                <a16:creationId xmlns:a16="http://schemas.microsoft.com/office/drawing/2014/main" id="{16046307-2786-7F25-FB96-EE2B7BD4824C}"/>
              </a:ext>
            </a:extLst>
          </p:cNvPr>
          <p:cNvSpPr txBox="1"/>
          <p:nvPr/>
        </p:nvSpPr>
        <p:spPr>
          <a:xfrm>
            <a:off x="822960" y="758952"/>
            <a:ext cx="7543800" cy="3566160"/>
          </a:xfrm>
          <a:prstGeom prst="rect">
            <a:avLst/>
          </a:prstGeom>
        </p:spPr>
        <p:txBody>
          <a:bodyPr vert="horz" lIns="91440" tIns="45720" rIns="91440" bIns="45720" rtlCol="0" anchor="b">
            <a:normAutofit/>
          </a:bodyPr>
          <a:lstStyle/>
          <a:p>
            <a:pPr defTabSz="914400">
              <a:lnSpc>
                <a:spcPct val="85000"/>
              </a:lnSpc>
              <a:spcBef>
                <a:spcPct val="0"/>
              </a:spcBef>
              <a:spcAft>
                <a:spcPts val="600"/>
              </a:spcAft>
              <a:defRPr sz="2800" b="1">
                <a:solidFill>
                  <a:srgbClr val="FFFFFF"/>
                </a:solidFill>
              </a:defRPr>
            </a:pPr>
            <a:r>
              <a:rPr lang="en-US" sz="8000" spc="-50" dirty="0">
                <a:solidFill>
                  <a:schemeClr val="tx1">
                    <a:lumMod val="85000"/>
                    <a:lumOff val="15000"/>
                  </a:schemeClr>
                </a:solidFill>
                <a:latin typeface="+mj-lt"/>
                <a:ea typeface="+mj-ea"/>
                <a:cs typeface="+mj-cs"/>
              </a:rPr>
              <a:t>Thank You!</a:t>
            </a:r>
          </a:p>
        </p:txBody>
      </p:sp>
      <p:sp>
        <p:nvSpPr>
          <p:cNvPr id="3" name="TextBox 2">
            <a:extLst>
              <a:ext uri="{FF2B5EF4-FFF2-40B4-BE49-F238E27FC236}">
                <a16:creationId xmlns:a16="http://schemas.microsoft.com/office/drawing/2014/main" id="{C1593D05-F05D-D784-A711-90A2D933E6C7}"/>
              </a:ext>
            </a:extLst>
          </p:cNvPr>
          <p:cNvSpPr txBox="1"/>
          <p:nvPr/>
        </p:nvSpPr>
        <p:spPr>
          <a:xfrm>
            <a:off x="825038" y="4455621"/>
            <a:ext cx="7543800" cy="1143000"/>
          </a:xfrm>
          <a:prstGeom prst="rect">
            <a:avLst/>
          </a:prstGeom>
        </p:spPr>
        <p:txBody>
          <a:bodyPr vert="horz" lIns="91440" tIns="45720" rIns="91440" bIns="45720" rtlCol="0">
            <a:normAutofit/>
          </a:bodyPr>
          <a:lstStyle/>
          <a:p>
            <a:pPr defTabSz="914400">
              <a:lnSpc>
                <a:spcPct val="90000"/>
              </a:lnSpc>
              <a:spcBef>
                <a:spcPts val="1200"/>
              </a:spcBef>
              <a:spcAft>
                <a:spcPts val="200"/>
              </a:spcAft>
              <a:buClr>
                <a:schemeClr val="accent1"/>
              </a:buClr>
              <a:buSzPct val="100000"/>
            </a:pPr>
            <a:r>
              <a:rPr lang="en-US" sz="2400" cap="all" spc="200">
                <a:solidFill>
                  <a:schemeClr val="tx2"/>
                </a:solidFill>
                <a:latin typeface="+mj-lt"/>
              </a:rPr>
              <a:t>Questions?</a:t>
            </a:r>
          </a:p>
        </p:txBody>
      </p:sp>
      <p:cxnSp>
        <p:nvCxnSpPr>
          <p:cNvPr id="39" name="Straight Connector 38">
            <a:extLst>
              <a:ext uri="{FF2B5EF4-FFF2-40B4-BE49-F238E27FC236}">
                <a16:creationId xmlns:a16="http://schemas.microsoft.com/office/drawing/2014/main" id="{47D70707-56D7-4FC6-9732-92BF6E16E0A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5743" y="4343400"/>
            <a:ext cx="740664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3A76FBC5-74A5-446E-83ED-7A305EE118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rgbClr val="E09F3C">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3" name="Rectangle 42">
            <a:extLst>
              <a:ext uri="{FF2B5EF4-FFF2-40B4-BE49-F238E27FC236}">
                <a16:creationId xmlns:a16="http://schemas.microsoft.com/office/drawing/2014/main" id="{DC751DA2-9310-4BCD-B76E-31139951A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rgbClr val="45648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5999C1AB-E6AC-28F4-2B51-8570636E5596}"/>
              </a:ext>
            </a:extLst>
          </p:cNvPr>
          <p:cNvSpPr/>
          <p:nvPr/>
        </p:nvSpPr>
        <p:spPr>
          <a:xfrm rot="16200000">
            <a:off x="4335978" y="2063321"/>
            <a:ext cx="464922" cy="9146359"/>
          </a:xfrm>
          <a:prstGeom prst="rect">
            <a:avLst/>
          </a:prstGeom>
          <a:solidFill>
            <a:srgbClr val="2683C6"/>
          </a:solidFill>
          <a:ln>
            <a:solidFill>
              <a:srgbClr val="2683C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2DC69327-C422-FDDA-68B3-DF0DB42B17EE}"/>
              </a:ext>
            </a:extLst>
          </p:cNvPr>
          <p:cNvGrpSpPr/>
          <p:nvPr/>
        </p:nvGrpSpPr>
        <p:grpSpPr>
          <a:xfrm>
            <a:off x="4848002" y="6412970"/>
            <a:ext cx="4880699" cy="430037"/>
            <a:chOff x="148501" y="6365910"/>
            <a:chExt cx="4880699" cy="430037"/>
          </a:xfrm>
        </p:grpSpPr>
        <p:sp>
          <p:nvSpPr>
            <p:cNvPr id="6" name="TextBox 5">
              <a:extLst>
                <a:ext uri="{FF2B5EF4-FFF2-40B4-BE49-F238E27FC236}">
                  <a16:creationId xmlns:a16="http://schemas.microsoft.com/office/drawing/2014/main" id="{DE2DDE82-721F-B4AA-6B50-18EB5B55AD5D}"/>
                </a:ext>
              </a:extLst>
            </p:cNvPr>
            <p:cNvSpPr txBox="1"/>
            <p:nvPr/>
          </p:nvSpPr>
          <p:spPr>
            <a:xfrm>
              <a:off x="457200" y="6365910"/>
              <a:ext cx="4572000" cy="246221"/>
            </a:xfrm>
            <a:prstGeom prst="rect">
              <a:avLst/>
            </a:prstGeom>
            <a:noFill/>
          </p:spPr>
          <p:txBody>
            <a:bodyPr wrap="square">
              <a:spAutoFit/>
            </a:bodyPr>
            <a:lstStyle/>
            <a:p>
              <a:r>
                <a:rPr lang="en-US" sz="1000" b="1" i="1" dirty="0"/>
                <a:t>linkedin.com/in/nickolasbartle/</a:t>
              </a:r>
            </a:p>
          </p:txBody>
        </p:sp>
        <p:sp>
          <p:nvSpPr>
            <p:cNvPr id="7" name="TextBox 6">
              <a:extLst>
                <a:ext uri="{FF2B5EF4-FFF2-40B4-BE49-F238E27FC236}">
                  <a16:creationId xmlns:a16="http://schemas.microsoft.com/office/drawing/2014/main" id="{91EDA60B-05BD-379A-CE46-2F5AAF682B2F}"/>
                </a:ext>
              </a:extLst>
            </p:cNvPr>
            <p:cNvSpPr txBox="1"/>
            <p:nvPr/>
          </p:nvSpPr>
          <p:spPr>
            <a:xfrm>
              <a:off x="148501" y="6549726"/>
              <a:ext cx="4572000" cy="246221"/>
            </a:xfrm>
            <a:prstGeom prst="rect">
              <a:avLst/>
            </a:prstGeom>
            <a:noFill/>
          </p:spPr>
          <p:txBody>
            <a:bodyPr wrap="square">
              <a:spAutoFit/>
            </a:bodyPr>
            <a:lstStyle/>
            <a:p>
              <a:r>
                <a:rPr lang="en-US" sz="1000" b="1" i="1" dirty="0">
                  <a:effectLst/>
                </a:rPr>
                <a:t>https://nbartle26.github.io/DigitalPortfolio/</a:t>
              </a:r>
              <a:endParaRPr lang="en-US" sz="1000" b="1" i="1" dirty="0"/>
            </a:p>
          </p:txBody>
        </p:sp>
      </p:grpSp>
      <p:grpSp>
        <p:nvGrpSpPr>
          <p:cNvPr id="8" name="Group 7">
            <a:extLst>
              <a:ext uri="{FF2B5EF4-FFF2-40B4-BE49-F238E27FC236}">
                <a16:creationId xmlns:a16="http://schemas.microsoft.com/office/drawing/2014/main" id="{7859173B-6431-7C4E-653F-FFDD57671C6F}"/>
              </a:ext>
            </a:extLst>
          </p:cNvPr>
          <p:cNvGrpSpPr/>
          <p:nvPr/>
        </p:nvGrpSpPr>
        <p:grpSpPr>
          <a:xfrm>
            <a:off x="1666875" y="6420466"/>
            <a:ext cx="4710001" cy="389203"/>
            <a:chOff x="457200" y="6365910"/>
            <a:chExt cx="4710001" cy="389203"/>
          </a:xfrm>
        </p:grpSpPr>
        <p:sp>
          <p:nvSpPr>
            <p:cNvPr id="9" name="TextBox 8">
              <a:extLst>
                <a:ext uri="{FF2B5EF4-FFF2-40B4-BE49-F238E27FC236}">
                  <a16:creationId xmlns:a16="http://schemas.microsoft.com/office/drawing/2014/main" id="{08511CD1-3278-4F24-FF09-BCE5A7F2E9C2}"/>
                </a:ext>
              </a:extLst>
            </p:cNvPr>
            <p:cNvSpPr txBox="1"/>
            <p:nvPr/>
          </p:nvSpPr>
          <p:spPr>
            <a:xfrm>
              <a:off x="457200" y="6365910"/>
              <a:ext cx="4572000" cy="246221"/>
            </a:xfrm>
            <a:prstGeom prst="rect">
              <a:avLst/>
            </a:prstGeom>
            <a:noFill/>
          </p:spPr>
          <p:txBody>
            <a:bodyPr wrap="square">
              <a:spAutoFit/>
            </a:bodyPr>
            <a:lstStyle/>
            <a:p>
              <a:r>
                <a:rPr lang="en-US" sz="1000" b="1" i="1" dirty="0"/>
                <a:t>nickbartle2@gmail.com</a:t>
              </a:r>
            </a:p>
          </p:txBody>
        </p:sp>
        <p:sp>
          <p:nvSpPr>
            <p:cNvPr id="10" name="TextBox 9">
              <a:extLst>
                <a:ext uri="{FF2B5EF4-FFF2-40B4-BE49-F238E27FC236}">
                  <a16:creationId xmlns:a16="http://schemas.microsoft.com/office/drawing/2014/main" id="{CC0304D0-F016-2982-78AB-7713DDA866A5}"/>
                </a:ext>
              </a:extLst>
            </p:cNvPr>
            <p:cNvSpPr txBox="1"/>
            <p:nvPr/>
          </p:nvSpPr>
          <p:spPr>
            <a:xfrm>
              <a:off x="595201" y="6508892"/>
              <a:ext cx="4572000" cy="246221"/>
            </a:xfrm>
            <a:prstGeom prst="rect">
              <a:avLst/>
            </a:prstGeom>
            <a:noFill/>
          </p:spPr>
          <p:txBody>
            <a:bodyPr wrap="square">
              <a:spAutoFit/>
            </a:bodyPr>
            <a:lstStyle/>
            <a:p>
              <a:r>
                <a:rPr lang="en-US" sz="1000" b="1" i="1" dirty="0">
                  <a:effectLst/>
                </a:rPr>
                <a:t>(919)-656-2434</a:t>
              </a:r>
              <a:endParaRPr lang="en-US" sz="1000" b="1" i="1" dirty="0"/>
            </a:p>
          </p:txBody>
        </p:sp>
      </p:grpSp>
      <p:sp>
        <p:nvSpPr>
          <p:cNvPr id="11" name="Rectangle 10">
            <a:extLst>
              <a:ext uri="{FF2B5EF4-FFF2-40B4-BE49-F238E27FC236}">
                <a16:creationId xmlns:a16="http://schemas.microsoft.com/office/drawing/2014/main" id="{C6B7081E-F4D6-7132-EFDF-DED372A7A515}"/>
              </a:ext>
            </a:extLst>
          </p:cNvPr>
          <p:cNvSpPr/>
          <p:nvPr/>
        </p:nvSpPr>
        <p:spPr>
          <a:xfrm rot="16200000">
            <a:off x="4535478" y="1793240"/>
            <a:ext cx="70684" cy="9146359"/>
          </a:xfrm>
          <a:prstGeom prst="rect">
            <a:avLst/>
          </a:prstGeom>
          <a:solidFill>
            <a:srgbClr val="1CADE4"/>
          </a:solidFill>
          <a:ln>
            <a:solidFill>
              <a:srgbClr val="1CAD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3039815"/>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6947468-560D-4382-87EB-569B44BE1A5F}">
  <we:reference id="wa200005566" version="3.0.0.4" store="en-US" storeType="OMEX"/>
  <we:alternateReferences>
    <we:reference id="wa200005566" version="3.0.0.4"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Retrospect</Template>
  <TotalTime>57177</TotalTime>
  <Words>6129</Words>
  <Application>Microsoft Office PowerPoint</Application>
  <PresentationFormat>On-screen Show (4:3)</PresentationFormat>
  <Paragraphs>406</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Calibri Light</vt:lpstr>
      <vt:lpstr>Consolas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Owner</dc:creator>
  <cp:keywords/>
  <dc:description>generated using python-pptx</dc:description>
  <cp:lastModifiedBy>Bartle, Nick</cp:lastModifiedBy>
  <cp:revision>92</cp:revision>
  <cp:lastPrinted>2026-08-18T17:20:37Z</cp:lastPrinted>
  <dcterms:created xsi:type="dcterms:W3CDTF">2013-01-27T09:14:16Z</dcterms:created>
  <dcterms:modified xsi:type="dcterms:W3CDTF">2026-08-24T23:15:58Z</dcterms:modified>
  <cp:category/>
</cp:coreProperties>
</file>